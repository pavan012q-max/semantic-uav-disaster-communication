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Lst>
  <ns0:sldSz cx="12192000" cy="6858000" type="screen4x3"/>
  <ns0:notesSz cx="6858000" cy="9144000"/>
  <ns0:embeddedFontLst>
    <ns0:embeddedFont>
      <ns0:font typeface="Inter"/>
      <ns0:bold ns1:id="rIdFont17"/>
      <ns0:regular ns1:id="rIdFont18"/>
    </ns0:embeddedFont>
    <ns0:embeddedFont>
      <ns0:font typeface="Space Grotesk"/>
      <ns0:bold ns1:id="rIdFont19"/>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Font17" Type="http://schemas.openxmlformats.org/officeDocument/2006/relationships/font" Target="fonts/a5fa84a3-1cd0-4ff5-a778-1fed3880f64f.fntdata" /><ns0:Relationship Id="rIdFont18" Type="http://schemas.openxmlformats.org/officeDocument/2006/relationships/font" Target="fonts/37835db5-b4b7-4873-80df-5cb25dbcffaa.fntdata" /><ns0:Relationship Id="rIdFont19" Type="http://schemas.openxmlformats.org/officeDocument/2006/relationships/font" Target="fonts/fe8bf83f-32fb-4fdd-997d-6e8964ee9dff.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848475"/>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490912"/>
            <a:ext cx="1112520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3400" y="2005012"/>
            <a:ext cx="2076450" cy="247650"/>
          </a:xfrm>
          <a:prstGeom prst="roundRect">
            <a:avLst>
              <a:gd name="adj" fmla="val 23076"/>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3400" y="3824287"/>
            <a:ext cx="5410200" cy="1019175"/>
          </a:xfrm>
          <a:prstGeom prst="roundRect">
            <a:avLst>
              <a:gd name="adj" fmla="val 934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48400" y="3824287"/>
            <a:ext cx="5410200" cy="1019175"/>
          </a:xfrm>
          <a:prstGeom prst="roundRect">
            <a:avLst>
              <a:gd name="adj" fmla="val 934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2405062"/>
            <a:ext cx="11101387" cy="857250"/>
          </a:xfrm>
          <a:prstGeom prst="rect">
            <a:avLst/>
          </a:prstGeom>
          <a:noFill/>
        </p:spPr>
        <p:txBody>
          <a:bodyPr wrap="square" lIns="0" rIns="0" tIns="0" bIns="0" anchor="t">
            <a:spAutoFit/>
          </a:bodyPr>
          <a:lstStyle/>
          <a:p>
            <a:pPr algn="l">
              <a:lnSpc>
                <a:spcPts val="3375"/>
              </a:lnSpc>
            </a:pPr>
            <a:r>
              <a:rPr b="1" sz="2700" i="0" u="none">
                <a:solidFill>
                  <a:srgbClr val="0F172A"/>
                </a:solidFill>
                <a:latin typeface="Space Grotesk"/>
              </a:rPr>
              <a:t>Deep Embedded Clustering-Based Semantic User Grouping for UAV-Assisted Disaster Communication</a:t>
            </a:r>
          </a:p>
        </p:txBody>
      </p:sp>
      <p:sp>
        <p:nvSpPr>
          <p:cNvPr id="8" name="TextBox 7"/>
          <p:cNvSpPr txBox="1"/>
          <p:nvPr/>
        </p:nvSpPr>
        <p:spPr>
          <a:xfrm>
            <a:off x="628650" y="2043112"/>
            <a:ext cx="1981200" cy="171450"/>
          </a:xfrm>
          <a:prstGeom prst="rect">
            <a:avLst/>
          </a:prstGeom>
          <a:noFill/>
        </p:spPr>
        <p:txBody>
          <a:bodyPr wrap="square" lIns="0" rIns="0" tIns="0" bIns="0" anchor="t">
            <a:spAutoFit/>
          </a:bodyPr>
          <a:lstStyle/>
          <a:p>
            <a:pPr algn="l"/>
            <a:r>
              <a:rPr b="1" sz="975" i="0" u="none">
                <a:solidFill>
                  <a:srgbClr val="1E40AF"/>
                </a:solidFill>
                <a:latin typeface="Inter"/>
              </a:rPr>
              <a:t>Machine Learning (25SC2107E)</a:t>
            </a:r>
          </a:p>
        </p:txBody>
      </p:sp>
      <p:sp>
        <p:nvSpPr>
          <p:cNvPr id="9" name="TextBox 8"/>
          <p:cNvSpPr txBox="1"/>
          <p:nvPr/>
        </p:nvSpPr>
        <p:spPr>
          <a:xfrm>
            <a:off x="2724150" y="2047875"/>
            <a:ext cx="1809750" cy="161925"/>
          </a:xfrm>
          <a:prstGeom prst="rect">
            <a:avLst/>
          </a:prstGeom>
          <a:noFill/>
        </p:spPr>
        <p:txBody>
          <a:bodyPr wrap="none" lIns="0" rIns="0" tIns="0" bIns="0" anchor="t">
            <a:spAutoFit/>
          </a:bodyPr>
          <a:lstStyle/>
          <a:p>
            <a:pPr algn="l"/>
            <a:r>
              <a:rPr b="1" sz="1050" i="0" u="none">
                <a:solidFill>
                  <a:srgbClr val="2563EB"/>
                </a:solidFill>
                <a:latin typeface="Inter"/>
              </a:rPr>
              <a:t>PROJECT REVIEW 2</a:t>
            </a:r>
          </a:p>
        </p:txBody>
      </p:sp>
      <p:sp>
        <p:nvSpPr>
          <p:cNvPr id="10" name="TextBox 9"/>
          <p:cNvSpPr txBox="1"/>
          <p:nvPr/>
        </p:nvSpPr>
        <p:spPr>
          <a:xfrm>
            <a:off x="733425" y="4024312"/>
            <a:ext cx="6262687" cy="152400"/>
          </a:xfrm>
          <a:prstGeom prst="rect">
            <a:avLst/>
          </a:prstGeom>
          <a:noFill/>
        </p:spPr>
        <p:txBody>
          <a:bodyPr wrap="none" lIns="0" rIns="0" tIns="0" bIns="0" anchor="t">
            <a:spAutoFit/>
          </a:bodyPr>
          <a:lstStyle/>
          <a:p>
            <a:pPr algn="l"/>
            <a:r>
              <a:rPr b="1" sz="975" i="0" u="none">
                <a:solidFill>
                  <a:srgbClr val="64748B"/>
                </a:solidFill>
                <a:latin typeface="Inter"/>
              </a:rPr>
              <a:t>PROJECT AREA</a:t>
            </a:r>
          </a:p>
        </p:txBody>
      </p:sp>
      <p:sp>
        <p:nvSpPr>
          <p:cNvPr id="11" name="TextBox 10"/>
          <p:cNvSpPr txBox="1"/>
          <p:nvPr/>
        </p:nvSpPr>
        <p:spPr>
          <a:xfrm>
            <a:off x="733425" y="4252912"/>
            <a:ext cx="6262687" cy="190500"/>
          </a:xfrm>
          <a:prstGeom prst="rect">
            <a:avLst/>
          </a:prstGeom>
          <a:noFill/>
        </p:spPr>
        <p:txBody>
          <a:bodyPr wrap="none" lIns="0" rIns="0" tIns="0" bIns="0" anchor="t">
            <a:spAutoFit/>
          </a:bodyPr>
          <a:lstStyle/>
          <a:p>
            <a:pPr algn="l"/>
            <a:r>
              <a:rPr b="1" sz="1200" i="0" u="none">
                <a:solidFill>
                  <a:srgbClr val="0F172A"/>
                </a:solidFill>
                <a:latin typeface="Inter"/>
              </a:rPr>
              <a:t>Unsupervised Machine Learning</a:t>
            </a:r>
          </a:p>
        </p:txBody>
      </p:sp>
      <p:sp>
        <p:nvSpPr>
          <p:cNvPr id="12" name="TextBox 11"/>
          <p:cNvSpPr txBox="1"/>
          <p:nvPr/>
        </p:nvSpPr>
        <p:spPr>
          <a:xfrm>
            <a:off x="733425" y="4481512"/>
            <a:ext cx="6262687" cy="161925"/>
          </a:xfrm>
          <a:prstGeom prst="rect">
            <a:avLst/>
          </a:prstGeom>
          <a:noFill/>
        </p:spPr>
        <p:txBody>
          <a:bodyPr wrap="none" lIns="0" rIns="0" tIns="0" bIns="0" anchor="t">
            <a:spAutoFit/>
          </a:bodyPr>
          <a:lstStyle/>
          <a:p>
            <a:pPr algn="l"/>
            <a:r>
              <a:rPr b="0" sz="1050" i="0" u="none">
                <a:solidFill>
                  <a:srgbClr val="475569"/>
                </a:solidFill>
                <a:latin typeface="Inter"/>
              </a:rPr>
              <a:t>Grouping victims based on emergency communication needs</a:t>
            </a:r>
          </a:p>
        </p:txBody>
      </p:sp>
      <p:sp>
        <p:nvSpPr>
          <p:cNvPr id="13" name="TextBox 12"/>
          <p:cNvSpPr txBox="1"/>
          <p:nvPr/>
        </p:nvSpPr>
        <p:spPr>
          <a:xfrm>
            <a:off x="6448425" y="4024312"/>
            <a:ext cx="5743575" cy="152400"/>
          </a:xfrm>
          <a:prstGeom prst="rect">
            <a:avLst/>
          </a:prstGeom>
          <a:noFill/>
        </p:spPr>
        <p:txBody>
          <a:bodyPr wrap="none" lIns="0" rIns="0" tIns="0" bIns="0" anchor="t">
            <a:spAutoFit/>
          </a:bodyPr>
          <a:lstStyle/>
          <a:p>
            <a:pPr algn="l"/>
            <a:r>
              <a:rPr b="1" sz="975" i="0" u="none">
                <a:solidFill>
                  <a:srgbClr val="64748B"/>
                </a:solidFill>
                <a:latin typeface="Inter"/>
              </a:rPr>
              <a:t>PRESENTATION INFO</a:t>
            </a:r>
          </a:p>
        </p:txBody>
      </p:sp>
      <p:sp>
        <p:nvSpPr>
          <p:cNvPr id="14" name="TextBox 13"/>
          <p:cNvSpPr txBox="1"/>
          <p:nvPr/>
        </p:nvSpPr>
        <p:spPr>
          <a:xfrm>
            <a:off x="6448425" y="4252912"/>
            <a:ext cx="5743575" cy="190500"/>
          </a:xfrm>
          <a:prstGeom prst="rect">
            <a:avLst/>
          </a:prstGeom>
          <a:noFill/>
        </p:spPr>
        <p:txBody>
          <a:bodyPr wrap="none" lIns="0" rIns="0" tIns="0" bIns="0" anchor="t">
            <a:spAutoFit/>
          </a:bodyPr>
          <a:lstStyle/>
          <a:p>
            <a:pPr algn="l"/>
            <a:r>
              <a:rPr b="1" sz="1200" i="0" u="none">
                <a:solidFill>
                  <a:srgbClr val="0F172A"/>
                </a:solidFill>
                <a:latin typeface="Inter"/>
              </a:rPr>
              <a:t>Student Presentation Team</a:t>
            </a:r>
          </a:p>
        </p:txBody>
      </p:sp>
      <p:sp>
        <p:nvSpPr>
          <p:cNvPr id="15" name="TextBox 14"/>
          <p:cNvSpPr txBox="1"/>
          <p:nvPr/>
        </p:nvSpPr>
        <p:spPr>
          <a:xfrm>
            <a:off x="6448425" y="4481512"/>
            <a:ext cx="5743575" cy="161925"/>
          </a:xfrm>
          <a:prstGeom prst="rect">
            <a:avLst/>
          </a:prstGeom>
          <a:noFill/>
        </p:spPr>
        <p:txBody>
          <a:bodyPr wrap="none" lIns="0" rIns="0" tIns="0" bIns="0" anchor="t">
            <a:spAutoFit/>
          </a:bodyPr>
          <a:lstStyle/>
          <a:p>
            <a:pPr algn="l"/>
            <a:r>
              <a:rPr b="0" sz="1050" i="0" u="none">
                <a:solidFill>
                  <a:srgbClr val="475569"/>
                </a:solidFill>
                <a:latin typeface="Inter"/>
              </a:rPr>
              <a:t>Course: Machine Learning (25SC2107E)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848475"/>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3400" y="1990725"/>
            <a:ext cx="11125200" cy="1057275"/>
          </a:xfrm>
          <a:prstGeom prst="roundRect">
            <a:avLst>
              <a:gd name="adj" fmla="val 9009"/>
            </a:avLst>
          </a:prstGeom>
          <a:solidFill>
            <a:srgbClr val="FFFF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3400" y="5248275"/>
            <a:ext cx="11125200" cy="409575"/>
          </a:xfrm>
          <a:prstGeom prst="roundRect">
            <a:avLst>
              <a:gd name="adj" fmla="val 18604"/>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3400" y="3238500"/>
            <a:ext cx="5486400" cy="1819275"/>
          </a:xfrm>
          <a:prstGeom prst="roundRect">
            <a:avLst>
              <a:gd name="adj" fmla="val 523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72200" y="3238500"/>
            <a:ext cx="5486400" cy="1819275"/>
          </a:xfrm>
          <a:prstGeom prst="roundRect">
            <a:avLst>
              <a:gd name="adj" fmla="val 5235"/>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2950" y="2366962"/>
            <a:ext cx="304800" cy="304800"/>
          </a:xfrm>
          <a:prstGeom prst="rect">
            <a:avLst/>
          </a:prstGeom>
        </p:spPr>
      </p:pic>
      <p:pic>
        <p:nvPicPr>
          <p:cNvPr id="8" name="Picture 7" descr="image.png"/>
          <p:cNvPicPr>
            <a:picLocks noChangeAspect="1"/>
          </p:cNvPicPr>
          <p:nvPr/>
        </p:nvPicPr>
        <p:blipFill>
          <a:blip r:embed="rId3"/>
          <a:stretch>
            <a:fillRect/>
          </a:stretch>
        </p:blipFill>
        <p:spPr>
          <a:xfrm>
            <a:off x="4614862" y="5376862"/>
            <a:ext cx="133350" cy="152400"/>
          </a:xfrm>
          <a:prstGeom prst="rect">
            <a:avLst/>
          </a:prstGeom>
        </p:spPr>
      </p:pic>
      <p:pic>
        <p:nvPicPr>
          <p:cNvPr id="9" name="Picture 8" descr="image.png"/>
          <p:cNvPicPr>
            <a:picLocks noChangeAspect="1"/>
          </p:cNvPicPr>
          <p:nvPr/>
        </p:nvPicPr>
        <p:blipFill>
          <a:blip r:embed="rId3"/>
          <a:stretch>
            <a:fillRect/>
          </a:stretch>
        </p:blipFill>
        <p:spPr>
          <a:xfrm>
            <a:off x="6938962" y="5376862"/>
            <a:ext cx="133350" cy="152400"/>
          </a:xfrm>
          <a:prstGeom prst="rect">
            <a:avLst/>
          </a:prstGeom>
        </p:spPr>
      </p:pic>
      <p:pic>
        <p:nvPicPr>
          <p:cNvPr id="10" name="Picture 9" descr="image.png"/>
          <p:cNvPicPr>
            <a:picLocks noChangeAspect="1"/>
          </p:cNvPicPr>
          <p:nvPr/>
        </p:nvPicPr>
        <p:blipFill>
          <a:blip r:embed="rId4"/>
          <a:stretch>
            <a:fillRect/>
          </a:stretch>
        </p:blipFill>
        <p:spPr>
          <a:xfrm>
            <a:off x="733425" y="3457575"/>
            <a:ext cx="190500" cy="152400"/>
          </a:xfrm>
          <a:prstGeom prst="rect">
            <a:avLst/>
          </a:prstGeom>
        </p:spPr>
      </p:pic>
      <p:pic>
        <p:nvPicPr>
          <p:cNvPr id="11" name="Picture 10" descr="image.png"/>
          <p:cNvPicPr>
            <a:picLocks noChangeAspect="1"/>
          </p:cNvPicPr>
          <p:nvPr/>
        </p:nvPicPr>
        <p:blipFill>
          <a:blip r:embed="rId5"/>
          <a:stretch>
            <a:fillRect/>
          </a:stretch>
        </p:blipFill>
        <p:spPr>
          <a:xfrm>
            <a:off x="6372225" y="3693318"/>
            <a:ext cx="152400" cy="152400"/>
          </a:xfrm>
          <a:prstGeom prst="rect">
            <a:avLst/>
          </a:prstGeom>
        </p:spPr>
      </p:pic>
      <p:pic>
        <p:nvPicPr>
          <p:cNvPr id="12" name="Picture 11" descr="image.png"/>
          <p:cNvPicPr>
            <a:picLocks noChangeAspect="1"/>
          </p:cNvPicPr>
          <p:nvPr/>
        </p:nvPicPr>
        <p:blipFill>
          <a:blip r:embed="rId6"/>
          <a:stretch>
            <a:fillRect/>
          </a:stretch>
        </p:blipFill>
        <p:spPr>
          <a:xfrm>
            <a:off x="733425" y="3757612"/>
            <a:ext cx="114300" cy="142875"/>
          </a:xfrm>
          <a:prstGeom prst="rect">
            <a:avLst/>
          </a:prstGeom>
        </p:spPr>
      </p:pic>
      <p:pic>
        <p:nvPicPr>
          <p:cNvPr id="13" name="Picture 12" descr="image.png"/>
          <p:cNvPicPr>
            <a:picLocks noChangeAspect="1"/>
          </p:cNvPicPr>
          <p:nvPr/>
        </p:nvPicPr>
        <p:blipFill>
          <a:blip r:embed="rId6"/>
          <a:stretch>
            <a:fillRect/>
          </a:stretch>
        </p:blipFill>
        <p:spPr>
          <a:xfrm>
            <a:off x="733425" y="3995737"/>
            <a:ext cx="114300" cy="142875"/>
          </a:xfrm>
          <a:prstGeom prst="rect">
            <a:avLst/>
          </a:prstGeom>
        </p:spPr>
      </p:pic>
      <p:pic>
        <p:nvPicPr>
          <p:cNvPr id="14" name="Picture 13" descr="image.png"/>
          <p:cNvPicPr>
            <a:picLocks noChangeAspect="1"/>
          </p:cNvPicPr>
          <p:nvPr/>
        </p:nvPicPr>
        <p:blipFill>
          <a:blip r:embed="rId6"/>
          <a:stretch>
            <a:fillRect/>
          </a:stretch>
        </p:blipFill>
        <p:spPr>
          <a:xfrm>
            <a:off x="733425" y="4233862"/>
            <a:ext cx="114300" cy="142875"/>
          </a:xfrm>
          <a:prstGeom prst="rect">
            <a:avLst/>
          </a:prstGeom>
        </p:spPr>
      </p:pic>
      <p:pic>
        <p:nvPicPr>
          <p:cNvPr id="15" name="Picture 14" descr="image.png"/>
          <p:cNvPicPr>
            <a:picLocks noChangeAspect="1"/>
          </p:cNvPicPr>
          <p:nvPr/>
        </p:nvPicPr>
        <p:blipFill>
          <a:blip r:embed="rId6"/>
          <a:stretch>
            <a:fillRect/>
          </a:stretch>
        </p:blipFill>
        <p:spPr>
          <a:xfrm>
            <a:off x="733425" y="4471987"/>
            <a:ext cx="114300" cy="142875"/>
          </a:xfrm>
          <a:prstGeom prst="rect">
            <a:avLst/>
          </a:prstGeom>
        </p:spPr>
      </p:pic>
      <p:pic>
        <p:nvPicPr>
          <p:cNvPr id="16" name="Picture 15" descr="image.png"/>
          <p:cNvPicPr>
            <a:picLocks noChangeAspect="1"/>
          </p:cNvPicPr>
          <p:nvPr/>
        </p:nvPicPr>
        <p:blipFill>
          <a:blip r:embed="rId6"/>
          <a:stretch>
            <a:fillRect/>
          </a:stretch>
        </p:blipFill>
        <p:spPr>
          <a:xfrm>
            <a:off x="733425" y="4710112"/>
            <a:ext cx="114300" cy="142875"/>
          </a:xfrm>
          <a:prstGeom prst="rect">
            <a:avLst/>
          </a:prstGeom>
        </p:spPr>
      </p:pic>
      <p:sp>
        <p:nvSpPr>
          <p:cNvPr id="17" name="TextBox 16"/>
          <p:cNvSpPr txBox="1"/>
          <p:nvPr/>
        </p:nvSpPr>
        <p:spPr>
          <a:xfrm>
            <a:off x="533400" y="419100"/>
            <a:ext cx="11658600" cy="171450"/>
          </a:xfrm>
          <a:prstGeom prst="rect">
            <a:avLst/>
          </a:prstGeom>
          <a:noFill/>
        </p:spPr>
        <p:txBody>
          <a:bodyPr wrap="none" lIns="0" rIns="0" tIns="0" bIns="0" anchor="t">
            <a:spAutoFit/>
          </a:bodyPr>
          <a:lstStyle/>
          <a:p>
            <a:pPr algn="l"/>
            <a:r>
              <a:rPr b="1" sz="1050" i="0" u="none">
                <a:solidFill>
                  <a:srgbClr val="2563EB"/>
                </a:solidFill>
                <a:latin typeface="Space Grotesk"/>
              </a:rPr>
              <a:t>BACKGROUND &amp; GOAL</a:t>
            </a:r>
          </a:p>
        </p:txBody>
      </p:sp>
      <p:sp>
        <p:nvSpPr>
          <p:cNvPr id="18" name="TextBox 17"/>
          <p:cNvSpPr txBox="1"/>
          <p:nvPr/>
        </p:nvSpPr>
        <p:spPr>
          <a:xfrm>
            <a:off x="533400" y="647700"/>
            <a:ext cx="116586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Space Grotesk"/>
              </a:rPr>
              <a:t>Problem Statement</a:t>
            </a:r>
          </a:p>
        </p:txBody>
      </p:sp>
      <p:sp>
        <p:nvSpPr>
          <p:cNvPr id="19" name="TextBox 18"/>
          <p:cNvSpPr txBox="1"/>
          <p:nvPr/>
        </p:nvSpPr>
        <p:spPr>
          <a:xfrm>
            <a:off x="3433762" y="5372100"/>
            <a:ext cx="1314450" cy="161925"/>
          </a:xfrm>
          <a:prstGeom prst="rect">
            <a:avLst/>
          </a:prstGeom>
          <a:noFill/>
        </p:spPr>
        <p:txBody>
          <a:bodyPr wrap="none" lIns="0" rIns="0" tIns="0" bIns="0" anchor="t">
            <a:spAutoFit/>
          </a:bodyPr>
          <a:lstStyle/>
          <a:p>
            <a:pPr algn="l"/>
            <a:r>
              <a:rPr b="1" sz="1050" i="0" u="none">
                <a:solidFill>
                  <a:srgbClr val="0F172A"/>
                </a:solidFill>
                <a:latin typeface="Inter"/>
              </a:rPr>
              <a:t>1000 Raw Users</a:t>
            </a:r>
          </a:p>
        </p:txBody>
      </p:sp>
      <p:sp>
        <p:nvSpPr>
          <p:cNvPr id="20" name="TextBox 19"/>
          <p:cNvSpPr txBox="1"/>
          <p:nvPr/>
        </p:nvSpPr>
        <p:spPr>
          <a:xfrm>
            <a:off x="4900612" y="5372100"/>
            <a:ext cx="2357437" cy="161925"/>
          </a:xfrm>
          <a:prstGeom prst="rect">
            <a:avLst/>
          </a:prstGeom>
          <a:noFill/>
        </p:spPr>
        <p:txBody>
          <a:bodyPr wrap="none" lIns="0" rIns="0" tIns="0" bIns="0" anchor="t">
            <a:spAutoFit/>
          </a:bodyPr>
          <a:lstStyle/>
          <a:p>
            <a:pPr algn="l"/>
            <a:r>
              <a:rPr b="1" sz="1050" i="0" u="none">
                <a:solidFill>
                  <a:srgbClr val="0F172A"/>
                </a:solidFill>
                <a:latin typeface="Inter"/>
              </a:rPr>
              <a:t>Machine Learning Clustering</a:t>
            </a:r>
          </a:p>
        </p:txBody>
      </p:sp>
      <p:sp>
        <p:nvSpPr>
          <p:cNvPr id="21" name="TextBox 20"/>
          <p:cNvSpPr txBox="1"/>
          <p:nvPr/>
        </p:nvSpPr>
        <p:spPr>
          <a:xfrm>
            <a:off x="1238250" y="2200275"/>
            <a:ext cx="10953750" cy="200025"/>
          </a:xfrm>
          <a:prstGeom prst="rect">
            <a:avLst/>
          </a:prstGeom>
          <a:noFill/>
        </p:spPr>
        <p:txBody>
          <a:bodyPr wrap="none" lIns="0" rIns="0" tIns="0" bIns="0" anchor="t">
            <a:spAutoFit/>
          </a:bodyPr>
          <a:lstStyle/>
          <a:p>
            <a:pPr algn="l"/>
            <a:r>
              <a:rPr b="1" sz="1350" i="0" u="none">
                <a:solidFill>
                  <a:srgbClr val="0F172A"/>
                </a:solidFill>
                <a:latin typeface="Inter"/>
              </a:rPr>
              <a:t>Communication Networks Fail During Disasters</a:t>
            </a:r>
          </a:p>
        </p:txBody>
      </p:sp>
      <p:sp>
        <p:nvSpPr>
          <p:cNvPr id="22" name="TextBox 21"/>
          <p:cNvSpPr txBox="1"/>
          <p:nvPr/>
        </p:nvSpPr>
        <p:spPr>
          <a:xfrm>
            <a:off x="1238250" y="2438400"/>
            <a:ext cx="10306050" cy="400050"/>
          </a:xfrm>
          <a:prstGeom prst="rect">
            <a:avLst/>
          </a:prstGeom>
          <a:noFill/>
        </p:spPr>
        <p:txBody>
          <a:bodyPr wrap="square" lIns="0" rIns="0" tIns="0" bIns="0" anchor="t">
            <a:spAutoFit/>
          </a:bodyPr>
          <a:lstStyle/>
          <a:p>
            <a:pPr algn="l">
              <a:lnSpc>
                <a:spcPts val="1575"/>
              </a:lnSpc>
            </a:pPr>
            <a:r>
              <a:rPr b="0" sz="1125" i="0" u="none">
                <a:solidFill>
                  <a:srgbClr val="334155"/>
                </a:solidFill>
                <a:latin typeface="Inter"/>
              </a:rPr>
              <a:t>When normal phone towers break down in floods or earthquakes, victims have different urgent needs. We must organize users by their communication needs before sending drone communications.</a:t>
            </a:r>
          </a:p>
        </p:txBody>
      </p:sp>
      <p:sp>
        <p:nvSpPr>
          <p:cNvPr id="23" name="TextBox 22"/>
          <p:cNvSpPr txBox="1"/>
          <p:nvPr/>
        </p:nvSpPr>
        <p:spPr>
          <a:xfrm>
            <a:off x="733425" y="3438525"/>
            <a:ext cx="6675834" cy="190500"/>
          </a:xfrm>
          <a:prstGeom prst="rect">
            <a:avLst/>
          </a:prstGeom>
          <a:noFill/>
        </p:spPr>
        <p:txBody>
          <a:bodyPr wrap="none" lIns="266700" rIns="0" tIns="0" bIns="0" anchor="t">
            <a:spAutoFit/>
          </a:bodyPr>
          <a:lstStyle/>
          <a:p>
            <a:pPr algn="l"/>
            <a:r>
              <a:rPr b="1" sz="1200" i="0" u="none">
                <a:solidFill>
                  <a:srgbClr val="0F172A"/>
                </a:solidFill>
                <a:latin typeface="Inter"/>
              </a:rPr>
              <a:t>User Communication Characteristics</a:t>
            </a:r>
          </a:p>
        </p:txBody>
      </p:sp>
      <p:sp>
        <p:nvSpPr>
          <p:cNvPr id="24" name="TextBox 23"/>
          <p:cNvSpPr txBox="1"/>
          <p:nvPr/>
        </p:nvSpPr>
        <p:spPr>
          <a:xfrm>
            <a:off x="6372225" y="3674268"/>
            <a:ext cx="5819775" cy="190500"/>
          </a:xfrm>
          <a:prstGeom prst="rect">
            <a:avLst/>
          </a:prstGeom>
          <a:noFill/>
        </p:spPr>
        <p:txBody>
          <a:bodyPr wrap="none" lIns="228600" rIns="0" tIns="0" bIns="0" anchor="t">
            <a:spAutoFit/>
          </a:bodyPr>
          <a:lstStyle/>
          <a:p>
            <a:pPr algn="l"/>
            <a:r>
              <a:rPr b="1" sz="1200" i="0" u="none">
                <a:solidFill>
                  <a:srgbClr val="0F172A"/>
                </a:solidFill>
                <a:latin typeface="Inter"/>
              </a:rPr>
              <a:t>Main Objective</a:t>
            </a:r>
          </a:p>
        </p:txBody>
      </p:sp>
      <p:sp>
        <p:nvSpPr>
          <p:cNvPr id="25" name="TextBox 24"/>
          <p:cNvSpPr txBox="1"/>
          <p:nvPr/>
        </p:nvSpPr>
        <p:spPr>
          <a:xfrm>
            <a:off x="6372225" y="3979068"/>
            <a:ext cx="5181600" cy="642937"/>
          </a:xfrm>
          <a:prstGeom prst="rect">
            <a:avLst/>
          </a:prstGeom>
          <a:noFill/>
        </p:spPr>
        <p:txBody>
          <a:bodyPr wrap="square" lIns="0" rIns="0" tIns="0" bIns="0" anchor="t">
            <a:spAutoFit/>
          </a:bodyPr>
          <a:lstStyle/>
          <a:p>
            <a:pPr algn="l">
              <a:lnSpc>
                <a:spcPts val="1687"/>
              </a:lnSpc>
            </a:pPr>
            <a:r>
              <a:rPr b="0" sz="1125" i="0" u="none">
                <a:solidFill>
                  <a:srgbClr val="0F172A"/>
                </a:solidFill>
                <a:latin typeface="Inter"/>
              </a:rPr>
              <a:t>"Automatically group users based on their communication needs using machine learning, so these groups can be used as input for future drone communication systems."</a:t>
            </a:r>
          </a:p>
        </p:txBody>
      </p:sp>
      <p:sp>
        <p:nvSpPr>
          <p:cNvPr id="26" name="TextBox 25"/>
          <p:cNvSpPr txBox="1"/>
          <p:nvPr/>
        </p:nvSpPr>
        <p:spPr>
          <a:xfrm>
            <a:off x="7224712" y="5372100"/>
            <a:ext cx="1916906" cy="161925"/>
          </a:xfrm>
          <a:prstGeom prst="rect">
            <a:avLst/>
          </a:prstGeom>
          <a:noFill/>
        </p:spPr>
        <p:txBody>
          <a:bodyPr wrap="none" lIns="0" rIns="0" tIns="0" bIns="0" anchor="t">
            <a:spAutoFit/>
          </a:bodyPr>
          <a:lstStyle/>
          <a:p>
            <a:pPr algn="l"/>
            <a:r>
              <a:rPr b="1" sz="1050" i="0" u="none">
                <a:solidFill>
                  <a:srgbClr val="2563EB"/>
                </a:solidFill>
                <a:latin typeface="Inter"/>
              </a:rPr>
              <a:t>4 User Groups (Output)</a:t>
            </a:r>
          </a:p>
        </p:txBody>
      </p:sp>
      <p:sp>
        <p:nvSpPr>
          <p:cNvPr id="27" name="TextBox 26"/>
          <p:cNvSpPr txBox="1"/>
          <p:nvPr/>
        </p:nvSpPr>
        <p:spPr>
          <a:xfrm>
            <a:off x="733425" y="3743325"/>
            <a:ext cx="6357937" cy="161925"/>
          </a:xfrm>
          <a:prstGeom prst="rect">
            <a:avLst/>
          </a:prstGeom>
          <a:noFill/>
        </p:spPr>
        <p:txBody>
          <a:bodyPr wrap="none" lIns="171450" rIns="0" tIns="0" bIns="0" anchor="t">
            <a:spAutoFit/>
          </a:bodyPr>
          <a:lstStyle/>
          <a:p>
            <a:pPr algn="l"/>
            <a:r>
              <a:rPr b="1" sz="1050" i="0" u="none">
                <a:solidFill>
                  <a:srgbClr val="334155"/>
                </a:solidFill>
                <a:latin typeface="Inter"/>
              </a:rPr>
              <a:t>Location:</a:t>
            </a:r>
            <a:r>
              <a:rPr b="0" sz="1050" i="0" u="none">
                <a:solidFill>
                  <a:srgbClr val="334155"/>
                </a:solidFill>
                <a:latin typeface="Inter"/>
              </a:rPr>
              <a:t> x and y coordinates on a map</a:t>
            </a:r>
          </a:p>
        </p:txBody>
      </p:sp>
      <p:sp>
        <p:nvSpPr>
          <p:cNvPr id="28" name="TextBox 27"/>
          <p:cNvSpPr txBox="1"/>
          <p:nvPr/>
        </p:nvSpPr>
        <p:spPr>
          <a:xfrm>
            <a:off x="733425" y="3981450"/>
            <a:ext cx="6357937" cy="161925"/>
          </a:xfrm>
          <a:prstGeom prst="rect">
            <a:avLst/>
          </a:prstGeom>
          <a:noFill/>
        </p:spPr>
        <p:txBody>
          <a:bodyPr wrap="none" lIns="171450" rIns="0" tIns="0" bIns="0" anchor="t">
            <a:spAutoFit/>
          </a:bodyPr>
          <a:lstStyle/>
          <a:p>
            <a:pPr algn="l"/>
            <a:r>
              <a:rPr b="1" sz="1050" i="0" u="none">
                <a:solidFill>
                  <a:srgbClr val="334155"/>
                </a:solidFill>
                <a:latin typeface="Inter"/>
              </a:rPr>
              <a:t>Channel Condition:</a:t>
            </a:r>
            <a:r>
              <a:rPr b="0" sz="1050" i="0" u="none">
                <a:solidFill>
                  <a:srgbClr val="334155"/>
                </a:solidFill>
                <a:latin typeface="Inter"/>
              </a:rPr>
              <a:t> How clear the signal is</a:t>
            </a:r>
          </a:p>
        </p:txBody>
      </p:sp>
      <p:sp>
        <p:nvSpPr>
          <p:cNvPr id="29" name="TextBox 28"/>
          <p:cNvSpPr txBox="1"/>
          <p:nvPr/>
        </p:nvSpPr>
        <p:spPr>
          <a:xfrm>
            <a:off x="733425" y="4219575"/>
            <a:ext cx="6357937" cy="161925"/>
          </a:xfrm>
          <a:prstGeom prst="rect">
            <a:avLst/>
          </a:prstGeom>
          <a:noFill/>
        </p:spPr>
        <p:txBody>
          <a:bodyPr wrap="none" lIns="171450" rIns="0" tIns="0" bIns="0" anchor="t">
            <a:spAutoFit/>
          </a:bodyPr>
          <a:lstStyle/>
          <a:p>
            <a:pPr algn="l"/>
            <a:r>
              <a:rPr b="1" sz="1050" i="0" u="none">
                <a:solidFill>
                  <a:srgbClr val="334155"/>
                </a:solidFill>
                <a:latin typeface="Inter"/>
              </a:rPr>
              <a:t>Emergency Priority:</a:t>
            </a:r>
            <a:r>
              <a:rPr b="0" sz="1050" i="0" u="none">
                <a:solidFill>
                  <a:srgbClr val="334155"/>
                </a:solidFill>
                <a:latin typeface="Inter"/>
              </a:rPr>
              <a:t> How urgent the situation is</a:t>
            </a:r>
          </a:p>
        </p:txBody>
      </p:sp>
      <p:sp>
        <p:nvSpPr>
          <p:cNvPr id="30" name="TextBox 29"/>
          <p:cNvSpPr txBox="1"/>
          <p:nvPr/>
        </p:nvSpPr>
        <p:spPr>
          <a:xfrm>
            <a:off x="733425" y="4457700"/>
            <a:ext cx="6357937" cy="161925"/>
          </a:xfrm>
          <a:prstGeom prst="rect">
            <a:avLst/>
          </a:prstGeom>
          <a:noFill/>
        </p:spPr>
        <p:txBody>
          <a:bodyPr wrap="none" lIns="171450" rIns="0" tIns="0" bIns="0" anchor="t">
            <a:spAutoFit/>
          </a:bodyPr>
          <a:lstStyle/>
          <a:p>
            <a:pPr algn="l"/>
            <a:r>
              <a:rPr b="1" sz="1050" i="0" u="none">
                <a:solidFill>
                  <a:srgbClr val="334155"/>
                </a:solidFill>
                <a:latin typeface="Inter"/>
              </a:rPr>
              <a:t>Requested Data Type:</a:t>
            </a:r>
            <a:r>
              <a:rPr b="0" sz="1050" i="0" u="none">
                <a:solidFill>
                  <a:srgbClr val="334155"/>
                </a:solidFill>
                <a:latin typeface="Inter"/>
              </a:rPr>
              <a:t> General, Medical, Location, or Rescue</a:t>
            </a:r>
          </a:p>
        </p:txBody>
      </p:sp>
      <p:sp>
        <p:nvSpPr>
          <p:cNvPr id="31" name="TextBox 30"/>
          <p:cNvSpPr txBox="1"/>
          <p:nvPr/>
        </p:nvSpPr>
        <p:spPr>
          <a:xfrm>
            <a:off x="733425" y="4695825"/>
            <a:ext cx="6357937" cy="161925"/>
          </a:xfrm>
          <a:prstGeom prst="rect">
            <a:avLst/>
          </a:prstGeom>
          <a:noFill/>
        </p:spPr>
        <p:txBody>
          <a:bodyPr wrap="none" lIns="171450" rIns="0" tIns="0" bIns="0" anchor="t">
            <a:spAutoFit/>
          </a:bodyPr>
          <a:lstStyle/>
          <a:p>
            <a:pPr algn="l"/>
            <a:r>
              <a:rPr b="1" sz="1050" i="0" u="none">
                <a:solidFill>
                  <a:srgbClr val="334155"/>
                </a:solidFill>
                <a:latin typeface="Inter"/>
              </a:rPr>
              <a:t>Delay &amp; Similarity:</a:t>
            </a:r>
            <a:r>
              <a:rPr b="0" sz="1050" i="0" u="none">
                <a:solidFill>
                  <a:srgbClr val="334155"/>
                </a:solidFill>
                <a:latin typeface="Inter"/>
              </a:rPr>
              <a:t> Allowed time limit and topic similarity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848475"/>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3400" y="5362575"/>
            <a:ext cx="11125200" cy="428625"/>
          </a:xfrm>
          <a:prstGeom prst="roundRect">
            <a:avLst>
              <a:gd name="adj" fmla="val 22222"/>
            </a:avLst>
          </a:prstGeom>
          <a:solidFill>
            <a:srgbClr val="FFFF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3400" y="1857375"/>
            <a:ext cx="2695575" cy="676275"/>
          </a:xfrm>
          <a:prstGeom prst="roundRect">
            <a:avLst>
              <a:gd name="adj" fmla="val 1408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343275" y="1857375"/>
            <a:ext cx="2695575" cy="676275"/>
          </a:xfrm>
          <a:prstGeom prst="roundRect">
            <a:avLst>
              <a:gd name="adj" fmla="val 1408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53150" y="1857375"/>
            <a:ext cx="2695575" cy="676275"/>
          </a:xfrm>
          <a:prstGeom prst="roundRect">
            <a:avLst>
              <a:gd name="adj" fmla="val 1408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3025" y="1857375"/>
            <a:ext cx="2695575" cy="676275"/>
          </a:xfrm>
          <a:prstGeom prst="roundRect">
            <a:avLst>
              <a:gd name="adj" fmla="val 1408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3400" y="3086100"/>
            <a:ext cx="3700611"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34011" y="3086100"/>
            <a:ext cx="124509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79107" y="3086100"/>
            <a:ext cx="6179492"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3519487"/>
            <a:ext cx="37006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34011" y="3519487"/>
            <a:ext cx="12450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79107" y="3519487"/>
            <a:ext cx="61794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3400" y="3938587"/>
            <a:ext cx="37006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34011" y="3938587"/>
            <a:ext cx="12450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79107" y="3938587"/>
            <a:ext cx="61794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3400" y="4357687"/>
            <a:ext cx="37006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34011" y="4357687"/>
            <a:ext cx="12450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79107" y="4357687"/>
            <a:ext cx="61794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3400" y="4776787"/>
            <a:ext cx="37006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34011" y="4776787"/>
            <a:ext cx="12450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79107" y="4776787"/>
            <a:ext cx="61794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 y="5195887"/>
            <a:ext cx="37006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34011" y="5195887"/>
            <a:ext cx="12450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79107" y="5195887"/>
            <a:ext cx="61794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6" name="Table 25"/>
          <p:cNvGraphicFramePr>
            <a:graphicFrameLocks noGrp="1"/>
          </p:cNvGraphicFramePr>
          <p:nvPr/>
        </p:nvGraphicFramePr>
        <p:xfrm>
          <a:off x="533400" y="2686050"/>
          <a:ext cx="11125199" cy="2524125"/>
        </p:xfrm>
        <a:graphic>
          <a:graphicData uri="http://schemas.openxmlformats.org/drawingml/2006/table">
            <a:tbl>
              <a:tblPr firstRow="0" bandRow="0">
                <a:lnL>
                  <a:noFill/>
                </a:lnL>
                <a:lnR>
                  <a:noFill/>
                </a:lnR>
                <a:lnT>
                  <a:noFill/>
                </a:lnT>
                <a:lnB>
                  <a:noFill/>
                </a:lnB>
                <a:lnV>
                  <a:noFill/>
                </a:lnV>
                <a:lnH>
                  <a:noFill/>
                </a:lnH>
              </a:tblPr>
              <a:tblGrid>
                <a:gridCol w="3700611"/>
                <a:gridCol w="1245096"/>
                <a:gridCol w="6179492"/>
              </a:tblGrid>
              <a:tr h="420687">
                <a:tc>
                  <a:txBody>
                    <a:bodyPr/>
                    <a:lstStyle/>
                    <a:p>
                      <a:pPr algn="l"/>
                      <a:r>
                        <a:rPr b="1" sz="1125" i="0" u="none">
                          <a:solidFill>
                            <a:srgbClr val="0F172A"/>
                          </a:solidFill>
                          <a:latin typeface="Inter"/>
                        </a:rPr>
                        <a:t>Feature Name</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0F172A"/>
                          </a:solidFill>
                          <a:latin typeface="Inter"/>
                        </a:rPr>
                        <a:t>Type</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0F172A"/>
                          </a:solidFill>
                          <a:latin typeface="Inter"/>
                        </a:rPr>
                        <a:t>How It Was Prepared</a:t>
                      </a:r>
                    </a:p>
                  </a:txBody>
                  <a:tcPr anchor="ctr" marL="63500" marR="63500" marT="25400" marB="25400">
                    <a:lnL>
                      <a:noFill/>
                    </a:lnL>
                    <a:lnR>
                      <a:noFill/>
                    </a:lnR>
                    <a:lnT>
                      <a:noFill/>
                    </a:lnT>
                    <a:lnB>
                      <a:noFill/>
                    </a:lnB>
                    <a:solidFill>
                      <a:srgbClr val="F8FAFC"/>
                    </a:solidFill>
                  </a:tcPr>
                </a:tc>
              </a:tr>
              <a:tr h="420687">
                <a:tc>
                  <a:txBody>
                    <a:bodyPr/>
                    <a:lstStyle/>
                    <a:p>
                      <a:pPr algn="l"/>
                      <a:r>
                        <a:rPr b="1" sz="1125" i="0" u="none">
                          <a:solidFill>
                            <a:srgbClr val="334155"/>
                          </a:solidFill>
                          <a:latin typeface="Inter"/>
                        </a:rPr>
                        <a:t>user_id</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ID Number</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Removed (Not used for machine learning)</a:t>
                      </a:r>
                    </a:p>
                  </a:txBody>
                  <a:tcPr anchor="ctr" marL="63500" marR="63500" marT="25400" marB="25400">
                    <a:lnL>
                      <a:noFill/>
                    </a:lnL>
                    <a:lnR>
                      <a:noFill/>
                    </a:lnR>
                    <a:lnT>
                      <a:noFill/>
                    </a:lnT>
                    <a:lnB>
                      <a:noFill/>
                    </a:lnB>
                    <a:solidFill>
                      <a:srgbClr val="FFFFFF"/>
                    </a:solidFill>
                  </a:tcPr>
                </a:tc>
              </a:tr>
              <a:tr h="420687">
                <a:tc>
                  <a:txBody>
                    <a:bodyPr/>
                    <a:lstStyle/>
                    <a:p>
                      <a:pPr algn="l"/>
                      <a:r>
                        <a:rPr b="1" sz="1125" i="0" u="none">
                          <a:solidFill>
                            <a:srgbClr val="334155"/>
                          </a:solidFill>
                          <a:latin typeface="Inter"/>
                        </a:rPr>
                        <a:t>x_coordinate, y_coordinate</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Number</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Standardized to mean = 0 and std = 1</a:t>
                      </a:r>
                    </a:p>
                  </a:txBody>
                  <a:tcPr anchor="ctr" marL="63500" marR="63500" marT="25400" marB="25400">
                    <a:lnL>
                      <a:noFill/>
                    </a:lnL>
                    <a:lnR>
                      <a:noFill/>
                    </a:lnR>
                    <a:lnT>
                      <a:noFill/>
                    </a:lnT>
                    <a:lnB>
                      <a:noFill/>
                    </a:lnB>
                    <a:solidFill>
                      <a:srgbClr val="FFFFFF"/>
                    </a:solidFill>
                  </a:tcPr>
                </a:tc>
              </a:tr>
              <a:tr h="420687">
                <a:tc>
                  <a:txBody>
                    <a:bodyPr/>
                    <a:lstStyle/>
                    <a:p>
                      <a:pPr algn="l"/>
                      <a:r>
                        <a:rPr b="1" sz="1125" i="0" u="none">
                          <a:solidFill>
                            <a:srgbClr val="334155"/>
                          </a:solidFill>
                          <a:latin typeface="Inter"/>
                        </a:rPr>
                        <a:t>channel_condition, emergency_priority</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Number</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Standardized to mean = 0 and std = 1</a:t>
                      </a:r>
                    </a:p>
                  </a:txBody>
                  <a:tcPr anchor="ctr" marL="63500" marR="63500" marT="25400" marB="25400">
                    <a:lnL>
                      <a:noFill/>
                    </a:lnL>
                    <a:lnR>
                      <a:noFill/>
                    </a:lnR>
                    <a:lnT>
                      <a:noFill/>
                    </a:lnT>
                    <a:lnB>
                      <a:noFill/>
                    </a:lnB>
                    <a:solidFill>
                      <a:srgbClr val="FFFFFF"/>
                    </a:solidFill>
                  </a:tcPr>
                </a:tc>
              </a:tr>
              <a:tr h="420687">
                <a:tc>
                  <a:txBody>
                    <a:bodyPr/>
                    <a:lstStyle/>
                    <a:p>
                      <a:pPr algn="l"/>
                      <a:r>
                        <a:rPr b="1" sz="1125" i="0" u="none">
                          <a:solidFill>
                            <a:srgbClr val="334155"/>
                          </a:solidFill>
                          <a:latin typeface="Inter"/>
                        </a:rPr>
                        <a:t>delay_requirement, semantic_similarity</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Number</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Standardized to mean = 0 and std = 1</a:t>
                      </a:r>
                    </a:p>
                  </a:txBody>
                  <a:tcPr anchor="ctr" marL="63500" marR="63500" marT="25400" marB="25400">
                    <a:lnL>
                      <a:noFill/>
                    </a:lnL>
                    <a:lnR>
                      <a:noFill/>
                    </a:lnR>
                    <a:lnT>
                      <a:noFill/>
                    </a:lnT>
                    <a:lnB>
                      <a:noFill/>
                    </a:lnB>
                    <a:solidFill>
                      <a:srgbClr val="FFFFFF"/>
                    </a:solidFill>
                  </a:tcPr>
                </a:tc>
              </a:tr>
              <a:tr h="420690">
                <a:tc>
                  <a:txBody>
                    <a:bodyPr/>
                    <a:lstStyle/>
                    <a:p>
                      <a:pPr algn="l"/>
                      <a:r>
                        <a:rPr b="1" sz="1125" i="0" u="none">
                          <a:solidFill>
                            <a:srgbClr val="334155"/>
                          </a:solidFill>
                          <a:latin typeface="Inter"/>
                        </a:rPr>
                        <a:t>requested_data_type</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Category</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One-Hot Encoded into 4 columns (General, Medical, Location, Rescue)</a:t>
                      </a:r>
                    </a:p>
                  </a:txBody>
                  <a:tcPr anchor="ctr" marL="63500" marR="63500" marT="25400" marB="25400">
                    <a:lnL>
                      <a:noFill/>
                    </a:lnL>
                    <a:lnR>
                      <a:noFill/>
                    </a:lnR>
                    <a:lnT>
                      <a:noFill/>
                    </a:lnT>
                    <a:lnB>
                      <a:noFill/>
                    </a:lnB>
                    <a:solidFill>
                      <a:srgbClr val="FFFFFF"/>
                    </a:solidFill>
                  </a:tcPr>
                </a:tc>
              </a:tr>
            </a:tbl>
          </a:graphicData>
        </a:graphic>
      </p:graphicFrame>
      <p:sp>
        <p:nvSpPr>
          <p:cNvPr id="27" name="TextBox 26"/>
          <p:cNvSpPr txBox="1"/>
          <p:nvPr/>
        </p:nvSpPr>
        <p:spPr>
          <a:xfrm>
            <a:off x="533400" y="419100"/>
            <a:ext cx="11658600" cy="171450"/>
          </a:xfrm>
          <a:prstGeom prst="rect">
            <a:avLst/>
          </a:prstGeom>
          <a:noFill/>
        </p:spPr>
        <p:txBody>
          <a:bodyPr wrap="none" lIns="0" rIns="0" tIns="0" bIns="0" anchor="t">
            <a:spAutoFit/>
          </a:bodyPr>
          <a:lstStyle/>
          <a:p>
            <a:pPr algn="l"/>
            <a:r>
              <a:rPr b="1" sz="1050" i="0" u="none">
                <a:solidFill>
                  <a:srgbClr val="2563EB"/>
                </a:solidFill>
                <a:latin typeface="Space Grotesk"/>
              </a:rPr>
              <a:t>DATA PREPARATION</a:t>
            </a:r>
          </a:p>
        </p:txBody>
      </p:sp>
      <p:sp>
        <p:nvSpPr>
          <p:cNvPr id="28" name="TextBox 27"/>
          <p:cNvSpPr txBox="1"/>
          <p:nvPr/>
        </p:nvSpPr>
        <p:spPr>
          <a:xfrm>
            <a:off x="533400" y="647700"/>
            <a:ext cx="116586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Space Grotesk"/>
              </a:rPr>
              <a:t>Dataset and Input Features</a:t>
            </a:r>
          </a:p>
        </p:txBody>
      </p:sp>
      <p:sp>
        <p:nvSpPr>
          <p:cNvPr id="29" name="TextBox 28"/>
          <p:cNvSpPr txBox="1"/>
          <p:nvPr/>
        </p:nvSpPr>
        <p:spPr>
          <a:xfrm>
            <a:off x="310753" y="1971675"/>
            <a:ext cx="3140868" cy="447675"/>
          </a:xfrm>
          <a:prstGeom prst="rect">
            <a:avLst/>
          </a:prstGeom>
          <a:noFill/>
        </p:spPr>
        <p:txBody>
          <a:bodyPr wrap="square" lIns="0" rIns="0" tIns="0" bIns="0" anchor="t">
            <a:spAutoFit/>
          </a:bodyPr>
          <a:lstStyle/>
          <a:p>
            <a:pPr algn="ctr"/>
            <a:r>
              <a:rPr b="1" sz="1800" i="0" u="none">
                <a:solidFill>
                  <a:srgbClr val="2563EB"/>
                </a:solidFill>
                <a:latin typeface="Inter"/>
              </a:rPr>
              <a:t>1,000</a:t>
            </a:r>
          </a:p>
        </p:txBody>
      </p:sp>
      <p:sp>
        <p:nvSpPr>
          <p:cNvPr id="30" name="TextBox 29"/>
          <p:cNvSpPr txBox="1"/>
          <p:nvPr/>
        </p:nvSpPr>
        <p:spPr>
          <a:xfrm>
            <a:off x="3120628" y="1971675"/>
            <a:ext cx="3140868" cy="447675"/>
          </a:xfrm>
          <a:prstGeom prst="rect">
            <a:avLst/>
          </a:prstGeom>
          <a:noFill/>
        </p:spPr>
        <p:txBody>
          <a:bodyPr wrap="square" lIns="0" rIns="0" tIns="0" bIns="0" anchor="t">
            <a:spAutoFit/>
          </a:bodyPr>
          <a:lstStyle/>
          <a:p>
            <a:pPr algn="ctr"/>
            <a:r>
              <a:rPr b="1" sz="1800" i="0" u="none">
                <a:solidFill>
                  <a:srgbClr val="0F172A"/>
                </a:solidFill>
                <a:latin typeface="Inter"/>
              </a:rPr>
              <a:t>8</a:t>
            </a:r>
          </a:p>
        </p:txBody>
      </p:sp>
      <p:sp>
        <p:nvSpPr>
          <p:cNvPr id="31" name="TextBox 30"/>
          <p:cNvSpPr txBox="1"/>
          <p:nvPr/>
        </p:nvSpPr>
        <p:spPr>
          <a:xfrm>
            <a:off x="5930503" y="1971675"/>
            <a:ext cx="3140868" cy="447675"/>
          </a:xfrm>
          <a:prstGeom prst="rect">
            <a:avLst/>
          </a:prstGeom>
          <a:noFill/>
        </p:spPr>
        <p:txBody>
          <a:bodyPr wrap="square" lIns="0" rIns="0" tIns="0" bIns="0" anchor="t">
            <a:spAutoFit/>
          </a:bodyPr>
          <a:lstStyle/>
          <a:p>
            <a:pPr algn="ctr"/>
            <a:r>
              <a:rPr b="1" sz="1800" i="0" u="none">
                <a:solidFill>
                  <a:srgbClr val="0F172A"/>
                </a:solidFill>
                <a:latin typeface="Inter"/>
              </a:rPr>
              <a:t>7</a:t>
            </a:r>
          </a:p>
        </p:txBody>
      </p:sp>
      <p:sp>
        <p:nvSpPr>
          <p:cNvPr id="32" name="TextBox 31"/>
          <p:cNvSpPr txBox="1"/>
          <p:nvPr/>
        </p:nvSpPr>
        <p:spPr>
          <a:xfrm>
            <a:off x="8740378" y="1971675"/>
            <a:ext cx="3140868" cy="447675"/>
          </a:xfrm>
          <a:prstGeom prst="rect">
            <a:avLst/>
          </a:prstGeom>
          <a:noFill/>
        </p:spPr>
        <p:txBody>
          <a:bodyPr wrap="square" lIns="0" rIns="0" tIns="0" bIns="0" anchor="t">
            <a:spAutoFit/>
          </a:bodyPr>
          <a:lstStyle/>
          <a:p>
            <a:pPr algn="ctr"/>
            <a:r>
              <a:rPr b="1" sz="1800" i="0" u="none">
                <a:solidFill>
                  <a:srgbClr val="16A34A"/>
                </a:solidFill>
                <a:latin typeface="Inter"/>
              </a:rPr>
              <a:t>10</a:t>
            </a:r>
          </a:p>
        </p:txBody>
      </p:sp>
      <p:sp>
        <p:nvSpPr>
          <p:cNvPr id="33" name="TextBox 32"/>
          <p:cNvSpPr txBox="1"/>
          <p:nvPr/>
        </p:nvSpPr>
        <p:spPr>
          <a:xfrm>
            <a:off x="742950" y="5495925"/>
            <a:ext cx="11449050" cy="161925"/>
          </a:xfrm>
          <a:prstGeom prst="rect">
            <a:avLst/>
          </a:prstGeom>
          <a:noFill/>
        </p:spPr>
        <p:txBody>
          <a:bodyPr wrap="none" lIns="0" rIns="0" tIns="0" bIns="0" anchor="t">
            <a:spAutoFit/>
          </a:bodyPr>
          <a:lstStyle/>
          <a:p>
            <a:pPr algn="l"/>
            <a:r>
              <a:rPr b="1" sz="1050" i="0" u="none">
                <a:solidFill>
                  <a:srgbClr val="0F172A"/>
                </a:solidFill>
                <a:latin typeface="Inter"/>
              </a:rPr>
              <a:t>Feature Math:</a:t>
            </a:r>
            <a:r>
              <a:rPr b="0" sz="1050" i="0" u="none">
                <a:solidFill>
                  <a:srgbClr val="0F172A"/>
                </a:solidFill>
                <a:latin typeface="Inter"/>
              </a:rPr>
              <a:t> 6 Number Features (Scaled) + 4 One-Hot Columns = </a:t>
            </a:r>
            <a:r>
              <a:rPr b="1" sz="1050" i="0" u="none">
                <a:solidFill>
                  <a:srgbClr val="0F172A"/>
                </a:solidFill>
                <a:latin typeface="Inter"/>
              </a:rPr>
              <a:t>10 Final Features</a:t>
            </a:r>
            <a:r>
              <a:rPr b="0" sz="1050" i="0" u="none">
                <a:solidFill>
                  <a:srgbClr val="0F172A"/>
                </a:solidFill>
                <a:latin typeface="Inter"/>
              </a:rPr>
              <a:t>. Final Input Matrix size is </a:t>
            </a:r>
            <a:r>
              <a:rPr b="1" sz="1050" i="0" u="none">
                <a:solidFill>
                  <a:srgbClr val="0F172A"/>
                </a:solidFill>
                <a:latin typeface="Inter"/>
              </a:rPr>
              <a:t>1000 × 10</a:t>
            </a:r>
            <a:r>
              <a:rPr b="0" sz="1050" i="0" u="none">
                <a:solidFill>
                  <a:srgbClr val="0F172A"/>
                </a:solidFill>
                <a:latin typeface="Inter"/>
              </a:rPr>
              <a:t>.</a:t>
            </a:r>
          </a:p>
        </p:txBody>
      </p:sp>
      <p:sp>
        <p:nvSpPr>
          <p:cNvPr id="34" name="TextBox 33"/>
          <p:cNvSpPr txBox="1"/>
          <p:nvPr/>
        </p:nvSpPr>
        <p:spPr>
          <a:xfrm>
            <a:off x="351234" y="2257425"/>
            <a:ext cx="3059906" cy="152400"/>
          </a:xfrm>
          <a:prstGeom prst="rect">
            <a:avLst/>
          </a:prstGeom>
          <a:noFill/>
        </p:spPr>
        <p:txBody>
          <a:bodyPr wrap="none" lIns="0" rIns="0" tIns="0" bIns="0" anchor="t">
            <a:spAutoFit/>
          </a:bodyPr>
          <a:lstStyle/>
          <a:p>
            <a:pPr algn="ctr"/>
            <a:r>
              <a:rPr b="1" sz="975" i="0" u="none">
                <a:solidFill>
                  <a:srgbClr val="64748B"/>
                </a:solidFill>
                <a:latin typeface="Inter"/>
              </a:rPr>
              <a:t>Total Users</a:t>
            </a:r>
          </a:p>
        </p:txBody>
      </p:sp>
      <p:sp>
        <p:nvSpPr>
          <p:cNvPr id="35" name="TextBox 34"/>
          <p:cNvSpPr txBox="1"/>
          <p:nvPr/>
        </p:nvSpPr>
        <p:spPr>
          <a:xfrm>
            <a:off x="3161109" y="2257425"/>
            <a:ext cx="3059906" cy="152400"/>
          </a:xfrm>
          <a:prstGeom prst="rect">
            <a:avLst/>
          </a:prstGeom>
          <a:noFill/>
        </p:spPr>
        <p:txBody>
          <a:bodyPr wrap="none" lIns="0" rIns="0" tIns="0" bIns="0" anchor="t">
            <a:spAutoFit/>
          </a:bodyPr>
          <a:lstStyle/>
          <a:p>
            <a:pPr algn="ctr"/>
            <a:r>
              <a:rPr b="1" sz="975" i="0" u="none">
                <a:solidFill>
                  <a:srgbClr val="64748B"/>
                </a:solidFill>
                <a:latin typeface="Inter"/>
              </a:rPr>
              <a:t>Raw Columns</a:t>
            </a:r>
          </a:p>
        </p:txBody>
      </p:sp>
      <p:sp>
        <p:nvSpPr>
          <p:cNvPr id="36" name="TextBox 35"/>
          <p:cNvSpPr txBox="1"/>
          <p:nvPr/>
        </p:nvSpPr>
        <p:spPr>
          <a:xfrm>
            <a:off x="5970984" y="2257425"/>
            <a:ext cx="3059906" cy="152400"/>
          </a:xfrm>
          <a:prstGeom prst="rect">
            <a:avLst/>
          </a:prstGeom>
          <a:noFill/>
        </p:spPr>
        <p:txBody>
          <a:bodyPr wrap="none" lIns="0" rIns="0" tIns="0" bIns="0" anchor="t">
            <a:spAutoFit/>
          </a:bodyPr>
          <a:lstStyle/>
          <a:p>
            <a:pPr algn="ctr"/>
            <a:r>
              <a:rPr b="1" sz="975" i="0" u="none">
                <a:solidFill>
                  <a:srgbClr val="64748B"/>
                </a:solidFill>
                <a:latin typeface="Inter"/>
              </a:rPr>
              <a:t>ML Input Features</a:t>
            </a:r>
          </a:p>
        </p:txBody>
      </p:sp>
      <p:sp>
        <p:nvSpPr>
          <p:cNvPr id="37" name="TextBox 36"/>
          <p:cNvSpPr txBox="1"/>
          <p:nvPr/>
        </p:nvSpPr>
        <p:spPr>
          <a:xfrm>
            <a:off x="8780859" y="2257425"/>
            <a:ext cx="3059906" cy="152400"/>
          </a:xfrm>
          <a:prstGeom prst="rect">
            <a:avLst/>
          </a:prstGeom>
          <a:noFill/>
        </p:spPr>
        <p:txBody>
          <a:bodyPr wrap="none" lIns="0" rIns="0" tIns="0" bIns="0" anchor="t">
            <a:spAutoFit/>
          </a:bodyPr>
          <a:lstStyle/>
          <a:p>
            <a:pPr algn="ctr"/>
            <a:r>
              <a:rPr b="1" sz="975" i="0" u="none">
                <a:solidFill>
                  <a:srgbClr val="64748B"/>
                </a:solidFill>
                <a:latin typeface="Inter"/>
              </a:rPr>
              <a:t>Final Processed Features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848475"/>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3400" y="4688085"/>
            <a:ext cx="11125200" cy="447675"/>
          </a:xfrm>
          <a:prstGeom prst="roundRect">
            <a:avLst>
              <a:gd name="adj" fmla="val 2127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795712" y="2512814"/>
            <a:ext cx="2085975" cy="438150"/>
          </a:xfrm>
          <a:prstGeom prst="roundRect">
            <a:avLst>
              <a:gd name="adj" fmla="val 21739"/>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38887" y="2512814"/>
            <a:ext cx="2057400" cy="438150"/>
          </a:xfrm>
          <a:prstGeom prst="roundRect">
            <a:avLst>
              <a:gd name="adj" fmla="val 21739"/>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33400" y="3141464"/>
            <a:ext cx="3400425" cy="1356121"/>
          </a:xfrm>
          <a:prstGeom prst="roundRect">
            <a:avLst>
              <a:gd name="adj" fmla="val 70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086225" y="3141464"/>
            <a:ext cx="3400425" cy="1356121"/>
          </a:xfrm>
          <a:prstGeom prst="roundRect">
            <a:avLst>
              <a:gd name="adj" fmla="val 70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639050" y="3141464"/>
            <a:ext cx="4019550" cy="1356121"/>
          </a:xfrm>
          <a:prstGeom prst="roundRect">
            <a:avLst>
              <a:gd name="adj" fmla="val 70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3425" y="3370064"/>
            <a:ext cx="800100" cy="247650"/>
          </a:xfrm>
          <a:prstGeom prst="roundRect">
            <a:avLst>
              <a:gd name="adj" fmla="val 23076"/>
            </a:avLst>
          </a:prstGeom>
          <a:solidFill>
            <a:srgbClr val="F1F5F9"/>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3400" y="4488060"/>
            <a:ext cx="3400425"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3141464"/>
            <a:ext cx="3400425" cy="381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3400" y="3141464"/>
            <a:ext cx="9525" cy="1356121"/>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24300" y="3141464"/>
            <a:ext cx="9525" cy="1356121"/>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86250" y="3370064"/>
            <a:ext cx="819150" cy="247650"/>
          </a:xfrm>
          <a:prstGeom prst="roundRect">
            <a:avLst>
              <a:gd name="adj" fmla="val 23076"/>
            </a:avLst>
          </a:prstGeom>
          <a:solidFill>
            <a:srgbClr val="F1F5F9"/>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86225" y="4488060"/>
            <a:ext cx="3400425"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86225" y="3141464"/>
            <a:ext cx="3400425" cy="381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86225" y="3141464"/>
            <a:ext cx="9525" cy="1356121"/>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77125" y="3141464"/>
            <a:ext cx="9525" cy="1356121"/>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848600" y="3370064"/>
            <a:ext cx="1590675" cy="247650"/>
          </a:xfrm>
          <a:prstGeom prst="roundRect">
            <a:avLst>
              <a:gd name="adj" fmla="val 23076"/>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39050" y="4478535"/>
            <a:ext cx="4019550" cy="190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39050" y="3141464"/>
            <a:ext cx="401955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39050" y="3141464"/>
            <a:ext cx="19050" cy="1356121"/>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639550" y="3141464"/>
            <a:ext cx="19050" cy="1356121"/>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2"/>
          <a:stretch>
            <a:fillRect/>
          </a:stretch>
        </p:blipFill>
        <p:spPr>
          <a:xfrm>
            <a:off x="6034087" y="2646164"/>
            <a:ext cx="152400" cy="171450"/>
          </a:xfrm>
          <a:prstGeom prst="rect">
            <a:avLst/>
          </a:prstGeom>
        </p:spPr>
      </p:pic>
      <p:pic>
        <p:nvPicPr>
          <p:cNvPr id="25" name="Picture 24" descr="image.png"/>
          <p:cNvPicPr>
            <a:picLocks noChangeAspect="1"/>
          </p:cNvPicPr>
          <p:nvPr/>
        </p:nvPicPr>
        <p:blipFill>
          <a:blip r:embed="rId3"/>
          <a:stretch>
            <a:fillRect/>
          </a:stretch>
        </p:blipFill>
        <p:spPr>
          <a:xfrm>
            <a:off x="3900487" y="4850010"/>
            <a:ext cx="114300" cy="133350"/>
          </a:xfrm>
          <a:prstGeom prst="rect">
            <a:avLst/>
          </a:prstGeom>
        </p:spPr>
      </p:pic>
      <p:pic>
        <p:nvPicPr>
          <p:cNvPr id="26" name="Picture 25" descr="image.png"/>
          <p:cNvPicPr>
            <a:picLocks noChangeAspect="1"/>
          </p:cNvPicPr>
          <p:nvPr/>
        </p:nvPicPr>
        <p:blipFill>
          <a:blip r:embed="rId3"/>
          <a:stretch>
            <a:fillRect/>
          </a:stretch>
        </p:blipFill>
        <p:spPr>
          <a:xfrm>
            <a:off x="5195887" y="4850010"/>
            <a:ext cx="114300" cy="133350"/>
          </a:xfrm>
          <a:prstGeom prst="rect">
            <a:avLst/>
          </a:prstGeom>
        </p:spPr>
      </p:pic>
      <p:pic>
        <p:nvPicPr>
          <p:cNvPr id="27" name="Picture 26" descr="image.png"/>
          <p:cNvPicPr>
            <a:picLocks noChangeAspect="1"/>
          </p:cNvPicPr>
          <p:nvPr/>
        </p:nvPicPr>
        <p:blipFill>
          <a:blip r:embed="rId3"/>
          <a:stretch>
            <a:fillRect/>
          </a:stretch>
        </p:blipFill>
        <p:spPr>
          <a:xfrm>
            <a:off x="7291387" y="4850010"/>
            <a:ext cx="114300" cy="133350"/>
          </a:xfrm>
          <a:prstGeom prst="rect">
            <a:avLst/>
          </a:prstGeom>
        </p:spPr>
      </p:pic>
      <p:sp>
        <p:nvSpPr>
          <p:cNvPr id="28" name="TextBox 27"/>
          <p:cNvSpPr txBox="1"/>
          <p:nvPr/>
        </p:nvSpPr>
        <p:spPr>
          <a:xfrm>
            <a:off x="533400" y="419100"/>
            <a:ext cx="11658600" cy="171450"/>
          </a:xfrm>
          <a:prstGeom prst="rect">
            <a:avLst/>
          </a:prstGeom>
          <a:noFill/>
        </p:spPr>
        <p:txBody>
          <a:bodyPr wrap="none" lIns="0" rIns="0" tIns="0" bIns="0" anchor="t">
            <a:spAutoFit/>
          </a:bodyPr>
          <a:lstStyle/>
          <a:p>
            <a:pPr algn="l"/>
            <a:r>
              <a:rPr b="1" sz="1050" i="0" u="none">
                <a:solidFill>
                  <a:srgbClr val="2563EB"/>
                </a:solidFill>
                <a:latin typeface="Space Grotesk"/>
              </a:rPr>
              <a:t>SYSTEM ARCHITECTURE</a:t>
            </a:r>
          </a:p>
        </p:txBody>
      </p:sp>
      <p:sp>
        <p:nvSpPr>
          <p:cNvPr id="29" name="TextBox 28"/>
          <p:cNvSpPr txBox="1"/>
          <p:nvPr/>
        </p:nvSpPr>
        <p:spPr>
          <a:xfrm>
            <a:off x="533400" y="647700"/>
            <a:ext cx="116586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Space Grotesk"/>
              </a:rPr>
              <a:t>Proposed Methodology</a:t>
            </a:r>
          </a:p>
        </p:txBody>
      </p:sp>
      <p:sp>
        <p:nvSpPr>
          <p:cNvPr id="30" name="TextBox 29"/>
          <p:cNvSpPr txBox="1"/>
          <p:nvPr/>
        </p:nvSpPr>
        <p:spPr>
          <a:xfrm>
            <a:off x="3763565" y="2627114"/>
            <a:ext cx="2150268" cy="209550"/>
          </a:xfrm>
          <a:prstGeom prst="rect">
            <a:avLst/>
          </a:prstGeom>
          <a:noFill/>
        </p:spPr>
        <p:txBody>
          <a:bodyPr wrap="square" lIns="0" rIns="0" tIns="0" bIns="0" anchor="t">
            <a:spAutoFit/>
          </a:bodyPr>
          <a:lstStyle/>
          <a:p>
            <a:pPr algn="ctr"/>
            <a:r>
              <a:rPr b="1" sz="1125" i="0" u="none">
                <a:solidFill>
                  <a:srgbClr val="0F172A"/>
                </a:solidFill>
                <a:latin typeface="Inter"/>
              </a:rPr>
              <a:t>Raw Data (1000 Users)</a:t>
            </a:r>
          </a:p>
        </p:txBody>
      </p:sp>
      <p:sp>
        <p:nvSpPr>
          <p:cNvPr id="31" name="TextBox 30"/>
          <p:cNvSpPr txBox="1"/>
          <p:nvPr/>
        </p:nvSpPr>
        <p:spPr>
          <a:xfrm>
            <a:off x="6310312" y="2627114"/>
            <a:ext cx="2114550" cy="209550"/>
          </a:xfrm>
          <a:prstGeom prst="rect">
            <a:avLst/>
          </a:prstGeom>
          <a:noFill/>
        </p:spPr>
        <p:txBody>
          <a:bodyPr wrap="square" lIns="0" rIns="0" tIns="0" bIns="0" anchor="t">
            <a:spAutoFit/>
          </a:bodyPr>
          <a:lstStyle/>
          <a:p>
            <a:pPr algn="ctr"/>
            <a:r>
              <a:rPr b="1" sz="1125" i="0" u="none">
                <a:solidFill>
                  <a:srgbClr val="0F172A"/>
                </a:solidFill>
                <a:latin typeface="Inter"/>
              </a:rPr>
              <a:t>10 Processed Features</a:t>
            </a:r>
          </a:p>
        </p:txBody>
      </p:sp>
      <p:sp>
        <p:nvSpPr>
          <p:cNvPr id="32" name="TextBox 31"/>
          <p:cNvSpPr txBox="1"/>
          <p:nvPr/>
        </p:nvSpPr>
        <p:spPr>
          <a:xfrm>
            <a:off x="3090862" y="4830960"/>
            <a:ext cx="866775" cy="161925"/>
          </a:xfrm>
          <a:prstGeom prst="rect">
            <a:avLst/>
          </a:prstGeom>
          <a:noFill/>
        </p:spPr>
        <p:txBody>
          <a:bodyPr wrap="none" lIns="0" rIns="0" tIns="0" bIns="0" anchor="t">
            <a:spAutoFit/>
          </a:bodyPr>
          <a:lstStyle/>
          <a:p>
            <a:pPr algn="l"/>
            <a:r>
              <a:rPr b="1" sz="1050" i="0" u="none">
                <a:solidFill>
                  <a:srgbClr val="0F172A"/>
                </a:solidFill>
                <a:latin typeface="Inter"/>
              </a:rPr>
              <a:t>Outputs:</a:t>
            </a:r>
          </a:p>
        </p:txBody>
      </p:sp>
      <p:sp>
        <p:nvSpPr>
          <p:cNvPr id="33" name="TextBox 32"/>
          <p:cNvSpPr txBox="1"/>
          <p:nvPr/>
        </p:nvSpPr>
        <p:spPr>
          <a:xfrm>
            <a:off x="3900487" y="4830960"/>
            <a:ext cx="1352550" cy="161925"/>
          </a:xfrm>
          <a:prstGeom prst="rect">
            <a:avLst/>
          </a:prstGeom>
          <a:noFill/>
        </p:spPr>
        <p:txBody>
          <a:bodyPr wrap="none" lIns="171450" rIns="0" tIns="0" bIns="0" anchor="t">
            <a:spAutoFit/>
          </a:bodyPr>
          <a:lstStyle/>
          <a:p>
            <a:pPr algn="l"/>
            <a:r>
              <a:rPr b="0" sz="1050" i="0" u="none">
                <a:solidFill>
                  <a:srgbClr val="334155"/>
                </a:solidFill>
                <a:latin typeface="Inter"/>
              </a:rPr>
              <a:t>4 User Groups</a:t>
            </a:r>
          </a:p>
        </p:txBody>
      </p:sp>
      <p:sp>
        <p:nvSpPr>
          <p:cNvPr id="34" name="TextBox 33"/>
          <p:cNvSpPr txBox="1"/>
          <p:nvPr/>
        </p:nvSpPr>
        <p:spPr>
          <a:xfrm>
            <a:off x="5195887" y="4830960"/>
            <a:ext cx="2333625" cy="161925"/>
          </a:xfrm>
          <a:prstGeom prst="rect">
            <a:avLst/>
          </a:prstGeom>
          <a:noFill/>
        </p:spPr>
        <p:txBody>
          <a:bodyPr wrap="none" lIns="171450" rIns="0" tIns="0" bIns="0" anchor="t">
            <a:spAutoFit/>
          </a:bodyPr>
          <a:lstStyle/>
          <a:p>
            <a:pPr algn="l"/>
            <a:r>
              <a:rPr b="0" sz="1050" i="0" u="none">
                <a:solidFill>
                  <a:srgbClr val="334155"/>
                </a:solidFill>
                <a:latin typeface="Inter"/>
              </a:rPr>
              <a:t>Group Characteristic Study</a:t>
            </a:r>
          </a:p>
        </p:txBody>
      </p:sp>
      <p:sp>
        <p:nvSpPr>
          <p:cNvPr id="35" name="TextBox 34"/>
          <p:cNvSpPr txBox="1"/>
          <p:nvPr/>
        </p:nvSpPr>
        <p:spPr>
          <a:xfrm>
            <a:off x="7291387" y="4830960"/>
            <a:ext cx="2262187" cy="161925"/>
          </a:xfrm>
          <a:prstGeom prst="rect">
            <a:avLst/>
          </a:prstGeom>
          <a:noFill/>
        </p:spPr>
        <p:txBody>
          <a:bodyPr wrap="none" lIns="171450" rIns="0" tIns="0" bIns="0" anchor="t">
            <a:spAutoFit/>
          </a:bodyPr>
          <a:lstStyle/>
          <a:p>
            <a:pPr algn="l"/>
            <a:r>
              <a:rPr b="0" sz="1050" i="0" u="none">
                <a:solidFill>
                  <a:srgbClr val="334155"/>
                </a:solidFill>
                <a:latin typeface="Inter"/>
              </a:rPr>
              <a:t>Model Comparison Scores</a:t>
            </a:r>
          </a:p>
        </p:txBody>
      </p:sp>
      <p:sp>
        <p:nvSpPr>
          <p:cNvPr id="36" name="TextBox 35"/>
          <p:cNvSpPr txBox="1"/>
          <p:nvPr/>
        </p:nvSpPr>
        <p:spPr>
          <a:xfrm>
            <a:off x="828675" y="3408164"/>
            <a:ext cx="704850" cy="171450"/>
          </a:xfrm>
          <a:prstGeom prst="rect">
            <a:avLst/>
          </a:prstGeom>
          <a:noFill/>
        </p:spPr>
        <p:txBody>
          <a:bodyPr wrap="square" lIns="0" rIns="0" tIns="0" bIns="0" anchor="t">
            <a:spAutoFit/>
          </a:bodyPr>
          <a:lstStyle/>
          <a:p>
            <a:pPr algn="l"/>
            <a:r>
              <a:rPr b="1" sz="975" i="0" u="none">
                <a:solidFill>
                  <a:srgbClr val="475569"/>
                </a:solidFill>
                <a:latin typeface="Inter"/>
              </a:rPr>
              <a:t>Baseline 1</a:t>
            </a:r>
          </a:p>
        </p:txBody>
      </p:sp>
      <p:sp>
        <p:nvSpPr>
          <p:cNvPr id="37" name="TextBox 36"/>
          <p:cNvSpPr txBox="1"/>
          <p:nvPr/>
        </p:nvSpPr>
        <p:spPr>
          <a:xfrm>
            <a:off x="733425" y="3693914"/>
            <a:ext cx="3937992" cy="190500"/>
          </a:xfrm>
          <a:prstGeom prst="rect">
            <a:avLst/>
          </a:prstGeom>
          <a:noFill/>
        </p:spPr>
        <p:txBody>
          <a:bodyPr wrap="none" lIns="0" rIns="0" tIns="0" bIns="0" anchor="t">
            <a:spAutoFit/>
          </a:bodyPr>
          <a:lstStyle/>
          <a:p>
            <a:pPr algn="l"/>
            <a:r>
              <a:rPr b="1" sz="1275" i="0" u="none">
                <a:solidFill>
                  <a:srgbClr val="0F172A"/>
                </a:solidFill>
                <a:latin typeface="Inter"/>
              </a:rPr>
              <a:t>K-Means</a:t>
            </a:r>
          </a:p>
        </p:txBody>
      </p:sp>
      <p:sp>
        <p:nvSpPr>
          <p:cNvPr id="38" name="TextBox 37"/>
          <p:cNvSpPr txBox="1"/>
          <p:nvPr/>
        </p:nvSpPr>
        <p:spPr>
          <a:xfrm>
            <a:off x="733425" y="3941564"/>
            <a:ext cx="3095625" cy="346471"/>
          </a:xfrm>
          <a:prstGeom prst="rect">
            <a:avLst/>
          </a:prstGeom>
          <a:noFill/>
        </p:spPr>
        <p:txBody>
          <a:bodyPr wrap="square" lIns="0" rIns="0" tIns="0" bIns="0" anchor="t">
            <a:spAutoFit/>
          </a:bodyPr>
          <a:lstStyle/>
          <a:p>
            <a:pPr algn="l">
              <a:lnSpc>
                <a:spcPts val="1364"/>
              </a:lnSpc>
            </a:pPr>
            <a:r>
              <a:rPr b="0" sz="975" i="0" u="none">
                <a:solidFill>
                  <a:srgbClr val="475569"/>
                </a:solidFill>
                <a:latin typeface="Inter"/>
              </a:rPr>
              <a:t>Groups data directly in the 10-feature space based on straight-line distance.</a:t>
            </a:r>
          </a:p>
        </p:txBody>
      </p:sp>
      <p:sp>
        <p:nvSpPr>
          <p:cNvPr id="39" name="TextBox 38"/>
          <p:cNvSpPr txBox="1"/>
          <p:nvPr/>
        </p:nvSpPr>
        <p:spPr>
          <a:xfrm>
            <a:off x="4381500" y="3408164"/>
            <a:ext cx="723900" cy="171450"/>
          </a:xfrm>
          <a:prstGeom prst="rect">
            <a:avLst/>
          </a:prstGeom>
          <a:noFill/>
        </p:spPr>
        <p:txBody>
          <a:bodyPr wrap="square" lIns="0" rIns="0" tIns="0" bIns="0" anchor="t">
            <a:spAutoFit/>
          </a:bodyPr>
          <a:lstStyle/>
          <a:p>
            <a:pPr algn="l"/>
            <a:r>
              <a:rPr b="1" sz="975" i="0" u="none">
                <a:solidFill>
                  <a:srgbClr val="475569"/>
                </a:solidFill>
                <a:latin typeface="Inter"/>
              </a:rPr>
              <a:t>Baseline 2</a:t>
            </a:r>
          </a:p>
        </p:txBody>
      </p:sp>
      <p:sp>
        <p:nvSpPr>
          <p:cNvPr id="40" name="TextBox 39"/>
          <p:cNvSpPr txBox="1"/>
          <p:nvPr/>
        </p:nvSpPr>
        <p:spPr>
          <a:xfrm>
            <a:off x="4286250" y="3693914"/>
            <a:ext cx="3937992" cy="190500"/>
          </a:xfrm>
          <a:prstGeom prst="rect">
            <a:avLst/>
          </a:prstGeom>
          <a:noFill/>
        </p:spPr>
        <p:txBody>
          <a:bodyPr wrap="none" lIns="0" rIns="0" tIns="0" bIns="0" anchor="t">
            <a:spAutoFit/>
          </a:bodyPr>
          <a:lstStyle/>
          <a:p>
            <a:pPr algn="l"/>
            <a:r>
              <a:rPr b="1" sz="1275" i="0" u="none">
                <a:solidFill>
                  <a:srgbClr val="0F172A"/>
                </a:solidFill>
                <a:latin typeface="Inter"/>
              </a:rPr>
              <a:t>DBSCAN</a:t>
            </a:r>
          </a:p>
        </p:txBody>
      </p:sp>
      <p:sp>
        <p:nvSpPr>
          <p:cNvPr id="41" name="TextBox 40"/>
          <p:cNvSpPr txBox="1"/>
          <p:nvPr/>
        </p:nvSpPr>
        <p:spPr>
          <a:xfrm>
            <a:off x="4286250" y="3941564"/>
            <a:ext cx="3095625" cy="346471"/>
          </a:xfrm>
          <a:prstGeom prst="rect">
            <a:avLst/>
          </a:prstGeom>
          <a:noFill/>
        </p:spPr>
        <p:txBody>
          <a:bodyPr wrap="square" lIns="0" rIns="0" tIns="0" bIns="0" anchor="t">
            <a:spAutoFit/>
          </a:bodyPr>
          <a:lstStyle/>
          <a:p>
            <a:pPr algn="l">
              <a:lnSpc>
                <a:spcPts val="1364"/>
              </a:lnSpc>
            </a:pPr>
            <a:r>
              <a:rPr b="0" sz="975" i="0" u="none">
                <a:solidFill>
                  <a:srgbClr val="475569"/>
                </a:solidFill>
                <a:latin typeface="Inter"/>
              </a:rPr>
              <a:t>Groups data based on how closely points are packed together (eps=1.3, min_samples=5).</a:t>
            </a:r>
          </a:p>
        </p:txBody>
      </p:sp>
      <p:sp>
        <p:nvSpPr>
          <p:cNvPr id="42" name="TextBox 41"/>
          <p:cNvSpPr txBox="1"/>
          <p:nvPr/>
        </p:nvSpPr>
        <p:spPr>
          <a:xfrm>
            <a:off x="7943850" y="3408164"/>
            <a:ext cx="1495425" cy="171450"/>
          </a:xfrm>
          <a:prstGeom prst="rect">
            <a:avLst/>
          </a:prstGeom>
          <a:noFill/>
        </p:spPr>
        <p:txBody>
          <a:bodyPr wrap="square" lIns="0" rIns="0" tIns="0" bIns="0" anchor="t">
            <a:spAutoFit/>
          </a:bodyPr>
          <a:lstStyle/>
          <a:p>
            <a:pPr algn="l"/>
            <a:r>
              <a:rPr b="1" sz="975" i="0" u="none">
                <a:solidFill>
                  <a:srgbClr val="1E40AF"/>
                </a:solidFill>
                <a:latin typeface="Inter"/>
              </a:rPr>
              <a:t>Main Proposed Method</a:t>
            </a:r>
          </a:p>
        </p:txBody>
      </p:sp>
      <p:sp>
        <p:nvSpPr>
          <p:cNvPr id="43" name="TextBox 42"/>
          <p:cNvSpPr txBox="1"/>
          <p:nvPr/>
        </p:nvSpPr>
        <p:spPr>
          <a:xfrm>
            <a:off x="7848600" y="3693914"/>
            <a:ext cx="4343400" cy="190500"/>
          </a:xfrm>
          <a:prstGeom prst="rect">
            <a:avLst/>
          </a:prstGeom>
          <a:noFill/>
        </p:spPr>
        <p:txBody>
          <a:bodyPr wrap="none" lIns="0" rIns="0" tIns="0" bIns="0" anchor="t">
            <a:spAutoFit/>
          </a:bodyPr>
          <a:lstStyle/>
          <a:p>
            <a:pPr algn="l"/>
            <a:r>
              <a:rPr b="1" sz="1275" i="0" u="none">
                <a:solidFill>
                  <a:srgbClr val="0F172A"/>
                </a:solidFill>
                <a:latin typeface="Inter"/>
              </a:rPr>
              <a:t>Deep Embedded Clustering (DEC)</a:t>
            </a:r>
          </a:p>
        </p:txBody>
      </p:sp>
      <p:sp>
        <p:nvSpPr>
          <p:cNvPr id="44" name="TextBox 43"/>
          <p:cNvSpPr txBox="1"/>
          <p:nvPr/>
        </p:nvSpPr>
        <p:spPr>
          <a:xfrm>
            <a:off x="7848600" y="3941564"/>
            <a:ext cx="3695700" cy="346471"/>
          </a:xfrm>
          <a:prstGeom prst="rect">
            <a:avLst/>
          </a:prstGeom>
          <a:noFill/>
        </p:spPr>
        <p:txBody>
          <a:bodyPr wrap="square" lIns="0" rIns="0" tIns="0" bIns="0" anchor="t">
            <a:spAutoFit/>
          </a:bodyPr>
          <a:lstStyle/>
          <a:p>
            <a:pPr algn="l">
              <a:lnSpc>
                <a:spcPts val="1364"/>
              </a:lnSpc>
            </a:pPr>
            <a:r>
              <a:rPr b="0" sz="975" i="0" u="none">
                <a:solidFill>
                  <a:srgbClr val="334155"/>
                </a:solidFill>
                <a:latin typeface="Inter"/>
              </a:rPr>
              <a:t>Uses a neural network (Autoencoder) to shrink 10 features to 5 key features, then cleans up user groups step-by-step.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848475"/>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3400" y="2476500"/>
            <a:ext cx="11125200" cy="1171575"/>
          </a:xfrm>
          <a:prstGeom prst="roundRect">
            <a:avLst>
              <a:gd name="adj" fmla="val 813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3400" y="3800475"/>
            <a:ext cx="11125200" cy="1371600"/>
          </a:xfrm>
          <a:prstGeom prst="roundRect">
            <a:avLst>
              <a:gd name="adj" fmla="val 694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5325" y="2914650"/>
            <a:ext cx="2400300" cy="561975"/>
          </a:xfrm>
          <a:prstGeom prst="roundRect">
            <a:avLst>
              <a:gd name="adj" fmla="val 13559"/>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43275" y="2914650"/>
            <a:ext cx="2400300" cy="561975"/>
          </a:xfrm>
          <a:prstGeom prst="roundRect">
            <a:avLst>
              <a:gd name="adj" fmla="val 13559"/>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91225" y="2914650"/>
            <a:ext cx="2400300" cy="561975"/>
          </a:xfrm>
          <a:prstGeom prst="roundRect">
            <a:avLst>
              <a:gd name="adj" fmla="val 13559"/>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39175" y="2905125"/>
            <a:ext cx="2857500" cy="581025"/>
          </a:xfrm>
          <a:prstGeom prst="roundRect">
            <a:avLst>
              <a:gd name="adj" fmla="val 13114"/>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3171825" y="3119437"/>
            <a:ext cx="95250" cy="152400"/>
          </a:xfrm>
          <a:prstGeom prst="rect">
            <a:avLst/>
          </a:prstGeom>
        </p:spPr>
      </p:pic>
      <p:pic>
        <p:nvPicPr>
          <p:cNvPr id="10" name="Picture 9" descr="image.png"/>
          <p:cNvPicPr>
            <a:picLocks noChangeAspect="1"/>
          </p:cNvPicPr>
          <p:nvPr/>
        </p:nvPicPr>
        <p:blipFill>
          <a:blip r:embed="rId3"/>
          <a:stretch>
            <a:fillRect/>
          </a:stretch>
        </p:blipFill>
        <p:spPr>
          <a:xfrm>
            <a:off x="5819775" y="3119437"/>
            <a:ext cx="95250" cy="152400"/>
          </a:xfrm>
          <a:prstGeom prst="rect">
            <a:avLst/>
          </a:prstGeom>
        </p:spPr>
      </p:pic>
      <p:pic>
        <p:nvPicPr>
          <p:cNvPr id="11" name="Picture 10" descr="image.png"/>
          <p:cNvPicPr>
            <a:picLocks noChangeAspect="1"/>
          </p:cNvPicPr>
          <p:nvPr/>
        </p:nvPicPr>
        <p:blipFill>
          <a:blip r:embed="rId2"/>
          <a:stretch>
            <a:fillRect/>
          </a:stretch>
        </p:blipFill>
        <p:spPr>
          <a:xfrm>
            <a:off x="8467725" y="3119437"/>
            <a:ext cx="95250" cy="152400"/>
          </a:xfrm>
          <a:prstGeom prst="rect">
            <a:avLst/>
          </a:prstGeom>
        </p:spPr>
      </p:pic>
      <p:sp>
        <p:nvSpPr>
          <p:cNvPr id="12" name="TextBox 11"/>
          <p:cNvSpPr txBox="1"/>
          <p:nvPr/>
        </p:nvSpPr>
        <p:spPr>
          <a:xfrm>
            <a:off x="533400" y="419100"/>
            <a:ext cx="11658600" cy="171450"/>
          </a:xfrm>
          <a:prstGeom prst="rect">
            <a:avLst/>
          </a:prstGeom>
          <a:noFill/>
        </p:spPr>
        <p:txBody>
          <a:bodyPr wrap="none" lIns="0" rIns="0" tIns="0" bIns="0" anchor="t">
            <a:spAutoFit/>
          </a:bodyPr>
          <a:lstStyle/>
          <a:p>
            <a:pPr algn="l"/>
            <a:r>
              <a:rPr b="1" sz="1050" i="0" u="none">
                <a:solidFill>
                  <a:srgbClr val="2563EB"/>
                </a:solidFill>
                <a:latin typeface="Space Grotesk"/>
              </a:rPr>
              <a:t>DEEP LEARNING METHOD</a:t>
            </a:r>
          </a:p>
        </p:txBody>
      </p:sp>
      <p:sp>
        <p:nvSpPr>
          <p:cNvPr id="13" name="TextBox 12"/>
          <p:cNvSpPr txBox="1"/>
          <p:nvPr/>
        </p:nvSpPr>
        <p:spPr>
          <a:xfrm>
            <a:off x="533400" y="647700"/>
            <a:ext cx="116586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Space Grotesk"/>
              </a:rPr>
              <a:t>Deep Embedded Clustering (DEC) Algorithm</a:t>
            </a:r>
          </a:p>
        </p:txBody>
      </p:sp>
      <p:sp>
        <p:nvSpPr>
          <p:cNvPr id="14" name="TextBox 13"/>
          <p:cNvSpPr txBox="1"/>
          <p:nvPr/>
        </p:nvSpPr>
        <p:spPr>
          <a:xfrm>
            <a:off x="695325" y="2638425"/>
            <a:ext cx="11496675" cy="152400"/>
          </a:xfrm>
          <a:prstGeom prst="rect">
            <a:avLst/>
          </a:prstGeom>
          <a:noFill/>
        </p:spPr>
        <p:txBody>
          <a:bodyPr wrap="none" lIns="0" rIns="0" tIns="0" bIns="0" anchor="t">
            <a:spAutoFit/>
          </a:bodyPr>
          <a:lstStyle/>
          <a:p>
            <a:pPr algn="l"/>
            <a:r>
              <a:rPr b="1" sz="975" i="0" u="none">
                <a:solidFill>
                  <a:srgbClr val="64748B"/>
                </a:solidFill>
                <a:latin typeface="Inter"/>
              </a:rPr>
              <a:t>1. AUTOENCODER NEURAL NETWORK (SHRINKING DATA)</a:t>
            </a:r>
          </a:p>
        </p:txBody>
      </p:sp>
      <p:sp>
        <p:nvSpPr>
          <p:cNvPr id="15" name="TextBox 14"/>
          <p:cNvSpPr txBox="1"/>
          <p:nvPr/>
        </p:nvSpPr>
        <p:spPr>
          <a:xfrm>
            <a:off x="695325" y="3962400"/>
            <a:ext cx="11496675" cy="152400"/>
          </a:xfrm>
          <a:prstGeom prst="rect">
            <a:avLst/>
          </a:prstGeom>
          <a:noFill/>
        </p:spPr>
        <p:txBody>
          <a:bodyPr wrap="none" lIns="0" rIns="0" tIns="0" bIns="0" anchor="t">
            <a:spAutoFit/>
          </a:bodyPr>
          <a:lstStyle/>
          <a:p>
            <a:pPr algn="l"/>
            <a:r>
              <a:rPr b="1" sz="975" i="0" u="none">
                <a:solidFill>
                  <a:srgbClr val="64748B"/>
                </a:solidFill>
                <a:latin typeface="Inter"/>
              </a:rPr>
              <a:t>2. CLUSTERING AND REFINEMENT STEPS</a:t>
            </a:r>
          </a:p>
        </p:txBody>
      </p:sp>
      <p:sp>
        <p:nvSpPr>
          <p:cNvPr id="16" name="TextBox 15"/>
          <p:cNvSpPr txBox="1"/>
          <p:nvPr/>
        </p:nvSpPr>
        <p:spPr>
          <a:xfrm>
            <a:off x="490537" y="3009900"/>
            <a:ext cx="2809875" cy="371475"/>
          </a:xfrm>
          <a:prstGeom prst="rect">
            <a:avLst/>
          </a:prstGeom>
          <a:noFill/>
        </p:spPr>
        <p:txBody>
          <a:bodyPr wrap="square" lIns="0" rIns="0" tIns="0" bIns="0" anchor="t">
            <a:spAutoFit/>
          </a:bodyPr>
          <a:lstStyle/>
          <a:p>
            <a:pPr algn="ctr"/>
            <a:r>
              <a:rPr b="1" sz="1125" i="0" u="none">
                <a:solidFill>
                  <a:srgbClr val="0F172A"/>
                </a:solidFill>
                <a:latin typeface="Inter"/>
              </a:rPr>
              <a:t>10 Features</a:t>
            </a:r>
          </a:p>
        </p:txBody>
      </p:sp>
      <p:sp>
        <p:nvSpPr>
          <p:cNvPr id="17" name="TextBox 16"/>
          <p:cNvSpPr txBox="1"/>
          <p:nvPr/>
        </p:nvSpPr>
        <p:spPr>
          <a:xfrm>
            <a:off x="3138487" y="3009900"/>
            <a:ext cx="2809875" cy="371475"/>
          </a:xfrm>
          <a:prstGeom prst="rect">
            <a:avLst/>
          </a:prstGeom>
          <a:noFill/>
        </p:spPr>
        <p:txBody>
          <a:bodyPr wrap="square" lIns="0" rIns="0" tIns="0" bIns="0" anchor="t">
            <a:spAutoFit/>
          </a:bodyPr>
          <a:lstStyle/>
          <a:p>
            <a:pPr algn="ctr"/>
            <a:r>
              <a:rPr b="1" sz="1125" i="0" u="none">
                <a:solidFill>
                  <a:srgbClr val="0F172A"/>
                </a:solidFill>
                <a:latin typeface="Inter"/>
              </a:rPr>
              <a:t>32 Neurons</a:t>
            </a:r>
          </a:p>
        </p:txBody>
      </p:sp>
      <p:sp>
        <p:nvSpPr>
          <p:cNvPr id="18" name="TextBox 17"/>
          <p:cNvSpPr txBox="1"/>
          <p:nvPr/>
        </p:nvSpPr>
        <p:spPr>
          <a:xfrm>
            <a:off x="5786437" y="3009900"/>
            <a:ext cx="2809875" cy="371475"/>
          </a:xfrm>
          <a:prstGeom prst="rect">
            <a:avLst/>
          </a:prstGeom>
          <a:noFill/>
        </p:spPr>
        <p:txBody>
          <a:bodyPr wrap="square" lIns="0" rIns="0" tIns="0" bIns="0" anchor="t">
            <a:spAutoFit/>
          </a:bodyPr>
          <a:lstStyle/>
          <a:p>
            <a:pPr algn="ctr"/>
            <a:r>
              <a:rPr b="1" sz="1125" i="0" u="none">
                <a:solidFill>
                  <a:srgbClr val="0F172A"/>
                </a:solidFill>
                <a:latin typeface="Inter"/>
              </a:rPr>
              <a:t>16 Neurons</a:t>
            </a:r>
          </a:p>
        </p:txBody>
      </p:sp>
      <p:sp>
        <p:nvSpPr>
          <p:cNvPr id="19" name="TextBox 18"/>
          <p:cNvSpPr txBox="1"/>
          <p:nvPr/>
        </p:nvSpPr>
        <p:spPr>
          <a:xfrm>
            <a:off x="8377237" y="3000375"/>
            <a:ext cx="3381375" cy="390525"/>
          </a:xfrm>
          <a:prstGeom prst="rect">
            <a:avLst/>
          </a:prstGeom>
          <a:noFill/>
        </p:spPr>
        <p:txBody>
          <a:bodyPr wrap="square" lIns="0" rIns="0" tIns="0" bIns="0" anchor="t">
            <a:spAutoFit/>
          </a:bodyPr>
          <a:lstStyle/>
          <a:p>
            <a:pPr algn="ctr"/>
            <a:r>
              <a:rPr b="1" sz="1125" i="0" u="none">
                <a:solidFill>
                  <a:srgbClr val="1E40AF"/>
                </a:solidFill>
                <a:latin typeface="Inter"/>
              </a:rPr>
              <a:t>5 Key Features</a:t>
            </a:r>
          </a:p>
        </p:txBody>
      </p:sp>
      <p:sp>
        <p:nvSpPr>
          <p:cNvPr id="20" name="TextBox 19"/>
          <p:cNvSpPr txBox="1"/>
          <p:nvPr/>
        </p:nvSpPr>
        <p:spPr>
          <a:xfrm>
            <a:off x="526256" y="3228975"/>
            <a:ext cx="2738437" cy="142875"/>
          </a:xfrm>
          <a:prstGeom prst="rect">
            <a:avLst/>
          </a:prstGeom>
          <a:noFill/>
        </p:spPr>
        <p:txBody>
          <a:bodyPr wrap="none" lIns="0" rIns="0" tIns="0" bIns="0" anchor="t">
            <a:spAutoFit/>
          </a:bodyPr>
          <a:lstStyle/>
          <a:p>
            <a:pPr algn="ctr"/>
            <a:r>
              <a:rPr b="0" sz="900" i="0" u="none">
                <a:solidFill>
                  <a:srgbClr val="64748B"/>
                </a:solidFill>
                <a:latin typeface="Inter"/>
              </a:rPr>
              <a:t>Input Layer</a:t>
            </a:r>
          </a:p>
        </p:txBody>
      </p:sp>
      <p:sp>
        <p:nvSpPr>
          <p:cNvPr id="21" name="TextBox 20"/>
          <p:cNvSpPr txBox="1"/>
          <p:nvPr/>
        </p:nvSpPr>
        <p:spPr>
          <a:xfrm>
            <a:off x="3174206" y="3228975"/>
            <a:ext cx="2738437" cy="142875"/>
          </a:xfrm>
          <a:prstGeom prst="rect">
            <a:avLst/>
          </a:prstGeom>
          <a:noFill/>
        </p:spPr>
        <p:txBody>
          <a:bodyPr wrap="none" lIns="0" rIns="0" tIns="0" bIns="0" anchor="t">
            <a:spAutoFit/>
          </a:bodyPr>
          <a:lstStyle/>
          <a:p>
            <a:pPr algn="ctr"/>
            <a:r>
              <a:rPr b="0" sz="900" i="0" u="none">
                <a:solidFill>
                  <a:srgbClr val="64748B"/>
                </a:solidFill>
                <a:latin typeface="Inter"/>
              </a:rPr>
              <a:t>Layer 1</a:t>
            </a:r>
          </a:p>
        </p:txBody>
      </p:sp>
      <p:sp>
        <p:nvSpPr>
          <p:cNvPr id="22" name="TextBox 21"/>
          <p:cNvSpPr txBox="1"/>
          <p:nvPr/>
        </p:nvSpPr>
        <p:spPr>
          <a:xfrm>
            <a:off x="5822156" y="3228975"/>
            <a:ext cx="2738437" cy="142875"/>
          </a:xfrm>
          <a:prstGeom prst="rect">
            <a:avLst/>
          </a:prstGeom>
          <a:noFill/>
        </p:spPr>
        <p:txBody>
          <a:bodyPr wrap="none" lIns="0" rIns="0" tIns="0" bIns="0" anchor="t">
            <a:spAutoFit/>
          </a:bodyPr>
          <a:lstStyle/>
          <a:p>
            <a:pPr algn="ctr"/>
            <a:r>
              <a:rPr b="0" sz="900" i="0" u="none">
                <a:solidFill>
                  <a:srgbClr val="64748B"/>
                </a:solidFill>
                <a:latin typeface="Inter"/>
              </a:rPr>
              <a:t>Layer 2</a:t>
            </a:r>
          </a:p>
        </p:txBody>
      </p:sp>
      <p:sp>
        <p:nvSpPr>
          <p:cNvPr id="23" name="TextBox 22"/>
          <p:cNvSpPr txBox="1"/>
          <p:nvPr/>
        </p:nvSpPr>
        <p:spPr>
          <a:xfrm>
            <a:off x="8424862" y="3228975"/>
            <a:ext cx="3286125" cy="142875"/>
          </a:xfrm>
          <a:prstGeom prst="rect">
            <a:avLst/>
          </a:prstGeom>
          <a:noFill/>
        </p:spPr>
        <p:txBody>
          <a:bodyPr wrap="none" lIns="0" rIns="0" tIns="0" bIns="0" anchor="t">
            <a:spAutoFit/>
          </a:bodyPr>
          <a:lstStyle/>
          <a:p>
            <a:pPr algn="ctr"/>
            <a:r>
              <a:rPr b="0" sz="900" i="0" u="none">
                <a:solidFill>
                  <a:srgbClr val="1E40AF"/>
                </a:solidFill>
                <a:latin typeface="Inter"/>
              </a:rPr>
              <a:t>Latent Representation</a:t>
            </a:r>
          </a:p>
        </p:txBody>
      </p:sp>
      <p:sp>
        <p:nvSpPr>
          <p:cNvPr id="24" name="TextBox 23"/>
          <p:cNvSpPr txBox="1"/>
          <p:nvPr/>
        </p:nvSpPr>
        <p:spPr>
          <a:xfrm>
            <a:off x="790575" y="4210050"/>
            <a:ext cx="3819525" cy="342900"/>
          </a:xfrm>
          <a:prstGeom prst="rect">
            <a:avLst/>
          </a:prstGeom>
          <a:noFill/>
        </p:spPr>
        <p:txBody>
          <a:bodyPr wrap="square" lIns="0" rIns="0" tIns="0" bIns="0" anchor="t">
            <a:spAutoFit/>
          </a:bodyPr>
          <a:lstStyle/>
          <a:p>
            <a:pPr algn="l"/>
            <a:r>
              <a:rPr b="1" sz="1050" i="0" u="none">
                <a:solidFill>
                  <a:srgbClr val="0F172A"/>
                </a:solidFill>
                <a:latin typeface="Inter"/>
              </a:rPr>
              <a:t>Initialize Group Centers</a:t>
            </a:r>
          </a:p>
        </p:txBody>
      </p:sp>
      <p:sp>
        <p:nvSpPr>
          <p:cNvPr id="25" name="TextBox 24"/>
          <p:cNvSpPr txBox="1"/>
          <p:nvPr/>
        </p:nvSpPr>
        <p:spPr>
          <a:xfrm>
            <a:off x="6248400" y="4210050"/>
            <a:ext cx="3590925" cy="342900"/>
          </a:xfrm>
          <a:prstGeom prst="rect">
            <a:avLst/>
          </a:prstGeom>
          <a:noFill/>
        </p:spPr>
        <p:txBody>
          <a:bodyPr wrap="square" lIns="0" rIns="0" tIns="0" bIns="0" anchor="t">
            <a:spAutoFit/>
          </a:bodyPr>
          <a:lstStyle/>
          <a:p>
            <a:pPr algn="l"/>
            <a:r>
              <a:rPr b="1" sz="1050" i="0" u="none">
                <a:solidFill>
                  <a:srgbClr val="0F172A"/>
                </a:solidFill>
                <a:latin typeface="Inter"/>
              </a:rPr>
              <a:t>Calculate Soft Grouping</a:t>
            </a:r>
          </a:p>
        </p:txBody>
      </p:sp>
      <p:sp>
        <p:nvSpPr>
          <p:cNvPr id="26" name="TextBox 25"/>
          <p:cNvSpPr txBox="1"/>
          <p:nvPr/>
        </p:nvSpPr>
        <p:spPr>
          <a:xfrm>
            <a:off x="790575" y="4667250"/>
            <a:ext cx="3524250" cy="342900"/>
          </a:xfrm>
          <a:prstGeom prst="rect">
            <a:avLst/>
          </a:prstGeom>
          <a:noFill/>
        </p:spPr>
        <p:txBody>
          <a:bodyPr wrap="square" lIns="0" rIns="0" tIns="0" bIns="0" anchor="t">
            <a:spAutoFit/>
          </a:bodyPr>
          <a:lstStyle/>
          <a:p>
            <a:pPr algn="l"/>
            <a:r>
              <a:rPr b="1" sz="1050" i="0" u="none">
                <a:solidFill>
                  <a:srgbClr val="0F172A"/>
                </a:solidFill>
                <a:latin typeface="Inter"/>
              </a:rPr>
              <a:t>Create Target Distribution</a:t>
            </a:r>
          </a:p>
        </p:txBody>
      </p:sp>
      <p:sp>
        <p:nvSpPr>
          <p:cNvPr id="27" name="TextBox 26"/>
          <p:cNvSpPr txBox="1"/>
          <p:nvPr/>
        </p:nvSpPr>
        <p:spPr>
          <a:xfrm>
            <a:off x="6248400" y="4667250"/>
            <a:ext cx="3857625" cy="342900"/>
          </a:xfrm>
          <a:prstGeom prst="rect">
            <a:avLst/>
          </a:prstGeom>
          <a:noFill/>
        </p:spPr>
        <p:txBody>
          <a:bodyPr wrap="square" lIns="0" rIns="0" tIns="0" bIns="0" anchor="t">
            <a:spAutoFit/>
          </a:bodyPr>
          <a:lstStyle/>
          <a:p>
            <a:pPr algn="l"/>
            <a:r>
              <a:rPr b="1" sz="1050" i="0" u="none">
                <a:solidFill>
                  <a:srgbClr val="0F172A"/>
                </a:solidFill>
                <a:latin typeface="Inter"/>
              </a:rPr>
              <a:t>Refine Group Assignments</a:t>
            </a:r>
          </a:p>
        </p:txBody>
      </p:sp>
      <p:sp>
        <p:nvSpPr>
          <p:cNvPr id="28" name="TextBox 27"/>
          <p:cNvSpPr txBox="1"/>
          <p:nvPr/>
        </p:nvSpPr>
        <p:spPr>
          <a:xfrm>
            <a:off x="790575" y="4400550"/>
            <a:ext cx="4655343" cy="152400"/>
          </a:xfrm>
          <a:prstGeom prst="rect">
            <a:avLst/>
          </a:prstGeom>
          <a:noFill/>
        </p:spPr>
        <p:txBody>
          <a:bodyPr wrap="none" lIns="0" rIns="0" tIns="0" bIns="0" anchor="t">
            <a:spAutoFit/>
          </a:bodyPr>
          <a:lstStyle/>
          <a:p>
            <a:pPr algn="l"/>
            <a:r>
              <a:rPr b="0" sz="975" i="0" u="none">
                <a:solidFill>
                  <a:srgbClr val="475569"/>
                </a:solidFill>
                <a:latin typeface="Inter"/>
              </a:rPr>
              <a:t>Pick initial center points in the 5-feature space using K-Means.</a:t>
            </a:r>
          </a:p>
        </p:txBody>
      </p:sp>
      <p:sp>
        <p:nvSpPr>
          <p:cNvPr id="29" name="TextBox 28"/>
          <p:cNvSpPr txBox="1"/>
          <p:nvPr/>
        </p:nvSpPr>
        <p:spPr>
          <a:xfrm>
            <a:off x="6248400" y="4400550"/>
            <a:ext cx="4369593" cy="152400"/>
          </a:xfrm>
          <a:prstGeom prst="rect">
            <a:avLst/>
          </a:prstGeom>
          <a:noFill/>
        </p:spPr>
        <p:txBody>
          <a:bodyPr wrap="none" lIns="0" rIns="0" tIns="0" bIns="0" anchor="t">
            <a:spAutoFit/>
          </a:bodyPr>
          <a:lstStyle/>
          <a:p>
            <a:pPr algn="l"/>
            <a:r>
              <a:rPr b="0" sz="975" i="0" u="none">
                <a:solidFill>
                  <a:srgbClr val="475569"/>
                </a:solidFill>
                <a:latin typeface="Inter"/>
              </a:rPr>
              <a:t>Find the probability of each user belonging to each cluster.</a:t>
            </a:r>
          </a:p>
        </p:txBody>
      </p:sp>
      <p:sp>
        <p:nvSpPr>
          <p:cNvPr id="30" name="TextBox 29"/>
          <p:cNvSpPr txBox="1"/>
          <p:nvPr/>
        </p:nvSpPr>
        <p:spPr>
          <a:xfrm>
            <a:off x="790575" y="4857750"/>
            <a:ext cx="4286250" cy="152400"/>
          </a:xfrm>
          <a:prstGeom prst="rect">
            <a:avLst/>
          </a:prstGeom>
          <a:noFill/>
        </p:spPr>
        <p:txBody>
          <a:bodyPr wrap="none" lIns="0" rIns="0" tIns="0" bIns="0" anchor="t">
            <a:spAutoFit/>
          </a:bodyPr>
          <a:lstStyle/>
          <a:p>
            <a:pPr algn="l"/>
            <a:r>
              <a:rPr b="0" sz="975" i="0" u="none">
                <a:solidFill>
                  <a:srgbClr val="475569"/>
                </a:solidFill>
                <a:latin typeface="Inter"/>
              </a:rPr>
              <a:t>Helper step to make high-confidence groupings stronger.</a:t>
            </a:r>
          </a:p>
        </p:txBody>
      </p:sp>
      <p:sp>
        <p:nvSpPr>
          <p:cNvPr id="31" name="TextBox 30"/>
          <p:cNvSpPr txBox="1"/>
          <p:nvPr/>
        </p:nvSpPr>
        <p:spPr>
          <a:xfrm>
            <a:off x="6248400" y="4857750"/>
            <a:ext cx="4702968" cy="152400"/>
          </a:xfrm>
          <a:prstGeom prst="rect">
            <a:avLst/>
          </a:prstGeom>
          <a:noFill/>
        </p:spPr>
        <p:txBody>
          <a:bodyPr wrap="none" lIns="0" rIns="0" tIns="0" bIns="0" anchor="t">
            <a:spAutoFit/>
          </a:bodyPr>
          <a:lstStyle/>
          <a:p>
            <a:pPr algn="l"/>
            <a:r>
              <a:rPr b="0" sz="975" i="0" u="none">
                <a:solidFill>
                  <a:srgbClr val="475569"/>
                </a:solidFill>
                <a:latin typeface="Inter"/>
              </a:rPr>
              <a:t>Reduce error (KL divergence) to make final clean user clusters.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848475"/>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3400" y="4443412"/>
            <a:ext cx="11125200" cy="666750"/>
          </a:xfrm>
          <a:prstGeom prst="roundRect">
            <a:avLst>
              <a:gd name="adj" fmla="val 14285"/>
            </a:avLst>
          </a:prstGeom>
          <a:solidFill>
            <a:srgbClr val="FFFF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3400" y="2538412"/>
            <a:ext cx="2695575" cy="819150"/>
          </a:xfrm>
          <a:prstGeom prst="roundRect">
            <a:avLst>
              <a:gd name="adj" fmla="val 11627"/>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343275" y="2538412"/>
            <a:ext cx="2695575" cy="819150"/>
          </a:xfrm>
          <a:prstGeom prst="roundRect">
            <a:avLst>
              <a:gd name="adj" fmla="val 11627"/>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53150" y="2538412"/>
            <a:ext cx="2695575" cy="819150"/>
          </a:xfrm>
          <a:prstGeom prst="roundRect">
            <a:avLst>
              <a:gd name="adj" fmla="val 11627"/>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3025" y="2538412"/>
            <a:ext cx="2695575" cy="819150"/>
          </a:xfrm>
          <a:prstGeom prst="roundRect">
            <a:avLst>
              <a:gd name="adj" fmla="val 11627"/>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3400" y="3471862"/>
            <a:ext cx="2695575" cy="819150"/>
          </a:xfrm>
          <a:prstGeom prst="roundRect">
            <a:avLst>
              <a:gd name="adj" fmla="val 11627"/>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43275" y="3471862"/>
            <a:ext cx="2695575" cy="819150"/>
          </a:xfrm>
          <a:prstGeom prst="roundRect">
            <a:avLst>
              <a:gd name="adj" fmla="val 11627"/>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53150" y="3471862"/>
            <a:ext cx="2695575" cy="819150"/>
          </a:xfrm>
          <a:prstGeom prst="roundRect">
            <a:avLst>
              <a:gd name="adj" fmla="val 11627"/>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3025" y="3471862"/>
            <a:ext cx="2695575" cy="819150"/>
          </a:xfrm>
          <a:prstGeom prst="roundRect">
            <a:avLst>
              <a:gd name="adj" fmla="val 11627"/>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42950" y="4672012"/>
            <a:ext cx="266700" cy="209550"/>
          </a:xfrm>
          <a:prstGeom prst="rect">
            <a:avLst/>
          </a:prstGeom>
        </p:spPr>
      </p:pic>
      <p:sp>
        <p:nvSpPr>
          <p:cNvPr id="13" name="TextBox 12"/>
          <p:cNvSpPr txBox="1"/>
          <p:nvPr/>
        </p:nvSpPr>
        <p:spPr>
          <a:xfrm>
            <a:off x="533400" y="419100"/>
            <a:ext cx="11658600" cy="171450"/>
          </a:xfrm>
          <a:prstGeom prst="rect">
            <a:avLst/>
          </a:prstGeom>
          <a:noFill/>
        </p:spPr>
        <p:txBody>
          <a:bodyPr wrap="none" lIns="0" rIns="0" tIns="0" bIns="0" anchor="t">
            <a:spAutoFit/>
          </a:bodyPr>
          <a:lstStyle/>
          <a:p>
            <a:pPr algn="l"/>
            <a:r>
              <a:rPr b="1" sz="1050" i="0" u="none">
                <a:solidFill>
                  <a:srgbClr val="2563EB"/>
                </a:solidFill>
                <a:latin typeface="Space Grotesk"/>
              </a:rPr>
              <a:t>EXECUTION PIPELINE</a:t>
            </a:r>
          </a:p>
        </p:txBody>
      </p:sp>
      <p:sp>
        <p:nvSpPr>
          <p:cNvPr id="14" name="TextBox 13"/>
          <p:cNvSpPr txBox="1"/>
          <p:nvPr/>
        </p:nvSpPr>
        <p:spPr>
          <a:xfrm>
            <a:off x="533400" y="647700"/>
            <a:ext cx="116586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Space Grotesk"/>
              </a:rPr>
              <a:t>Project Workflow &amp; Modular Scripts</a:t>
            </a:r>
          </a:p>
        </p:txBody>
      </p:sp>
      <p:sp>
        <p:nvSpPr>
          <p:cNvPr id="15" name="TextBox 14"/>
          <p:cNvSpPr txBox="1"/>
          <p:nvPr/>
        </p:nvSpPr>
        <p:spPr>
          <a:xfrm>
            <a:off x="647700" y="2652712"/>
            <a:ext cx="2562225" cy="590550"/>
          </a:xfrm>
          <a:prstGeom prst="rect">
            <a:avLst/>
          </a:prstGeom>
          <a:noFill/>
        </p:spPr>
        <p:txBody>
          <a:bodyPr wrap="square" lIns="0" rIns="0" tIns="0" bIns="0" anchor="t">
            <a:spAutoFit/>
          </a:bodyPr>
          <a:lstStyle/>
          <a:p>
            <a:pPr algn="l"/>
            <a:r>
              <a:rPr b="1" sz="900" i="0" u="none">
                <a:solidFill>
                  <a:srgbClr val="2563EB"/>
                </a:solidFill>
                <a:latin typeface="Inter"/>
              </a:rPr>
              <a:t>01 &amp; 02</a:t>
            </a:r>
          </a:p>
        </p:txBody>
      </p:sp>
      <p:sp>
        <p:nvSpPr>
          <p:cNvPr id="16" name="TextBox 15"/>
          <p:cNvSpPr txBox="1"/>
          <p:nvPr/>
        </p:nvSpPr>
        <p:spPr>
          <a:xfrm>
            <a:off x="3457575" y="2652712"/>
            <a:ext cx="2562225" cy="590550"/>
          </a:xfrm>
          <a:prstGeom prst="rect">
            <a:avLst/>
          </a:prstGeom>
          <a:noFill/>
        </p:spPr>
        <p:txBody>
          <a:bodyPr wrap="square" lIns="0" rIns="0" tIns="0" bIns="0" anchor="t">
            <a:spAutoFit/>
          </a:bodyPr>
          <a:lstStyle/>
          <a:p>
            <a:pPr algn="l"/>
            <a:r>
              <a:rPr b="1" sz="900" i="0" u="none">
                <a:solidFill>
                  <a:srgbClr val="2563EB"/>
                </a:solidFill>
                <a:latin typeface="Inter"/>
              </a:rPr>
              <a:t>03 &amp; 04</a:t>
            </a:r>
          </a:p>
        </p:txBody>
      </p:sp>
      <p:sp>
        <p:nvSpPr>
          <p:cNvPr id="17" name="TextBox 16"/>
          <p:cNvSpPr txBox="1"/>
          <p:nvPr/>
        </p:nvSpPr>
        <p:spPr>
          <a:xfrm>
            <a:off x="6267450" y="2652712"/>
            <a:ext cx="2562225" cy="590550"/>
          </a:xfrm>
          <a:prstGeom prst="rect">
            <a:avLst/>
          </a:prstGeom>
          <a:noFill/>
        </p:spPr>
        <p:txBody>
          <a:bodyPr wrap="square" lIns="0" rIns="0" tIns="0" bIns="0" anchor="t">
            <a:spAutoFit/>
          </a:bodyPr>
          <a:lstStyle/>
          <a:p>
            <a:pPr algn="l"/>
            <a:r>
              <a:rPr b="1" sz="900" i="0" u="none">
                <a:solidFill>
                  <a:srgbClr val="1D4ED8"/>
                </a:solidFill>
                <a:latin typeface="Inter"/>
              </a:rPr>
              <a:t>05</a:t>
            </a:r>
          </a:p>
        </p:txBody>
      </p:sp>
      <p:sp>
        <p:nvSpPr>
          <p:cNvPr id="18" name="TextBox 17"/>
          <p:cNvSpPr txBox="1"/>
          <p:nvPr/>
        </p:nvSpPr>
        <p:spPr>
          <a:xfrm>
            <a:off x="9077325" y="2652712"/>
            <a:ext cx="2562225" cy="590550"/>
          </a:xfrm>
          <a:prstGeom prst="rect">
            <a:avLst/>
          </a:prstGeom>
          <a:noFill/>
        </p:spPr>
        <p:txBody>
          <a:bodyPr wrap="square" lIns="0" rIns="0" tIns="0" bIns="0" anchor="t">
            <a:spAutoFit/>
          </a:bodyPr>
          <a:lstStyle/>
          <a:p>
            <a:pPr algn="l"/>
            <a:r>
              <a:rPr b="1" sz="900" i="0" u="none">
                <a:solidFill>
                  <a:srgbClr val="2563EB"/>
                </a:solidFill>
                <a:latin typeface="Inter"/>
              </a:rPr>
              <a:t>06 &amp; 07</a:t>
            </a:r>
          </a:p>
        </p:txBody>
      </p:sp>
      <p:sp>
        <p:nvSpPr>
          <p:cNvPr id="19" name="TextBox 18"/>
          <p:cNvSpPr txBox="1"/>
          <p:nvPr/>
        </p:nvSpPr>
        <p:spPr>
          <a:xfrm>
            <a:off x="647700" y="3586162"/>
            <a:ext cx="2562225" cy="590550"/>
          </a:xfrm>
          <a:prstGeom prst="rect">
            <a:avLst/>
          </a:prstGeom>
          <a:noFill/>
        </p:spPr>
        <p:txBody>
          <a:bodyPr wrap="square" lIns="0" rIns="0" tIns="0" bIns="0" anchor="t">
            <a:spAutoFit/>
          </a:bodyPr>
          <a:lstStyle/>
          <a:p>
            <a:pPr algn="l"/>
            <a:r>
              <a:rPr b="1" sz="900" i="0" u="none">
                <a:solidFill>
                  <a:srgbClr val="2563EB"/>
                </a:solidFill>
                <a:latin typeface="Inter"/>
              </a:rPr>
              <a:t>08 &amp; 09</a:t>
            </a:r>
          </a:p>
        </p:txBody>
      </p:sp>
      <p:sp>
        <p:nvSpPr>
          <p:cNvPr id="20" name="TextBox 19"/>
          <p:cNvSpPr txBox="1"/>
          <p:nvPr/>
        </p:nvSpPr>
        <p:spPr>
          <a:xfrm>
            <a:off x="3457575" y="3586162"/>
            <a:ext cx="2562225" cy="590550"/>
          </a:xfrm>
          <a:prstGeom prst="rect">
            <a:avLst/>
          </a:prstGeom>
          <a:noFill/>
        </p:spPr>
        <p:txBody>
          <a:bodyPr wrap="square" lIns="0" rIns="0" tIns="0" bIns="0" anchor="t">
            <a:spAutoFit/>
          </a:bodyPr>
          <a:lstStyle/>
          <a:p>
            <a:pPr algn="l"/>
            <a:r>
              <a:rPr b="1" sz="900" i="0" u="none">
                <a:solidFill>
                  <a:srgbClr val="2563EB"/>
                </a:solidFill>
                <a:latin typeface="Inter"/>
              </a:rPr>
              <a:t>10</a:t>
            </a:r>
          </a:p>
        </p:txBody>
      </p:sp>
      <p:sp>
        <p:nvSpPr>
          <p:cNvPr id="21" name="TextBox 20"/>
          <p:cNvSpPr txBox="1"/>
          <p:nvPr/>
        </p:nvSpPr>
        <p:spPr>
          <a:xfrm>
            <a:off x="6267450" y="3586162"/>
            <a:ext cx="2562225" cy="590550"/>
          </a:xfrm>
          <a:prstGeom prst="rect">
            <a:avLst/>
          </a:prstGeom>
          <a:noFill/>
        </p:spPr>
        <p:txBody>
          <a:bodyPr wrap="square" lIns="0" rIns="0" tIns="0" bIns="0" anchor="t">
            <a:spAutoFit/>
          </a:bodyPr>
          <a:lstStyle/>
          <a:p>
            <a:pPr algn="l"/>
            <a:r>
              <a:rPr b="1" sz="900" i="0" u="none">
                <a:solidFill>
                  <a:srgbClr val="2563EB"/>
                </a:solidFill>
                <a:latin typeface="Inter"/>
              </a:rPr>
              <a:t>11</a:t>
            </a:r>
          </a:p>
        </p:txBody>
      </p:sp>
      <p:sp>
        <p:nvSpPr>
          <p:cNvPr id="22" name="TextBox 21"/>
          <p:cNvSpPr txBox="1"/>
          <p:nvPr/>
        </p:nvSpPr>
        <p:spPr>
          <a:xfrm>
            <a:off x="9077325" y="3586162"/>
            <a:ext cx="2562225" cy="590550"/>
          </a:xfrm>
          <a:prstGeom prst="rect">
            <a:avLst/>
          </a:prstGeom>
          <a:noFill/>
        </p:spPr>
        <p:txBody>
          <a:bodyPr wrap="square" lIns="0" rIns="0" tIns="0" bIns="0" anchor="t">
            <a:spAutoFit/>
          </a:bodyPr>
          <a:lstStyle/>
          <a:p>
            <a:pPr algn="l"/>
            <a:r>
              <a:rPr b="1" sz="900" i="0" u="none">
                <a:solidFill>
                  <a:srgbClr val="0F172A"/>
                </a:solidFill>
                <a:latin typeface="Inter"/>
              </a:rPr>
              <a:t>All-in-One</a:t>
            </a:r>
          </a:p>
        </p:txBody>
      </p:sp>
      <p:sp>
        <p:nvSpPr>
          <p:cNvPr id="23" name="TextBox 22"/>
          <p:cNvSpPr txBox="1"/>
          <p:nvPr/>
        </p:nvSpPr>
        <p:spPr>
          <a:xfrm>
            <a:off x="1162050" y="4595812"/>
            <a:ext cx="6981825" cy="361950"/>
          </a:xfrm>
          <a:prstGeom prst="rect">
            <a:avLst/>
          </a:prstGeom>
          <a:noFill/>
        </p:spPr>
        <p:txBody>
          <a:bodyPr wrap="square" lIns="0" rIns="0" tIns="0" bIns="0" anchor="t">
            <a:spAutoFit/>
          </a:bodyPr>
          <a:lstStyle/>
          <a:p>
            <a:pPr algn="l"/>
            <a:r>
              <a:rPr b="1" sz="1050" i="0" u="none">
                <a:solidFill>
                  <a:srgbClr val="0F172A"/>
                </a:solidFill>
                <a:latin typeface="Inter"/>
              </a:rPr>
              <a:t>Technologies Used</a:t>
            </a:r>
          </a:p>
        </p:txBody>
      </p:sp>
      <p:sp>
        <p:nvSpPr>
          <p:cNvPr id="24" name="TextBox 23"/>
          <p:cNvSpPr txBox="1"/>
          <p:nvPr/>
        </p:nvSpPr>
        <p:spPr>
          <a:xfrm>
            <a:off x="657225" y="2890837"/>
            <a:ext cx="3212901" cy="161925"/>
          </a:xfrm>
          <a:prstGeom prst="rect">
            <a:avLst/>
          </a:prstGeom>
          <a:noFill/>
        </p:spPr>
        <p:txBody>
          <a:bodyPr wrap="none" lIns="0" rIns="0" tIns="0" bIns="0" anchor="t">
            <a:spAutoFit/>
          </a:bodyPr>
          <a:lstStyle/>
          <a:p>
            <a:pPr algn="l"/>
            <a:r>
              <a:rPr b="1" sz="1050" i="0" u="none">
                <a:solidFill>
                  <a:srgbClr val="0F172A"/>
                </a:solidFill>
                <a:latin typeface="Inter"/>
              </a:rPr>
              <a:t>Data Prep</a:t>
            </a:r>
          </a:p>
        </p:txBody>
      </p:sp>
      <p:sp>
        <p:nvSpPr>
          <p:cNvPr id="25" name="TextBox 24"/>
          <p:cNvSpPr txBox="1"/>
          <p:nvPr/>
        </p:nvSpPr>
        <p:spPr>
          <a:xfrm>
            <a:off x="657225" y="3090862"/>
            <a:ext cx="3059906" cy="142875"/>
          </a:xfrm>
          <a:prstGeom prst="rect">
            <a:avLst/>
          </a:prstGeom>
          <a:noFill/>
        </p:spPr>
        <p:txBody>
          <a:bodyPr wrap="none" lIns="0" rIns="0" tIns="0" bIns="0" anchor="t">
            <a:spAutoFit/>
          </a:bodyPr>
          <a:lstStyle/>
          <a:p>
            <a:pPr algn="l"/>
            <a:r>
              <a:rPr b="0" sz="900" i="0" u="none">
                <a:solidFill>
                  <a:srgbClr val="64748B"/>
                </a:solidFill>
                <a:latin typeface="Inter"/>
              </a:rPr>
              <a:t>Inspect raw data &amp; build 10-feature matrix.</a:t>
            </a:r>
          </a:p>
        </p:txBody>
      </p:sp>
      <p:sp>
        <p:nvSpPr>
          <p:cNvPr id="26" name="TextBox 25"/>
          <p:cNvSpPr txBox="1"/>
          <p:nvPr/>
        </p:nvSpPr>
        <p:spPr>
          <a:xfrm>
            <a:off x="3467100" y="2890837"/>
            <a:ext cx="3212901" cy="161925"/>
          </a:xfrm>
          <a:prstGeom prst="rect">
            <a:avLst/>
          </a:prstGeom>
          <a:noFill/>
        </p:spPr>
        <p:txBody>
          <a:bodyPr wrap="none" lIns="0" rIns="0" tIns="0" bIns="0" anchor="t">
            <a:spAutoFit/>
          </a:bodyPr>
          <a:lstStyle/>
          <a:p>
            <a:pPr algn="l"/>
            <a:r>
              <a:rPr b="1" sz="1050" i="0" u="none">
                <a:solidFill>
                  <a:srgbClr val="0F172A"/>
                </a:solidFill>
                <a:latin typeface="Inter"/>
              </a:rPr>
              <a:t>Baselines</a:t>
            </a:r>
          </a:p>
        </p:txBody>
      </p:sp>
      <p:sp>
        <p:nvSpPr>
          <p:cNvPr id="27" name="TextBox 26"/>
          <p:cNvSpPr txBox="1"/>
          <p:nvPr/>
        </p:nvSpPr>
        <p:spPr>
          <a:xfrm>
            <a:off x="3467100" y="3090862"/>
            <a:ext cx="3059906" cy="142875"/>
          </a:xfrm>
          <a:prstGeom prst="rect">
            <a:avLst/>
          </a:prstGeom>
          <a:noFill/>
        </p:spPr>
        <p:txBody>
          <a:bodyPr wrap="none" lIns="0" rIns="0" tIns="0" bIns="0" anchor="t">
            <a:spAutoFit/>
          </a:bodyPr>
          <a:lstStyle/>
          <a:p>
            <a:pPr algn="l"/>
            <a:r>
              <a:rPr b="0" sz="900" i="0" u="none">
                <a:solidFill>
                  <a:srgbClr val="64748B"/>
                </a:solidFill>
                <a:latin typeface="Inter"/>
              </a:rPr>
              <a:t>Run K-Means &amp; DBSCAN clustering models.</a:t>
            </a:r>
          </a:p>
        </p:txBody>
      </p:sp>
      <p:sp>
        <p:nvSpPr>
          <p:cNvPr id="28" name="TextBox 27"/>
          <p:cNvSpPr txBox="1"/>
          <p:nvPr/>
        </p:nvSpPr>
        <p:spPr>
          <a:xfrm>
            <a:off x="6276975" y="2890837"/>
            <a:ext cx="3212901" cy="161925"/>
          </a:xfrm>
          <a:prstGeom prst="rect">
            <a:avLst/>
          </a:prstGeom>
          <a:noFill/>
        </p:spPr>
        <p:txBody>
          <a:bodyPr wrap="none" lIns="0" rIns="0" tIns="0" bIns="0" anchor="t">
            <a:spAutoFit/>
          </a:bodyPr>
          <a:lstStyle/>
          <a:p>
            <a:pPr algn="l"/>
            <a:r>
              <a:rPr b="1" sz="1050" i="0" u="none">
                <a:solidFill>
                  <a:srgbClr val="1E3A8A"/>
                </a:solidFill>
                <a:latin typeface="Inter"/>
              </a:rPr>
              <a:t>DEC Model</a:t>
            </a:r>
          </a:p>
        </p:txBody>
      </p:sp>
      <p:sp>
        <p:nvSpPr>
          <p:cNvPr id="29" name="TextBox 28"/>
          <p:cNvSpPr txBox="1"/>
          <p:nvPr/>
        </p:nvSpPr>
        <p:spPr>
          <a:xfrm>
            <a:off x="6276975" y="3090862"/>
            <a:ext cx="3059906" cy="142875"/>
          </a:xfrm>
          <a:prstGeom prst="rect">
            <a:avLst/>
          </a:prstGeom>
          <a:noFill/>
        </p:spPr>
        <p:txBody>
          <a:bodyPr wrap="none" lIns="0" rIns="0" tIns="0" bIns="0" anchor="t">
            <a:spAutoFit/>
          </a:bodyPr>
          <a:lstStyle/>
          <a:p>
            <a:pPr algn="l"/>
            <a:r>
              <a:rPr b="0" sz="900" i="0" u="none">
                <a:solidFill>
                  <a:srgbClr val="1E40AF"/>
                </a:solidFill>
                <a:latin typeface="Inter"/>
              </a:rPr>
              <a:t>Train autoencoder &amp; refine soft clusters.</a:t>
            </a:r>
          </a:p>
        </p:txBody>
      </p:sp>
      <p:sp>
        <p:nvSpPr>
          <p:cNvPr id="30" name="TextBox 29"/>
          <p:cNvSpPr txBox="1"/>
          <p:nvPr/>
        </p:nvSpPr>
        <p:spPr>
          <a:xfrm>
            <a:off x="9086850" y="2890837"/>
            <a:ext cx="3105150" cy="161925"/>
          </a:xfrm>
          <a:prstGeom prst="rect">
            <a:avLst/>
          </a:prstGeom>
          <a:noFill/>
        </p:spPr>
        <p:txBody>
          <a:bodyPr wrap="none" lIns="0" rIns="0" tIns="0" bIns="0" anchor="t">
            <a:spAutoFit/>
          </a:bodyPr>
          <a:lstStyle/>
          <a:p>
            <a:pPr algn="l"/>
            <a:r>
              <a:rPr b="1" sz="1050" i="0" u="none">
                <a:solidFill>
                  <a:srgbClr val="0F172A"/>
                </a:solidFill>
                <a:latin typeface="Inter"/>
              </a:rPr>
              <a:t>Analysis</a:t>
            </a:r>
          </a:p>
        </p:txBody>
      </p:sp>
      <p:sp>
        <p:nvSpPr>
          <p:cNvPr id="31" name="TextBox 30"/>
          <p:cNvSpPr txBox="1"/>
          <p:nvPr/>
        </p:nvSpPr>
        <p:spPr>
          <a:xfrm>
            <a:off x="9086850" y="3090862"/>
            <a:ext cx="3059906" cy="142875"/>
          </a:xfrm>
          <a:prstGeom prst="rect">
            <a:avLst/>
          </a:prstGeom>
          <a:noFill/>
        </p:spPr>
        <p:txBody>
          <a:bodyPr wrap="none" lIns="0" rIns="0" tIns="0" bIns="0" anchor="t">
            <a:spAutoFit/>
          </a:bodyPr>
          <a:lstStyle/>
          <a:p>
            <a:pPr algn="l"/>
            <a:r>
              <a:rPr b="0" sz="900" i="0" u="none">
                <a:solidFill>
                  <a:srgbClr val="64748B"/>
                </a:solidFill>
                <a:latin typeface="Inter"/>
              </a:rPr>
              <a:t>Study cluster traits &amp; compare scores.</a:t>
            </a:r>
          </a:p>
        </p:txBody>
      </p:sp>
      <p:sp>
        <p:nvSpPr>
          <p:cNvPr id="32" name="TextBox 31"/>
          <p:cNvSpPr txBox="1"/>
          <p:nvPr/>
        </p:nvSpPr>
        <p:spPr>
          <a:xfrm>
            <a:off x="657225" y="3824287"/>
            <a:ext cx="3212901" cy="161925"/>
          </a:xfrm>
          <a:prstGeom prst="rect">
            <a:avLst/>
          </a:prstGeom>
          <a:noFill/>
        </p:spPr>
        <p:txBody>
          <a:bodyPr wrap="none" lIns="0" rIns="0" tIns="0" bIns="0" anchor="t">
            <a:spAutoFit/>
          </a:bodyPr>
          <a:lstStyle/>
          <a:p>
            <a:pPr algn="l"/>
            <a:r>
              <a:rPr b="1" sz="1050" i="0" u="none">
                <a:solidFill>
                  <a:srgbClr val="0F172A"/>
                </a:solidFill>
                <a:latin typeface="Inter"/>
              </a:rPr>
              <a:t>Reporting</a:t>
            </a:r>
          </a:p>
        </p:txBody>
      </p:sp>
      <p:sp>
        <p:nvSpPr>
          <p:cNvPr id="33" name="TextBox 32"/>
          <p:cNvSpPr txBox="1"/>
          <p:nvPr/>
        </p:nvSpPr>
        <p:spPr>
          <a:xfrm>
            <a:off x="657225" y="4024312"/>
            <a:ext cx="3059906" cy="142875"/>
          </a:xfrm>
          <a:prstGeom prst="rect">
            <a:avLst/>
          </a:prstGeom>
          <a:noFill/>
        </p:spPr>
        <p:txBody>
          <a:bodyPr wrap="none" lIns="0" rIns="0" tIns="0" bIns="0" anchor="t">
            <a:spAutoFit/>
          </a:bodyPr>
          <a:lstStyle/>
          <a:p>
            <a:pPr algn="l"/>
            <a:r>
              <a:rPr b="0" sz="900" i="0" u="none">
                <a:solidFill>
                  <a:srgbClr val="64748B"/>
                </a:solidFill>
                <a:latin typeface="Inter"/>
              </a:rPr>
              <a:t>Generate chart images &amp; final text report.</a:t>
            </a:r>
          </a:p>
        </p:txBody>
      </p:sp>
      <p:sp>
        <p:nvSpPr>
          <p:cNvPr id="34" name="TextBox 33"/>
          <p:cNvSpPr txBox="1"/>
          <p:nvPr/>
        </p:nvSpPr>
        <p:spPr>
          <a:xfrm>
            <a:off x="3467100" y="3824287"/>
            <a:ext cx="3212901" cy="161925"/>
          </a:xfrm>
          <a:prstGeom prst="rect">
            <a:avLst/>
          </a:prstGeom>
          <a:noFill/>
        </p:spPr>
        <p:txBody>
          <a:bodyPr wrap="none" lIns="0" rIns="0" tIns="0" bIns="0" anchor="t">
            <a:spAutoFit/>
          </a:bodyPr>
          <a:lstStyle/>
          <a:p>
            <a:pPr algn="l"/>
            <a:r>
              <a:rPr b="1" sz="1050" i="0" u="none">
                <a:solidFill>
                  <a:srgbClr val="0F172A"/>
                </a:solidFill>
                <a:latin typeface="Inter"/>
              </a:rPr>
              <a:t>New User Test</a:t>
            </a:r>
          </a:p>
        </p:txBody>
      </p:sp>
      <p:sp>
        <p:nvSpPr>
          <p:cNvPr id="35" name="TextBox 34"/>
          <p:cNvSpPr txBox="1"/>
          <p:nvPr/>
        </p:nvSpPr>
        <p:spPr>
          <a:xfrm>
            <a:off x="3467100" y="4024312"/>
            <a:ext cx="3059906" cy="142875"/>
          </a:xfrm>
          <a:prstGeom prst="rect">
            <a:avLst/>
          </a:prstGeom>
          <a:noFill/>
        </p:spPr>
        <p:txBody>
          <a:bodyPr wrap="none" lIns="0" rIns="0" tIns="0" bIns="0" anchor="t">
            <a:spAutoFit/>
          </a:bodyPr>
          <a:lstStyle/>
          <a:p>
            <a:pPr algn="l"/>
            <a:r>
              <a:rPr b="0" sz="900" i="0" u="none">
                <a:solidFill>
                  <a:srgbClr val="64748B"/>
                </a:solidFill>
                <a:latin typeface="Inter"/>
              </a:rPr>
              <a:t>Predict group &amp; confidence for new users.</a:t>
            </a:r>
          </a:p>
        </p:txBody>
      </p:sp>
      <p:sp>
        <p:nvSpPr>
          <p:cNvPr id="36" name="TextBox 35"/>
          <p:cNvSpPr txBox="1"/>
          <p:nvPr/>
        </p:nvSpPr>
        <p:spPr>
          <a:xfrm>
            <a:off x="6276975" y="3824287"/>
            <a:ext cx="3212901" cy="161925"/>
          </a:xfrm>
          <a:prstGeom prst="rect">
            <a:avLst/>
          </a:prstGeom>
          <a:noFill/>
        </p:spPr>
        <p:txBody>
          <a:bodyPr wrap="none" lIns="0" rIns="0" tIns="0" bIns="0" anchor="t">
            <a:spAutoFit/>
          </a:bodyPr>
          <a:lstStyle/>
          <a:p>
            <a:pPr algn="l"/>
            <a:r>
              <a:rPr b="1" sz="1050" i="0" u="none">
                <a:solidFill>
                  <a:srgbClr val="0F172A"/>
                </a:solidFill>
                <a:latin typeface="Inter"/>
              </a:rPr>
              <a:t>Dashboard</a:t>
            </a:r>
          </a:p>
        </p:txBody>
      </p:sp>
      <p:sp>
        <p:nvSpPr>
          <p:cNvPr id="37" name="TextBox 36"/>
          <p:cNvSpPr txBox="1"/>
          <p:nvPr/>
        </p:nvSpPr>
        <p:spPr>
          <a:xfrm>
            <a:off x="6276975" y="4024312"/>
            <a:ext cx="3059906" cy="142875"/>
          </a:xfrm>
          <a:prstGeom prst="rect">
            <a:avLst/>
          </a:prstGeom>
          <a:noFill/>
        </p:spPr>
        <p:txBody>
          <a:bodyPr wrap="none" lIns="0" rIns="0" tIns="0" bIns="0" anchor="t">
            <a:spAutoFit/>
          </a:bodyPr>
          <a:lstStyle/>
          <a:p>
            <a:pPr algn="l"/>
            <a:r>
              <a:rPr b="0" sz="900" i="0" u="none">
                <a:solidFill>
                  <a:srgbClr val="64748B"/>
                </a:solidFill>
                <a:latin typeface="Inter"/>
              </a:rPr>
              <a:t>Interactive web app built with Streamlit.</a:t>
            </a:r>
          </a:p>
        </p:txBody>
      </p:sp>
      <p:sp>
        <p:nvSpPr>
          <p:cNvPr id="38" name="TextBox 37"/>
          <p:cNvSpPr txBox="1"/>
          <p:nvPr/>
        </p:nvSpPr>
        <p:spPr>
          <a:xfrm>
            <a:off x="9086850" y="3824287"/>
            <a:ext cx="3105150" cy="161925"/>
          </a:xfrm>
          <a:prstGeom prst="rect">
            <a:avLst/>
          </a:prstGeom>
          <a:noFill/>
        </p:spPr>
        <p:txBody>
          <a:bodyPr wrap="none" lIns="0" rIns="0" tIns="0" bIns="0" anchor="t">
            <a:spAutoFit/>
          </a:bodyPr>
          <a:lstStyle/>
          <a:p>
            <a:pPr algn="l"/>
            <a:r>
              <a:rPr b="1" sz="1050" i="0" u="none">
                <a:solidFill>
                  <a:srgbClr val="0F172A"/>
                </a:solidFill>
                <a:latin typeface="Inter"/>
              </a:rPr>
              <a:t>run_all.py</a:t>
            </a:r>
          </a:p>
        </p:txBody>
      </p:sp>
      <p:sp>
        <p:nvSpPr>
          <p:cNvPr id="39" name="TextBox 38"/>
          <p:cNvSpPr txBox="1"/>
          <p:nvPr/>
        </p:nvSpPr>
        <p:spPr>
          <a:xfrm>
            <a:off x="9086850" y="4024312"/>
            <a:ext cx="3059906" cy="142875"/>
          </a:xfrm>
          <a:prstGeom prst="rect">
            <a:avLst/>
          </a:prstGeom>
          <a:noFill/>
        </p:spPr>
        <p:txBody>
          <a:bodyPr wrap="none" lIns="0" rIns="0" tIns="0" bIns="0" anchor="t">
            <a:spAutoFit/>
          </a:bodyPr>
          <a:lstStyle/>
          <a:p>
            <a:pPr algn="l"/>
            <a:r>
              <a:rPr b="0" sz="900" i="0" u="none">
                <a:solidFill>
                  <a:srgbClr val="64748B"/>
                </a:solidFill>
                <a:latin typeface="Inter"/>
              </a:rPr>
              <a:t>Single script to run entire pipeline.</a:t>
            </a:r>
          </a:p>
        </p:txBody>
      </p:sp>
      <p:sp>
        <p:nvSpPr>
          <p:cNvPr id="40" name="TextBox 39"/>
          <p:cNvSpPr txBox="1"/>
          <p:nvPr/>
        </p:nvSpPr>
        <p:spPr>
          <a:xfrm>
            <a:off x="1162050" y="4805362"/>
            <a:ext cx="8608218" cy="152400"/>
          </a:xfrm>
          <a:prstGeom prst="rect">
            <a:avLst/>
          </a:prstGeom>
          <a:noFill/>
        </p:spPr>
        <p:txBody>
          <a:bodyPr wrap="none" lIns="0" rIns="0" tIns="0" bIns="0" anchor="t">
            <a:spAutoFit/>
          </a:bodyPr>
          <a:lstStyle/>
          <a:p>
            <a:pPr algn="l"/>
            <a:r>
              <a:rPr b="0" sz="975" i="0" u="none">
                <a:solidFill>
                  <a:srgbClr val="334155"/>
                </a:solidFill>
                <a:latin typeface="Inter"/>
              </a:rPr>
              <a:t>Python 3.10 | TensorFlow/Keras (DEC Autoencoder) | Scikit-Learn (Preprocessing &amp; Baselines) | Streamlit (Web 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848475"/>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3400" y="4238625"/>
            <a:ext cx="11125200" cy="1047750"/>
          </a:xfrm>
          <a:prstGeom prst="roundRect">
            <a:avLst>
              <a:gd name="adj" fmla="val 909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2762250"/>
            <a:ext cx="185975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393156" y="2762250"/>
            <a:ext cx="2336155"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729311" y="2762250"/>
            <a:ext cx="105459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83907" y="2762250"/>
            <a:ext cx="1950541"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34448" y="2762250"/>
            <a:ext cx="1825823"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560272" y="2762250"/>
            <a:ext cx="2098327"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3400" y="5267325"/>
            <a:ext cx="11125200" cy="190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4238625"/>
            <a:ext cx="11125200" cy="190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3400" y="4238625"/>
            <a:ext cx="47625" cy="10477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639550" y="4238625"/>
            <a:ext cx="19050" cy="10477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3400" y="3195637"/>
            <a:ext cx="185975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93156" y="3195637"/>
            <a:ext cx="233615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29311" y="3195637"/>
            <a:ext cx="10545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83907" y="3195637"/>
            <a:ext cx="19505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34448" y="3195637"/>
            <a:ext cx="18258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560272" y="3195637"/>
            <a:ext cx="20983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3400" y="3614737"/>
            <a:ext cx="185975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393156" y="3614737"/>
            <a:ext cx="233615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29311" y="3614737"/>
            <a:ext cx="10545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783907" y="3614737"/>
            <a:ext cx="19505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34448" y="3614737"/>
            <a:ext cx="18258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60272" y="3614737"/>
            <a:ext cx="20983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33400" y="4033837"/>
            <a:ext cx="185975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393156" y="4033837"/>
            <a:ext cx="233615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29311" y="4033837"/>
            <a:ext cx="10545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83907" y="4033837"/>
            <a:ext cx="19505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34448" y="4033837"/>
            <a:ext cx="18258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60272" y="4033837"/>
            <a:ext cx="20983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2"/>
          <a:stretch>
            <a:fillRect/>
          </a:stretch>
        </p:blipFill>
        <p:spPr>
          <a:xfrm>
            <a:off x="752475" y="4448175"/>
            <a:ext cx="142875" cy="142875"/>
          </a:xfrm>
          <a:prstGeom prst="rect">
            <a:avLst/>
          </a:prstGeom>
        </p:spPr>
      </p:pic>
      <p:graphicFrame>
        <p:nvGraphicFramePr>
          <p:cNvPr id="33" name="Table 32"/>
          <p:cNvGraphicFramePr>
            <a:graphicFrameLocks noGrp="1"/>
          </p:cNvGraphicFramePr>
          <p:nvPr/>
        </p:nvGraphicFramePr>
        <p:xfrm>
          <a:off x="533400" y="2362200"/>
          <a:ext cx="11125198" cy="1685925"/>
        </p:xfrm>
        <a:graphic>
          <a:graphicData uri="http://schemas.openxmlformats.org/drawingml/2006/table">
            <a:tbl>
              <a:tblPr firstRow="0" bandRow="0">
                <a:lnL>
                  <a:noFill/>
                </a:lnL>
                <a:lnR>
                  <a:noFill/>
                </a:lnR>
                <a:lnT>
                  <a:noFill/>
                </a:lnT>
                <a:lnB>
                  <a:noFill/>
                </a:lnB>
                <a:lnV>
                  <a:noFill/>
                </a:lnV>
                <a:lnH>
                  <a:noFill/>
                </a:lnH>
              </a:tblPr>
              <a:tblGrid>
                <a:gridCol w="1859756"/>
                <a:gridCol w="2336155"/>
                <a:gridCol w="1054596"/>
                <a:gridCol w="1950541"/>
                <a:gridCol w="1825823"/>
                <a:gridCol w="2098327"/>
              </a:tblGrid>
              <a:tr h="421481">
                <a:tc>
                  <a:txBody>
                    <a:bodyPr/>
                    <a:lstStyle/>
                    <a:p>
                      <a:pPr algn="l"/>
                      <a:r>
                        <a:rPr b="1" sz="1125" i="0" u="none">
                          <a:solidFill>
                            <a:srgbClr val="0F172A"/>
                          </a:solidFill>
                          <a:latin typeface="Inter"/>
                        </a:rPr>
                        <a:t>Model Method</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0F172A"/>
                          </a:solidFill>
                          <a:latin typeface="Inter"/>
                        </a:rPr>
                        <a:t>Parameters</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0F172A"/>
                          </a:solidFill>
                          <a:latin typeface="Inter"/>
                        </a:rPr>
                        <a:t>Clusters</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0F172A"/>
                          </a:solidFill>
                          <a:latin typeface="Inter"/>
                        </a:rPr>
                        <a:t>Silhouette Score ↑</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0F172A"/>
                          </a:solidFill>
                          <a:latin typeface="Inter"/>
                        </a:rPr>
                        <a:t>Davies-Bouldin ↓</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0F172A"/>
                          </a:solidFill>
                          <a:latin typeface="Inter"/>
                        </a:rPr>
                        <a:t>Calinski-Harabasz ↑</a:t>
                      </a:r>
                    </a:p>
                  </a:txBody>
                  <a:tcPr anchor="ctr" marL="63500" marR="63500" marT="25400" marB="25400">
                    <a:lnL>
                      <a:noFill/>
                    </a:lnL>
                    <a:lnR>
                      <a:noFill/>
                    </a:lnR>
                    <a:lnT>
                      <a:noFill/>
                    </a:lnT>
                    <a:lnB>
                      <a:noFill/>
                    </a:lnB>
                    <a:solidFill>
                      <a:srgbClr val="F8FAFC"/>
                    </a:solidFill>
                  </a:tcPr>
                </a:tc>
              </a:tr>
              <a:tr h="421481">
                <a:tc>
                  <a:txBody>
                    <a:bodyPr/>
                    <a:lstStyle/>
                    <a:p>
                      <a:pPr algn="l"/>
                      <a:r>
                        <a:rPr b="1" sz="1125" i="0" u="none">
                          <a:solidFill>
                            <a:srgbClr val="334155"/>
                          </a:solidFill>
                          <a:latin typeface="Inter"/>
                        </a:rPr>
                        <a:t>K-Means Baseline</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k = 4</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4</a:t>
                      </a:r>
                    </a:p>
                  </a:txBody>
                  <a:tcPr anchor="ctr" marL="63500" marR="63500" marT="25400" marB="25400">
                    <a:lnL>
                      <a:noFill/>
                    </a:lnL>
                    <a:lnR>
                      <a:noFill/>
                    </a:lnR>
                    <a:lnT>
                      <a:noFill/>
                    </a:lnT>
                    <a:lnB>
                      <a:noFill/>
                    </a:lnB>
                    <a:solidFill>
                      <a:srgbClr val="FFFFFF"/>
                    </a:solidFill>
                  </a:tcPr>
                </a:tc>
                <a:tc>
                  <a:txBody>
                    <a:bodyPr/>
                    <a:lstStyle/>
                    <a:p>
                      <a:pPr algn="l"/>
                      <a:r>
                        <a:rPr b="1" sz="1125" i="0" u="none">
                          <a:solidFill>
                            <a:srgbClr val="334155"/>
                          </a:solidFill>
                          <a:latin typeface="Inter"/>
                        </a:rPr>
                        <a:t>0.6320</a:t>
                      </a:r>
                    </a:p>
                  </a:txBody>
                  <a:tcPr anchor="ctr" marL="63500" marR="63500" marT="25400" marB="25400">
                    <a:lnL>
                      <a:noFill/>
                    </a:lnL>
                    <a:lnR>
                      <a:noFill/>
                    </a:lnR>
                    <a:lnT>
                      <a:noFill/>
                    </a:lnT>
                    <a:lnB>
                      <a:noFill/>
                    </a:lnB>
                    <a:solidFill>
                      <a:srgbClr val="FFFFFF"/>
                    </a:solidFill>
                  </a:tcPr>
                </a:tc>
                <a:tc>
                  <a:txBody>
                    <a:bodyPr/>
                    <a:lstStyle/>
                    <a:p>
                      <a:pPr algn="l"/>
                      <a:r>
                        <a:rPr b="1" sz="1125" i="0" u="none">
                          <a:solidFill>
                            <a:srgbClr val="334155"/>
                          </a:solidFill>
                          <a:latin typeface="Inter"/>
                        </a:rPr>
                        <a:t>0.5501</a:t>
                      </a:r>
                    </a:p>
                  </a:txBody>
                  <a:tcPr anchor="ctr" marL="63500" marR="63500" marT="25400" marB="25400">
                    <a:lnL>
                      <a:noFill/>
                    </a:lnL>
                    <a:lnR>
                      <a:noFill/>
                    </a:lnR>
                    <a:lnT>
                      <a:noFill/>
                    </a:lnT>
                    <a:lnB>
                      <a:noFill/>
                    </a:lnB>
                    <a:solidFill>
                      <a:srgbClr val="FFFFFF"/>
                    </a:solidFill>
                  </a:tcPr>
                </a:tc>
                <a:tc>
                  <a:txBody>
                    <a:bodyPr/>
                    <a:lstStyle/>
                    <a:p>
                      <a:pPr algn="l"/>
                      <a:r>
                        <a:rPr b="1" sz="1125" i="0" u="none">
                          <a:solidFill>
                            <a:srgbClr val="334155"/>
                          </a:solidFill>
                          <a:latin typeface="Inter"/>
                        </a:rPr>
                        <a:t>2630.6143</a:t>
                      </a:r>
                    </a:p>
                  </a:txBody>
                  <a:tcPr anchor="ctr" marL="63500" marR="63500" marT="25400" marB="25400">
                    <a:lnL>
                      <a:noFill/>
                    </a:lnL>
                    <a:lnR>
                      <a:noFill/>
                    </a:lnR>
                    <a:lnT>
                      <a:noFill/>
                    </a:lnT>
                    <a:lnB>
                      <a:noFill/>
                    </a:lnB>
                    <a:solidFill>
                      <a:srgbClr val="FFFFFF"/>
                    </a:solidFill>
                  </a:tcPr>
                </a:tc>
              </a:tr>
              <a:tr h="421481">
                <a:tc>
                  <a:txBody>
                    <a:bodyPr/>
                    <a:lstStyle/>
                    <a:p>
                      <a:pPr algn="l"/>
                      <a:r>
                        <a:rPr b="1" sz="1125" i="0" u="none">
                          <a:solidFill>
                            <a:srgbClr val="334155"/>
                          </a:solidFill>
                          <a:latin typeface="Inter"/>
                        </a:rPr>
                        <a:t>DBSCAN Baseline</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eps=1.3, min_samples=5</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334155"/>
                          </a:solidFill>
                          <a:latin typeface="Inter"/>
                        </a:rPr>
                        <a:t>4</a:t>
                      </a:r>
                    </a:p>
                  </a:txBody>
                  <a:tcPr anchor="ctr" marL="63500" marR="63500" marT="25400" marB="25400">
                    <a:lnL>
                      <a:noFill/>
                    </a:lnL>
                    <a:lnR>
                      <a:noFill/>
                    </a:lnR>
                    <a:lnT>
                      <a:noFill/>
                    </a:lnT>
                    <a:lnB>
                      <a:noFill/>
                    </a:lnB>
                    <a:solidFill>
                      <a:srgbClr val="FFFFFF"/>
                    </a:solidFill>
                  </a:tcPr>
                </a:tc>
                <a:tc>
                  <a:txBody>
                    <a:bodyPr/>
                    <a:lstStyle/>
                    <a:p>
                      <a:pPr algn="l"/>
                      <a:r>
                        <a:rPr b="1" sz="1125" i="0" u="none">
                          <a:solidFill>
                            <a:srgbClr val="334155"/>
                          </a:solidFill>
                          <a:latin typeface="Inter"/>
                        </a:rPr>
                        <a:t>0.6320</a:t>
                      </a:r>
                    </a:p>
                  </a:txBody>
                  <a:tcPr anchor="ctr" marL="63500" marR="63500" marT="25400" marB="25400">
                    <a:lnL>
                      <a:noFill/>
                    </a:lnL>
                    <a:lnR>
                      <a:noFill/>
                    </a:lnR>
                    <a:lnT>
                      <a:noFill/>
                    </a:lnT>
                    <a:lnB>
                      <a:noFill/>
                    </a:lnB>
                    <a:solidFill>
                      <a:srgbClr val="FFFFFF"/>
                    </a:solidFill>
                  </a:tcPr>
                </a:tc>
                <a:tc>
                  <a:txBody>
                    <a:bodyPr/>
                    <a:lstStyle/>
                    <a:p>
                      <a:pPr algn="l"/>
                      <a:r>
                        <a:rPr b="1" sz="1125" i="0" u="none">
                          <a:solidFill>
                            <a:srgbClr val="334155"/>
                          </a:solidFill>
                          <a:latin typeface="Inter"/>
                        </a:rPr>
                        <a:t>0.5501</a:t>
                      </a:r>
                    </a:p>
                  </a:txBody>
                  <a:tcPr anchor="ctr" marL="63500" marR="63500" marT="25400" marB="25400">
                    <a:lnL>
                      <a:noFill/>
                    </a:lnL>
                    <a:lnR>
                      <a:noFill/>
                    </a:lnR>
                    <a:lnT>
                      <a:noFill/>
                    </a:lnT>
                    <a:lnB>
                      <a:noFill/>
                    </a:lnB>
                    <a:solidFill>
                      <a:srgbClr val="FFFFFF"/>
                    </a:solidFill>
                  </a:tcPr>
                </a:tc>
                <a:tc>
                  <a:txBody>
                    <a:bodyPr/>
                    <a:lstStyle/>
                    <a:p>
                      <a:pPr algn="l"/>
                      <a:r>
                        <a:rPr b="1" sz="1125" i="0" u="none">
                          <a:solidFill>
                            <a:srgbClr val="334155"/>
                          </a:solidFill>
                          <a:latin typeface="Inter"/>
                        </a:rPr>
                        <a:t>2630.6143</a:t>
                      </a:r>
                    </a:p>
                  </a:txBody>
                  <a:tcPr anchor="ctr" marL="63500" marR="63500" marT="25400" marB="25400">
                    <a:lnL>
                      <a:noFill/>
                    </a:lnL>
                    <a:lnR>
                      <a:noFill/>
                    </a:lnR>
                    <a:lnT>
                      <a:noFill/>
                    </a:lnT>
                    <a:lnB>
                      <a:noFill/>
                    </a:lnB>
                    <a:solidFill>
                      <a:srgbClr val="FFFFFF"/>
                    </a:solidFill>
                  </a:tcPr>
                </a:tc>
              </a:tr>
              <a:tr h="421482">
                <a:tc>
                  <a:txBody>
                    <a:bodyPr/>
                    <a:lstStyle/>
                    <a:p>
                      <a:pPr algn="l"/>
                      <a:r>
                        <a:rPr b="1" sz="1125" i="0" u="none">
                          <a:solidFill>
                            <a:srgbClr val="334155"/>
                          </a:solidFill>
                          <a:latin typeface="Inter"/>
                        </a:rPr>
                        <a:t>DEC Proposed</a:t>
                      </a:r>
                    </a:p>
                  </a:txBody>
                  <a:tcPr anchor="ctr" marL="63500" marR="63500" marT="25400" marB="25400">
                    <a:lnL>
                      <a:noFill/>
                    </a:lnL>
                    <a:lnR>
                      <a:noFill/>
                    </a:lnR>
                    <a:lnT>
                      <a:noFill/>
                    </a:lnT>
                    <a:lnB>
                      <a:noFill/>
                    </a:lnB>
                    <a:solidFill>
                      <a:srgbClr val="EFF6FF"/>
                    </a:solidFill>
                  </a:tcPr>
                </a:tc>
                <a:tc>
                  <a:txBody>
                    <a:bodyPr/>
                    <a:lstStyle/>
                    <a:p>
                      <a:pPr algn="l"/>
                      <a:r>
                        <a:rPr b="0" sz="1125" i="0" u="none">
                          <a:solidFill>
                            <a:srgbClr val="334155"/>
                          </a:solidFill>
                          <a:latin typeface="Inter"/>
                        </a:rPr>
                        <a:t>Encoder 10→32→16→5</a:t>
                      </a:r>
                    </a:p>
                  </a:txBody>
                  <a:tcPr anchor="ctr" marL="63500" marR="63500" marT="25400" marB="25400">
                    <a:lnL>
                      <a:noFill/>
                    </a:lnL>
                    <a:lnR>
                      <a:noFill/>
                    </a:lnR>
                    <a:lnT>
                      <a:noFill/>
                    </a:lnT>
                    <a:lnB>
                      <a:noFill/>
                    </a:lnB>
                    <a:solidFill>
                      <a:srgbClr val="EFF6FF"/>
                    </a:solidFill>
                  </a:tcPr>
                </a:tc>
                <a:tc>
                  <a:txBody>
                    <a:bodyPr/>
                    <a:lstStyle/>
                    <a:p>
                      <a:pPr algn="l"/>
                      <a:r>
                        <a:rPr b="1" sz="1125" i="0" u="none">
                          <a:solidFill>
                            <a:srgbClr val="334155"/>
                          </a:solidFill>
                          <a:latin typeface="Inter"/>
                        </a:rPr>
                        <a:t>4</a:t>
                      </a:r>
                    </a:p>
                  </a:txBody>
                  <a:tcPr anchor="ctr" marL="63500" marR="63500" marT="25400" marB="25400">
                    <a:lnL>
                      <a:noFill/>
                    </a:lnL>
                    <a:lnR>
                      <a:noFill/>
                    </a:lnR>
                    <a:lnT>
                      <a:noFill/>
                    </a:lnT>
                    <a:lnB>
                      <a:noFill/>
                    </a:lnB>
                    <a:solidFill>
                      <a:srgbClr val="EFF6FF"/>
                    </a:solidFill>
                  </a:tcPr>
                </a:tc>
                <a:tc>
                  <a:txBody>
                    <a:bodyPr/>
                    <a:lstStyle/>
                    <a:p>
                      <a:pPr algn="l"/>
                      <a:r>
                        <a:rPr b="1" sz="1125" i="0" u="none">
                          <a:solidFill>
                            <a:srgbClr val="334155"/>
                          </a:solidFill>
                          <a:latin typeface="Inter"/>
                        </a:rPr>
                        <a:t>0.6320</a:t>
                      </a:r>
                    </a:p>
                  </a:txBody>
                  <a:tcPr anchor="ctr" marL="63500" marR="63500" marT="25400" marB="25400">
                    <a:lnL>
                      <a:noFill/>
                    </a:lnL>
                    <a:lnR>
                      <a:noFill/>
                    </a:lnR>
                    <a:lnT>
                      <a:noFill/>
                    </a:lnT>
                    <a:lnB>
                      <a:noFill/>
                    </a:lnB>
                    <a:solidFill>
                      <a:srgbClr val="EFF6FF"/>
                    </a:solidFill>
                  </a:tcPr>
                </a:tc>
                <a:tc>
                  <a:txBody>
                    <a:bodyPr/>
                    <a:lstStyle/>
                    <a:p>
                      <a:pPr algn="l"/>
                      <a:r>
                        <a:rPr b="1" sz="1125" i="0" u="none">
                          <a:solidFill>
                            <a:srgbClr val="334155"/>
                          </a:solidFill>
                          <a:latin typeface="Inter"/>
                        </a:rPr>
                        <a:t>0.5501</a:t>
                      </a:r>
                    </a:p>
                  </a:txBody>
                  <a:tcPr anchor="ctr" marL="63500" marR="63500" marT="25400" marB="25400">
                    <a:lnL>
                      <a:noFill/>
                    </a:lnL>
                    <a:lnR>
                      <a:noFill/>
                    </a:lnR>
                    <a:lnT>
                      <a:noFill/>
                    </a:lnT>
                    <a:lnB>
                      <a:noFill/>
                    </a:lnB>
                    <a:solidFill>
                      <a:srgbClr val="EFF6FF"/>
                    </a:solidFill>
                  </a:tcPr>
                </a:tc>
                <a:tc>
                  <a:txBody>
                    <a:bodyPr/>
                    <a:lstStyle/>
                    <a:p>
                      <a:pPr algn="l"/>
                      <a:r>
                        <a:rPr b="1" sz="1125" i="0" u="none">
                          <a:solidFill>
                            <a:srgbClr val="334155"/>
                          </a:solidFill>
                          <a:latin typeface="Inter"/>
                        </a:rPr>
                        <a:t>2630.6144</a:t>
                      </a:r>
                    </a:p>
                  </a:txBody>
                  <a:tcPr anchor="ctr" marL="63500" marR="63500" marT="25400" marB="25400">
                    <a:lnL>
                      <a:noFill/>
                    </a:lnL>
                    <a:lnR>
                      <a:noFill/>
                    </a:lnR>
                    <a:lnT>
                      <a:noFill/>
                    </a:lnT>
                    <a:lnB>
                      <a:noFill/>
                    </a:lnB>
                    <a:solidFill>
                      <a:srgbClr val="EFF6FF"/>
                    </a:solidFill>
                  </a:tcPr>
                </a:tc>
              </a:tr>
            </a:tbl>
          </a:graphicData>
        </a:graphic>
      </p:graphicFrame>
      <p:sp>
        <p:nvSpPr>
          <p:cNvPr id="34" name="TextBox 33"/>
          <p:cNvSpPr txBox="1"/>
          <p:nvPr/>
        </p:nvSpPr>
        <p:spPr>
          <a:xfrm>
            <a:off x="533400" y="419100"/>
            <a:ext cx="11658600" cy="171450"/>
          </a:xfrm>
          <a:prstGeom prst="rect">
            <a:avLst/>
          </a:prstGeom>
          <a:noFill/>
        </p:spPr>
        <p:txBody>
          <a:bodyPr wrap="none" lIns="0" rIns="0" tIns="0" bIns="0" anchor="t">
            <a:spAutoFit/>
          </a:bodyPr>
          <a:lstStyle/>
          <a:p>
            <a:pPr algn="l"/>
            <a:r>
              <a:rPr b="1" sz="1050" i="0" u="none">
                <a:solidFill>
                  <a:srgbClr val="2563EB"/>
                </a:solidFill>
                <a:latin typeface="Space Grotesk"/>
              </a:rPr>
              <a:t>MODEL COMPARISON</a:t>
            </a:r>
          </a:p>
        </p:txBody>
      </p:sp>
      <p:sp>
        <p:nvSpPr>
          <p:cNvPr id="35" name="TextBox 34"/>
          <p:cNvSpPr txBox="1"/>
          <p:nvPr/>
        </p:nvSpPr>
        <p:spPr>
          <a:xfrm>
            <a:off x="533400" y="647700"/>
            <a:ext cx="116586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Space Grotesk"/>
              </a:rPr>
              <a:t>Experimental Results</a:t>
            </a:r>
          </a:p>
        </p:txBody>
      </p:sp>
      <p:sp>
        <p:nvSpPr>
          <p:cNvPr id="36" name="TextBox 35"/>
          <p:cNvSpPr txBox="1"/>
          <p:nvPr/>
        </p:nvSpPr>
        <p:spPr>
          <a:xfrm>
            <a:off x="752475" y="4429125"/>
            <a:ext cx="11439525" cy="180975"/>
          </a:xfrm>
          <a:prstGeom prst="rect">
            <a:avLst/>
          </a:prstGeom>
          <a:noFill/>
        </p:spPr>
        <p:txBody>
          <a:bodyPr wrap="none" lIns="219075" rIns="0" tIns="0" bIns="0" anchor="t">
            <a:spAutoFit/>
          </a:bodyPr>
          <a:lstStyle/>
          <a:p>
            <a:pPr algn="l"/>
            <a:r>
              <a:rPr b="1" sz="1125" i="0" u="none">
                <a:solidFill>
                  <a:srgbClr val="0F172A"/>
                </a:solidFill>
                <a:latin typeface="Inter"/>
              </a:rPr>
              <a:t>Result Explanation</a:t>
            </a:r>
          </a:p>
        </p:txBody>
      </p:sp>
      <p:sp>
        <p:nvSpPr>
          <p:cNvPr id="37" name="TextBox 36"/>
          <p:cNvSpPr txBox="1"/>
          <p:nvPr/>
        </p:nvSpPr>
        <p:spPr>
          <a:xfrm>
            <a:off x="752475" y="4667250"/>
            <a:ext cx="10810875" cy="428625"/>
          </a:xfrm>
          <a:prstGeom prst="rect">
            <a:avLst/>
          </a:prstGeom>
          <a:noFill/>
        </p:spPr>
        <p:txBody>
          <a:bodyPr wrap="square" lIns="0" rIns="0" tIns="0" bIns="0" anchor="t">
            <a:spAutoFit/>
          </a:bodyPr>
          <a:lstStyle/>
          <a:p>
            <a:pPr algn="l">
              <a:lnSpc>
                <a:spcPts val="1687"/>
              </a:lnSpc>
            </a:pPr>
            <a:r>
              <a:rPr b="0" sz="1125" i="0" u="none">
                <a:solidFill>
                  <a:srgbClr val="334155"/>
                </a:solidFill>
                <a:latin typeface="Inter"/>
              </a:rPr>
              <a:t>"The three methods produced very similar clustering metrics on the current dataset. Therefore, the current experiment does not demonstrate a significant performance advantage for DEC over the baselines."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848475"/>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3400" y="4948237"/>
            <a:ext cx="11125200" cy="571500"/>
          </a:xfrm>
          <a:prstGeom prst="roundRect">
            <a:avLst>
              <a:gd name="adj" fmla="val 16666"/>
            </a:avLst>
          </a:prstGeom>
          <a:solidFill>
            <a:srgbClr val="FFFF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3400" y="2128837"/>
            <a:ext cx="5495925" cy="1266825"/>
          </a:xfrm>
          <a:prstGeom prst="roundRect">
            <a:avLst>
              <a:gd name="adj" fmla="val 75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62675" y="2128837"/>
            <a:ext cx="5495925" cy="1266825"/>
          </a:xfrm>
          <a:prstGeom prst="roundRect">
            <a:avLst>
              <a:gd name="adj" fmla="val 75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33400" y="3529012"/>
            <a:ext cx="5495925" cy="1266825"/>
          </a:xfrm>
          <a:prstGeom prst="roundRect">
            <a:avLst>
              <a:gd name="adj" fmla="val 75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62675" y="3529012"/>
            <a:ext cx="5495925" cy="1266825"/>
          </a:xfrm>
          <a:prstGeom prst="roundRect">
            <a:avLst>
              <a:gd name="adj" fmla="val 75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3400" y="3386137"/>
            <a:ext cx="5495925"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128837"/>
            <a:ext cx="5495925" cy="381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3400" y="2128837"/>
            <a:ext cx="9525" cy="1266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19800" y="2128837"/>
            <a:ext cx="9525" cy="1266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2675" y="3386137"/>
            <a:ext cx="5495925"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62675" y="2128837"/>
            <a:ext cx="5495925" cy="381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2675" y="2128837"/>
            <a:ext cx="9525" cy="1266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649075" y="2128837"/>
            <a:ext cx="9525" cy="1266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3400" y="4786312"/>
            <a:ext cx="5495925"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3400" y="3529012"/>
            <a:ext cx="5495925" cy="381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3400" y="3529012"/>
            <a:ext cx="9525" cy="1266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19800" y="3529012"/>
            <a:ext cx="9525" cy="1266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2675" y="4786312"/>
            <a:ext cx="5495925"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2675" y="3529012"/>
            <a:ext cx="5495925" cy="381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2675" y="3529012"/>
            <a:ext cx="9525" cy="1266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649075" y="3529012"/>
            <a:ext cx="9525" cy="1266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48250" y="2357437"/>
            <a:ext cx="781050" cy="247650"/>
          </a:xfrm>
          <a:prstGeom prst="roundRect">
            <a:avLst>
              <a:gd name="adj" fmla="val 23076"/>
            </a:avLst>
          </a:prstGeom>
          <a:solidFill>
            <a:srgbClr val="F1F5F9"/>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687050" y="2357437"/>
            <a:ext cx="771525" cy="247650"/>
          </a:xfrm>
          <a:prstGeom prst="roundRect">
            <a:avLst>
              <a:gd name="adj" fmla="val 23076"/>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972050" y="3757612"/>
            <a:ext cx="857250" cy="247650"/>
          </a:xfrm>
          <a:prstGeom prst="roundRect">
            <a:avLst>
              <a:gd name="adj" fmla="val 23076"/>
            </a:avLst>
          </a:prstGeom>
          <a:solidFill>
            <a:srgbClr val="E0F2FE"/>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753725" y="3757612"/>
            <a:ext cx="704850" cy="247650"/>
          </a:xfrm>
          <a:prstGeom prst="roundRect">
            <a:avLst>
              <a:gd name="adj" fmla="val 23076"/>
            </a:avLst>
          </a:prstGeom>
          <a:solidFill>
            <a:srgbClr val="FEF3C7"/>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3400" y="419100"/>
            <a:ext cx="11658600" cy="171450"/>
          </a:xfrm>
          <a:prstGeom prst="rect">
            <a:avLst/>
          </a:prstGeom>
          <a:noFill/>
        </p:spPr>
        <p:txBody>
          <a:bodyPr wrap="none" lIns="0" rIns="0" tIns="0" bIns="0" anchor="t">
            <a:spAutoFit/>
          </a:bodyPr>
          <a:lstStyle/>
          <a:p>
            <a:pPr algn="l"/>
            <a:r>
              <a:rPr b="1" sz="1050" i="0" u="none">
                <a:solidFill>
                  <a:srgbClr val="2563EB"/>
                </a:solidFill>
                <a:latin typeface="Space Grotesk"/>
              </a:rPr>
              <a:t>USER GROUP BREAKDOWN</a:t>
            </a:r>
          </a:p>
        </p:txBody>
      </p:sp>
      <p:sp>
        <p:nvSpPr>
          <p:cNvPr id="29" name="TextBox 28"/>
          <p:cNvSpPr txBox="1"/>
          <p:nvPr/>
        </p:nvSpPr>
        <p:spPr>
          <a:xfrm>
            <a:off x="533400" y="647700"/>
            <a:ext cx="116586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Space Grotesk"/>
              </a:rPr>
              <a:t>DEC User Groups</a:t>
            </a:r>
          </a:p>
        </p:txBody>
      </p:sp>
      <p:sp>
        <p:nvSpPr>
          <p:cNvPr id="30" name="TextBox 29"/>
          <p:cNvSpPr txBox="1"/>
          <p:nvPr/>
        </p:nvSpPr>
        <p:spPr>
          <a:xfrm>
            <a:off x="742950" y="5081587"/>
            <a:ext cx="10801350" cy="304800"/>
          </a:xfrm>
          <a:prstGeom prst="rect">
            <a:avLst/>
          </a:prstGeom>
          <a:noFill/>
        </p:spPr>
        <p:txBody>
          <a:bodyPr wrap="square" lIns="0" rIns="0" tIns="0" bIns="0" anchor="t">
            <a:spAutoFit/>
          </a:bodyPr>
          <a:lstStyle/>
          <a:p>
            <a:pPr algn="l"/>
            <a:r>
              <a:rPr b="1" sz="975" i="0" u="none">
                <a:solidFill>
                  <a:srgbClr val="0F172A"/>
                </a:solidFill>
                <a:latin typeface="Inter"/>
              </a:rPr>
              <a:t>How Names Were Given:</a:t>
            </a:r>
            <a:r>
              <a:rPr b="0" sz="975" i="0" u="none">
                <a:solidFill>
                  <a:srgbClr val="0F172A"/>
                </a:solidFill>
                <a:latin typeface="Inter"/>
              </a:rPr>
              <a:t> The algorithm only created numbers (0, 1, 2, 3). We studied the average numbers in each group and gave them clear human names (General, Medical, Location, Rescue).</a:t>
            </a:r>
          </a:p>
        </p:txBody>
      </p:sp>
      <p:sp>
        <p:nvSpPr>
          <p:cNvPr id="31" name="TextBox 30"/>
          <p:cNvSpPr txBox="1"/>
          <p:nvPr/>
        </p:nvSpPr>
        <p:spPr>
          <a:xfrm>
            <a:off x="733425" y="2405062"/>
            <a:ext cx="847725" cy="152400"/>
          </a:xfrm>
          <a:prstGeom prst="rect">
            <a:avLst/>
          </a:prstGeom>
          <a:noFill/>
        </p:spPr>
        <p:txBody>
          <a:bodyPr wrap="none" lIns="0" rIns="0" tIns="0" bIns="0" anchor="t">
            <a:spAutoFit/>
          </a:bodyPr>
          <a:lstStyle/>
          <a:p>
            <a:pPr algn="l"/>
            <a:r>
              <a:rPr b="1" sz="975" i="0" u="none">
                <a:solidFill>
                  <a:srgbClr val="64748B"/>
                </a:solidFill>
                <a:latin typeface="Inter"/>
              </a:rPr>
              <a:t>Cluster 0</a:t>
            </a:r>
          </a:p>
        </p:txBody>
      </p:sp>
      <p:sp>
        <p:nvSpPr>
          <p:cNvPr id="32" name="TextBox 31"/>
          <p:cNvSpPr txBox="1"/>
          <p:nvPr/>
        </p:nvSpPr>
        <p:spPr>
          <a:xfrm>
            <a:off x="5143500" y="2395537"/>
            <a:ext cx="685800" cy="171450"/>
          </a:xfrm>
          <a:prstGeom prst="rect">
            <a:avLst/>
          </a:prstGeom>
          <a:noFill/>
        </p:spPr>
        <p:txBody>
          <a:bodyPr wrap="square" lIns="0" rIns="0" tIns="0" bIns="0" anchor="t">
            <a:spAutoFit/>
          </a:bodyPr>
          <a:lstStyle/>
          <a:p>
            <a:pPr algn="l"/>
            <a:r>
              <a:rPr b="1" sz="975" i="0" u="none">
                <a:solidFill>
                  <a:srgbClr val="334155"/>
                </a:solidFill>
                <a:latin typeface="Inter"/>
              </a:rPr>
              <a:t>GENERAL</a:t>
            </a:r>
          </a:p>
        </p:txBody>
      </p:sp>
      <p:sp>
        <p:nvSpPr>
          <p:cNvPr id="33" name="TextBox 32"/>
          <p:cNvSpPr txBox="1"/>
          <p:nvPr/>
        </p:nvSpPr>
        <p:spPr>
          <a:xfrm>
            <a:off x="733425" y="2662237"/>
            <a:ext cx="6369843" cy="152400"/>
          </a:xfrm>
          <a:prstGeom prst="rect">
            <a:avLst/>
          </a:prstGeom>
          <a:noFill/>
        </p:spPr>
        <p:txBody>
          <a:bodyPr wrap="none" lIns="0" rIns="0" tIns="0" bIns="0" anchor="t">
            <a:spAutoFit/>
          </a:bodyPr>
          <a:lstStyle/>
          <a:p>
            <a:pPr algn="l"/>
            <a:r>
              <a:rPr b="0" sz="975" i="0" u="none">
                <a:solidFill>
                  <a:srgbClr val="334155"/>
                </a:solidFill>
                <a:latin typeface="Inter"/>
              </a:rPr>
              <a:t>Main Data Type: </a:t>
            </a:r>
            <a:r>
              <a:rPr b="1" sz="975" i="0" u="none">
                <a:solidFill>
                  <a:srgbClr val="334155"/>
                </a:solidFill>
                <a:latin typeface="Inter"/>
              </a:rPr>
              <a:t>General Information</a:t>
            </a:r>
          </a:p>
        </p:txBody>
      </p:sp>
      <p:sp>
        <p:nvSpPr>
          <p:cNvPr id="34" name="TextBox 33"/>
          <p:cNvSpPr txBox="1"/>
          <p:nvPr/>
        </p:nvSpPr>
        <p:spPr>
          <a:xfrm>
            <a:off x="733425" y="2852737"/>
            <a:ext cx="6369843" cy="152400"/>
          </a:xfrm>
          <a:prstGeom prst="rect">
            <a:avLst/>
          </a:prstGeom>
          <a:noFill/>
        </p:spPr>
        <p:txBody>
          <a:bodyPr wrap="none" lIns="0" rIns="0" tIns="0" bIns="0" anchor="t">
            <a:spAutoFit/>
          </a:bodyPr>
          <a:lstStyle/>
          <a:p>
            <a:pPr algn="l"/>
            <a:r>
              <a:rPr b="0" sz="975" i="0" u="none">
                <a:solidFill>
                  <a:srgbClr val="334155"/>
                </a:solidFill>
                <a:latin typeface="Inter"/>
              </a:rPr>
              <a:t>Average Emergency Priority: </a:t>
            </a:r>
            <a:r>
              <a:rPr b="1" sz="975" i="0" u="none">
                <a:solidFill>
                  <a:srgbClr val="334155"/>
                </a:solidFill>
                <a:latin typeface="Inter"/>
              </a:rPr>
              <a:t>1.21</a:t>
            </a:r>
            <a:r>
              <a:rPr b="0" sz="975" i="0" u="none">
                <a:solidFill>
                  <a:srgbClr val="334155"/>
                </a:solidFill>
                <a:latin typeface="Inter"/>
              </a:rPr>
              <a:t> (Low)</a:t>
            </a:r>
          </a:p>
        </p:txBody>
      </p:sp>
      <p:sp>
        <p:nvSpPr>
          <p:cNvPr id="35" name="TextBox 34"/>
          <p:cNvSpPr txBox="1"/>
          <p:nvPr/>
        </p:nvSpPr>
        <p:spPr>
          <a:xfrm>
            <a:off x="733425" y="3043237"/>
            <a:ext cx="6369843" cy="152400"/>
          </a:xfrm>
          <a:prstGeom prst="rect">
            <a:avLst/>
          </a:prstGeom>
          <a:noFill/>
        </p:spPr>
        <p:txBody>
          <a:bodyPr wrap="none" lIns="0" rIns="0" tIns="0" bIns="0" anchor="t">
            <a:spAutoFit/>
          </a:bodyPr>
          <a:lstStyle/>
          <a:p>
            <a:pPr algn="l"/>
            <a:r>
              <a:rPr b="0" sz="975" i="0" u="none">
                <a:solidFill>
                  <a:srgbClr val="334155"/>
                </a:solidFill>
                <a:latin typeface="Inter"/>
              </a:rPr>
              <a:t>Average Allowed Delay: </a:t>
            </a:r>
            <a:r>
              <a:rPr b="1" sz="975" i="0" u="none">
                <a:solidFill>
                  <a:srgbClr val="334155"/>
                </a:solidFill>
                <a:latin typeface="Inter"/>
              </a:rPr>
              <a:t>5.95 seconds</a:t>
            </a:r>
            <a:r>
              <a:rPr b="0" sz="975" i="0" u="none">
                <a:solidFill>
                  <a:srgbClr val="334155"/>
                </a:solidFill>
                <a:latin typeface="Inter"/>
              </a:rPr>
              <a:t> (Flexible)</a:t>
            </a:r>
          </a:p>
        </p:txBody>
      </p:sp>
      <p:sp>
        <p:nvSpPr>
          <p:cNvPr id="36" name="TextBox 35"/>
          <p:cNvSpPr txBox="1"/>
          <p:nvPr/>
        </p:nvSpPr>
        <p:spPr>
          <a:xfrm>
            <a:off x="6362700" y="2405062"/>
            <a:ext cx="819150" cy="152400"/>
          </a:xfrm>
          <a:prstGeom prst="rect">
            <a:avLst/>
          </a:prstGeom>
          <a:noFill/>
        </p:spPr>
        <p:txBody>
          <a:bodyPr wrap="none" lIns="0" rIns="0" tIns="0" bIns="0" anchor="t">
            <a:spAutoFit/>
          </a:bodyPr>
          <a:lstStyle/>
          <a:p>
            <a:pPr algn="l"/>
            <a:r>
              <a:rPr b="1" sz="975" i="0" u="none">
                <a:solidFill>
                  <a:srgbClr val="DC2626"/>
                </a:solidFill>
                <a:latin typeface="Inter"/>
              </a:rPr>
              <a:t>Cluster 1</a:t>
            </a:r>
          </a:p>
        </p:txBody>
      </p:sp>
      <p:sp>
        <p:nvSpPr>
          <p:cNvPr id="37" name="TextBox 36"/>
          <p:cNvSpPr txBox="1"/>
          <p:nvPr/>
        </p:nvSpPr>
        <p:spPr>
          <a:xfrm>
            <a:off x="10782300" y="2395537"/>
            <a:ext cx="676275" cy="171450"/>
          </a:xfrm>
          <a:prstGeom prst="rect">
            <a:avLst/>
          </a:prstGeom>
          <a:noFill/>
        </p:spPr>
        <p:txBody>
          <a:bodyPr wrap="square" lIns="0" rIns="0" tIns="0" bIns="0" anchor="t">
            <a:spAutoFit/>
          </a:bodyPr>
          <a:lstStyle/>
          <a:p>
            <a:pPr algn="l"/>
            <a:r>
              <a:rPr b="1" sz="975" i="0" u="none">
                <a:solidFill>
                  <a:srgbClr val="991B1B"/>
                </a:solidFill>
                <a:latin typeface="Inter"/>
              </a:rPr>
              <a:t>MEDICAL</a:t>
            </a:r>
          </a:p>
        </p:txBody>
      </p:sp>
      <p:sp>
        <p:nvSpPr>
          <p:cNvPr id="38" name="TextBox 37"/>
          <p:cNvSpPr txBox="1"/>
          <p:nvPr/>
        </p:nvSpPr>
        <p:spPr>
          <a:xfrm>
            <a:off x="6362700" y="2662237"/>
            <a:ext cx="5829300" cy="152400"/>
          </a:xfrm>
          <a:prstGeom prst="rect">
            <a:avLst/>
          </a:prstGeom>
          <a:noFill/>
        </p:spPr>
        <p:txBody>
          <a:bodyPr wrap="none" lIns="0" rIns="0" tIns="0" bIns="0" anchor="t">
            <a:spAutoFit/>
          </a:bodyPr>
          <a:lstStyle/>
          <a:p>
            <a:pPr algn="l"/>
            <a:r>
              <a:rPr b="0" sz="975" i="0" u="none">
                <a:solidFill>
                  <a:srgbClr val="334155"/>
                </a:solidFill>
                <a:latin typeface="Inter"/>
              </a:rPr>
              <a:t>Main Data Type: </a:t>
            </a:r>
            <a:r>
              <a:rPr b="1" sz="975" i="0" u="none">
                <a:solidFill>
                  <a:srgbClr val="334155"/>
                </a:solidFill>
                <a:latin typeface="Inter"/>
              </a:rPr>
              <a:t>Medical Emergency</a:t>
            </a:r>
          </a:p>
        </p:txBody>
      </p:sp>
      <p:sp>
        <p:nvSpPr>
          <p:cNvPr id="39" name="TextBox 38"/>
          <p:cNvSpPr txBox="1"/>
          <p:nvPr/>
        </p:nvSpPr>
        <p:spPr>
          <a:xfrm>
            <a:off x="6362700" y="2852737"/>
            <a:ext cx="5829300" cy="152400"/>
          </a:xfrm>
          <a:prstGeom prst="rect">
            <a:avLst/>
          </a:prstGeom>
          <a:noFill/>
        </p:spPr>
        <p:txBody>
          <a:bodyPr wrap="none" lIns="0" rIns="0" tIns="0" bIns="0" anchor="t">
            <a:spAutoFit/>
          </a:bodyPr>
          <a:lstStyle/>
          <a:p>
            <a:pPr algn="l"/>
            <a:r>
              <a:rPr b="0" sz="975" i="0" u="none">
                <a:solidFill>
                  <a:srgbClr val="334155"/>
                </a:solidFill>
                <a:latin typeface="Inter"/>
              </a:rPr>
              <a:t>Average Emergency Priority: </a:t>
            </a:r>
            <a:r>
              <a:rPr b="1" sz="975" i="0" u="none">
                <a:solidFill>
                  <a:srgbClr val="334155"/>
                </a:solidFill>
                <a:latin typeface="Inter"/>
              </a:rPr>
              <a:t>2.81</a:t>
            </a:r>
            <a:r>
              <a:rPr b="0" sz="975" i="0" u="none">
                <a:solidFill>
                  <a:srgbClr val="334155"/>
                </a:solidFill>
                <a:latin typeface="Inter"/>
              </a:rPr>
              <a:t> (High)</a:t>
            </a:r>
          </a:p>
        </p:txBody>
      </p:sp>
      <p:sp>
        <p:nvSpPr>
          <p:cNvPr id="40" name="TextBox 39"/>
          <p:cNvSpPr txBox="1"/>
          <p:nvPr/>
        </p:nvSpPr>
        <p:spPr>
          <a:xfrm>
            <a:off x="6362700" y="3043237"/>
            <a:ext cx="5829300" cy="152400"/>
          </a:xfrm>
          <a:prstGeom prst="rect">
            <a:avLst/>
          </a:prstGeom>
          <a:noFill/>
        </p:spPr>
        <p:txBody>
          <a:bodyPr wrap="none" lIns="0" rIns="0" tIns="0" bIns="0" anchor="t">
            <a:spAutoFit/>
          </a:bodyPr>
          <a:lstStyle/>
          <a:p>
            <a:pPr algn="l"/>
            <a:r>
              <a:rPr b="0" sz="975" i="0" u="none">
                <a:solidFill>
                  <a:srgbClr val="334155"/>
                </a:solidFill>
                <a:latin typeface="Inter"/>
              </a:rPr>
              <a:t>Average Allowed Delay: </a:t>
            </a:r>
            <a:r>
              <a:rPr b="1" sz="975" i="0" u="none">
                <a:solidFill>
                  <a:srgbClr val="334155"/>
                </a:solidFill>
                <a:latin typeface="Inter"/>
              </a:rPr>
              <a:t>0.98 seconds</a:t>
            </a:r>
            <a:r>
              <a:rPr b="0" sz="975" i="0" u="none">
                <a:solidFill>
                  <a:srgbClr val="334155"/>
                </a:solidFill>
                <a:latin typeface="Inter"/>
              </a:rPr>
              <a:t> (Urgent)</a:t>
            </a:r>
          </a:p>
        </p:txBody>
      </p:sp>
      <p:sp>
        <p:nvSpPr>
          <p:cNvPr id="41" name="TextBox 40"/>
          <p:cNvSpPr txBox="1"/>
          <p:nvPr/>
        </p:nvSpPr>
        <p:spPr>
          <a:xfrm>
            <a:off x="733425" y="3805237"/>
            <a:ext cx="838200" cy="152400"/>
          </a:xfrm>
          <a:prstGeom prst="rect">
            <a:avLst/>
          </a:prstGeom>
          <a:noFill/>
        </p:spPr>
        <p:txBody>
          <a:bodyPr wrap="none" lIns="0" rIns="0" tIns="0" bIns="0" anchor="t">
            <a:spAutoFit/>
          </a:bodyPr>
          <a:lstStyle/>
          <a:p>
            <a:pPr algn="l"/>
            <a:r>
              <a:rPr b="1" sz="975" i="0" u="none">
                <a:solidFill>
                  <a:srgbClr val="0284C7"/>
                </a:solidFill>
                <a:latin typeface="Inter"/>
              </a:rPr>
              <a:t>Cluster 2</a:t>
            </a:r>
          </a:p>
        </p:txBody>
      </p:sp>
      <p:sp>
        <p:nvSpPr>
          <p:cNvPr id="42" name="TextBox 41"/>
          <p:cNvSpPr txBox="1"/>
          <p:nvPr/>
        </p:nvSpPr>
        <p:spPr>
          <a:xfrm>
            <a:off x="5067300" y="3795712"/>
            <a:ext cx="762000" cy="171450"/>
          </a:xfrm>
          <a:prstGeom prst="rect">
            <a:avLst/>
          </a:prstGeom>
          <a:noFill/>
        </p:spPr>
        <p:txBody>
          <a:bodyPr wrap="square" lIns="0" rIns="0" tIns="0" bIns="0" anchor="t">
            <a:spAutoFit/>
          </a:bodyPr>
          <a:lstStyle/>
          <a:p>
            <a:pPr algn="l"/>
            <a:r>
              <a:rPr b="1" sz="975" i="0" u="none">
                <a:solidFill>
                  <a:srgbClr val="0369A1"/>
                </a:solidFill>
                <a:latin typeface="Inter"/>
              </a:rPr>
              <a:t>LOCATION</a:t>
            </a:r>
          </a:p>
        </p:txBody>
      </p:sp>
      <p:sp>
        <p:nvSpPr>
          <p:cNvPr id="43" name="TextBox 42"/>
          <p:cNvSpPr txBox="1"/>
          <p:nvPr/>
        </p:nvSpPr>
        <p:spPr>
          <a:xfrm>
            <a:off x="733425" y="4062412"/>
            <a:ext cx="6369843" cy="152400"/>
          </a:xfrm>
          <a:prstGeom prst="rect">
            <a:avLst/>
          </a:prstGeom>
          <a:noFill/>
        </p:spPr>
        <p:txBody>
          <a:bodyPr wrap="none" lIns="0" rIns="0" tIns="0" bIns="0" anchor="t">
            <a:spAutoFit/>
          </a:bodyPr>
          <a:lstStyle/>
          <a:p>
            <a:pPr algn="l"/>
            <a:r>
              <a:rPr b="0" sz="975" i="0" u="none">
                <a:solidFill>
                  <a:srgbClr val="334155"/>
                </a:solidFill>
                <a:latin typeface="Inter"/>
              </a:rPr>
              <a:t>Main Data Type: </a:t>
            </a:r>
            <a:r>
              <a:rPr b="1" sz="975" i="0" u="none">
                <a:solidFill>
                  <a:srgbClr val="334155"/>
                </a:solidFill>
                <a:latin typeface="Inter"/>
              </a:rPr>
              <a:t>Location Sharing</a:t>
            </a:r>
          </a:p>
        </p:txBody>
      </p:sp>
      <p:sp>
        <p:nvSpPr>
          <p:cNvPr id="44" name="TextBox 43"/>
          <p:cNvSpPr txBox="1"/>
          <p:nvPr/>
        </p:nvSpPr>
        <p:spPr>
          <a:xfrm>
            <a:off x="733425" y="4252912"/>
            <a:ext cx="6369843" cy="152400"/>
          </a:xfrm>
          <a:prstGeom prst="rect">
            <a:avLst/>
          </a:prstGeom>
          <a:noFill/>
        </p:spPr>
        <p:txBody>
          <a:bodyPr wrap="none" lIns="0" rIns="0" tIns="0" bIns="0" anchor="t">
            <a:spAutoFit/>
          </a:bodyPr>
          <a:lstStyle/>
          <a:p>
            <a:pPr algn="l"/>
            <a:r>
              <a:rPr b="0" sz="975" i="0" u="none">
                <a:solidFill>
                  <a:srgbClr val="334155"/>
                </a:solidFill>
                <a:latin typeface="Inter"/>
              </a:rPr>
              <a:t>Average Emergency Priority: </a:t>
            </a:r>
            <a:r>
              <a:rPr b="1" sz="975" i="0" u="none">
                <a:solidFill>
                  <a:srgbClr val="334155"/>
                </a:solidFill>
                <a:latin typeface="Inter"/>
              </a:rPr>
              <a:t>2.02</a:t>
            </a:r>
            <a:r>
              <a:rPr b="0" sz="975" i="0" u="none">
                <a:solidFill>
                  <a:srgbClr val="334155"/>
                </a:solidFill>
                <a:latin typeface="Inter"/>
              </a:rPr>
              <a:t> (Medium)</a:t>
            </a:r>
          </a:p>
        </p:txBody>
      </p:sp>
      <p:sp>
        <p:nvSpPr>
          <p:cNvPr id="45" name="TextBox 44"/>
          <p:cNvSpPr txBox="1"/>
          <p:nvPr/>
        </p:nvSpPr>
        <p:spPr>
          <a:xfrm>
            <a:off x="733425" y="4443412"/>
            <a:ext cx="6369843" cy="152400"/>
          </a:xfrm>
          <a:prstGeom prst="rect">
            <a:avLst/>
          </a:prstGeom>
          <a:noFill/>
        </p:spPr>
        <p:txBody>
          <a:bodyPr wrap="none" lIns="0" rIns="0" tIns="0" bIns="0" anchor="t">
            <a:spAutoFit/>
          </a:bodyPr>
          <a:lstStyle/>
          <a:p>
            <a:pPr algn="l"/>
            <a:r>
              <a:rPr b="0" sz="975" i="0" u="none">
                <a:solidFill>
                  <a:srgbClr val="334155"/>
                </a:solidFill>
                <a:latin typeface="Inter"/>
              </a:rPr>
              <a:t>Average Allowed Delay: </a:t>
            </a:r>
            <a:r>
              <a:rPr b="1" sz="975" i="0" u="none">
                <a:solidFill>
                  <a:srgbClr val="334155"/>
                </a:solidFill>
                <a:latin typeface="Inter"/>
              </a:rPr>
              <a:t>3.00 seconds</a:t>
            </a:r>
            <a:r>
              <a:rPr b="0" sz="975" i="0" u="none">
                <a:solidFill>
                  <a:srgbClr val="334155"/>
                </a:solidFill>
                <a:latin typeface="Inter"/>
              </a:rPr>
              <a:t> (Medium)</a:t>
            </a:r>
          </a:p>
        </p:txBody>
      </p:sp>
      <p:sp>
        <p:nvSpPr>
          <p:cNvPr id="46" name="TextBox 45"/>
          <p:cNvSpPr txBox="1"/>
          <p:nvPr/>
        </p:nvSpPr>
        <p:spPr>
          <a:xfrm>
            <a:off x="6362700" y="3805237"/>
            <a:ext cx="838200" cy="152400"/>
          </a:xfrm>
          <a:prstGeom prst="rect">
            <a:avLst/>
          </a:prstGeom>
          <a:noFill/>
        </p:spPr>
        <p:txBody>
          <a:bodyPr wrap="none" lIns="0" rIns="0" tIns="0" bIns="0" anchor="t">
            <a:spAutoFit/>
          </a:bodyPr>
          <a:lstStyle/>
          <a:p>
            <a:pPr algn="l"/>
            <a:r>
              <a:rPr b="1" sz="975" i="0" u="none">
                <a:solidFill>
                  <a:srgbClr val="D97706"/>
                </a:solidFill>
                <a:latin typeface="Inter"/>
              </a:rPr>
              <a:t>Cluster 3</a:t>
            </a:r>
          </a:p>
        </p:txBody>
      </p:sp>
      <p:sp>
        <p:nvSpPr>
          <p:cNvPr id="47" name="TextBox 46"/>
          <p:cNvSpPr txBox="1"/>
          <p:nvPr/>
        </p:nvSpPr>
        <p:spPr>
          <a:xfrm>
            <a:off x="10848975" y="3795712"/>
            <a:ext cx="609600" cy="171450"/>
          </a:xfrm>
          <a:prstGeom prst="rect">
            <a:avLst/>
          </a:prstGeom>
          <a:noFill/>
        </p:spPr>
        <p:txBody>
          <a:bodyPr wrap="square" lIns="0" rIns="0" tIns="0" bIns="0" anchor="t">
            <a:spAutoFit/>
          </a:bodyPr>
          <a:lstStyle/>
          <a:p>
            <a:pPr algn="l"/>
            <a:r>
              <a:rPr b="1" sz="975" i="0" u="none">
                <a:solidFill>
                  <a:srgbClr val="B45309"/>
                </a:solidFill>
                <a:latin typeface="Inter"/>
              </a:rPr>
              <a:t>RESCUE</a:t>
            </a:r>
          </a:p>
        </p:txBody>
      </p:sp>
      <p:sp>
        <p:nvSpPr>
          <p:cNvPr id="48" name="TextBox 47"/>
          <p:cNvSpPr txBox="1"/>
          <p:nvPr/>
        </p:nvSpPr>
        <p:spPr>
          <a:xfrm>
            <a:off x="6362700" y="4062412"/>
            <a:ext cx="5829300" cy="152400"/>
          </a:xfrm>
          <a:prstGeom prst="rect">
            <a:avLst/>
          </a:prstGeom>
          <a:noFill/>
        </p:spPr>
        <p:txBody>
          <a:bodyPr wrap="none" lIns="0" rIns="0" tIns="0" bIns="0" anchor="t">
            <a:spAutoFit/>
          </a:bodyPr>
          <a:lstStyle/>
          <a:p>
            <a:pPr algn="l"/>
            <a:r>
              <a:rPr b="0" sz="975" i="0" u="none">
                <a:solidFill>
                  <a:srgbClr val="334155"/>
                </a:solidFill>
                <a:latin typeface="Inter"/>
              </a:rPr>
              <a:t>Main Data Type: </a:t>
            </a:r>
            <a:r>
              <a:rPr b="1" sz="975" i="0" u="none">
                <a:solidFill>
                  <a:srgbClr val="334155"/>
                </a:solidFill>
                <a:latin typeface="Inter"/>
              </a:rPr>
              <a:t>Rescue Operation</a:t>
            </a:r>
          </a:p>
        </p:txBody>
      </p:sp>
      <p:sp>
        <p:nvSpPr>
          <p:cNvPr id="49" name="TextBox 48"/>
          <p:cNvSpPr txBox="1"/>
          <p:nvPr/>
        </p:nvSpPr>
        <p:spPr>
          <a:xfrm>
            <a:off x="6362700" y="4252912"/>
            <a:ext cx="5829300" cy="152400"/>
          </a:xfrm>
          <a:prstGeom prst="rect">
            <a:avLst/>
          </a:prstGeom>
          <a:noFill/>
        </p:spPr>
        <p:txBody>
          <a:bodyPr wrap="none" lIns="0" rIns="0" tIns="0" bIns="0" anchor="t">
            <a:spAutoFit/>
          </a:bodyPr>
          <a:lstStyle/>
          <a:p>
            <a:pPr algn="l"/>
            <a:r>
              <a:rPr b="0" sz="975" i="0" u="none">
                <a:solidFill>
                  <a:srgbClr val="334155"/>
                </a:solidFill>
                <a:latin typeface="Inter"/>
              </a:rPr>
              <a:t>Average Emergency Priority: </a:t>
            </a:r>
            <a:r>
              <a:rPr b="1" sz="975" i="0" u="none">
                <a:solidFill>
                  <a:srgbClr val="334155"/>
                </a:solidFill>
                <a:latin typeface="Inter"/>
              </a:rPr>
              <a:t>2.81</a:t>
            </a:r>
            <a:r>
              <a:rPr b="0" sz="975" i="0" u="none">
                <a:solidFill>
                  <a:srgbClr val="334155"/>
                </a:solidFill>
                <a:latin typeface="Inter"/>
              </a:rPr>
              <a:t> (High)</a:t>
            </a:r>
          </a:p>
        </p:txBody>
      </p:sp>
      <p:sp>
        <p:nvSpPr>
          <p:cNvPr id="50" name="TextBox 49"/>
          <p:cNvSpPr txBox="1"/>
          <p:nvPr/>
        </p:nvSpPr>
        <p:spPr>
          <a:xfrm>
            <a:off x="6362700" y="4443412"/>
            <a:ext cx="5829300" cy="152400"/>
          </a:xfrm>
          <a:prstGeom prst="rect">
            <a:avLst/>
          </a:prstGeom>
          <a:noFill/>
        </p:spPr>
        <p:txBody>
          <a:bodyPr wrap="none" lIns="0" rIns="0" tIns="0" bIns="0" anchor="t">
            <a:spAutoFit/>
          </a:bodyPr>
          <a:lstStyle/>
          <a:p>
            <a:pPr algn="l"/>
            <a:r>
              <a:rPr b="0" sz="975" i="0" u="none">
                <a:solidFill>
                  <a:srgbClr val="334155"/>
                </a:solidFill>
                <a:latin typeface="Inter"/>
              </a:rPr>
              <a:t>Average Allowed Delay: </a:t>
            </a:r>
            <a:r>
              <a:rPr b="1" sz="975" i="0" u="none">
                <a:solidFill>
                  <a:srgbClr val="334155"/>
                </a:solidFill>
                <a:latin typeface="Inter"/>
              </a:rPr>
              <a:t>1.54 seconds</a:t>
            </a:r>
            <a:r>
              <a:rPr b="0" sz="975" i="0" u="none">
                <a:solidFill>
                  <a:srgbClr val="334155"/>
                </a:solidFill>
                <a:latin typeface="Inter"/>
              </a:rPr>
              <a:t> (Urgent)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848475"/>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3400" y="2781300"/>
            <a:ext cx="5448300" cy="2085975"/>
          </a:xfrm>
          <a:prstGeom prst="roundRect">
            <a:avLst>
              <a:gd name="adj" fmla="val 45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0300" y="2781300"/>
            <a:ext cx="5448300" cy="2085975"/>
          </a:xfrm>
          <a:prstGeom prst="roundRect">
            <a:avLst>
              <a:gd name="adj" fmla="val 45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4857750"/>
            <a:ext cx="54483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33400" y="2781300"/>
            <a:ext cx="544830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3400" y="2781300"/>
            <a:ext cx="9525" cy="2085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72175" y="2781300"/>
            <a:ext cx="9525" cy="2085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0300" y="4857750"/>
            <a:ext cx="54483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0300" y="2781300"/>
            <a:ext cx="544830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0300" y="2781300"/>
            <a:ext cx="9525" cy="2085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49075" y="2781300"/>
            <a:ext cx="9525" cy="2085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733425" y="3028950"/>
            <a:ext cx="152400" cy="152400"/>
          </a:xfrm>
          <a:prstGeom prst="rect">
            <a:avLst/>
          </a:prstGeom>
        </p:spPr>
      </p:pic>
      <p:pic>
        <p:nvPicPr>
          <p:cNvPr id="14" name="Picture 13" descr="image.png"/>
          <p:cNvPicPr>
            <a:picLocks noChangeAspect="1"/>
          </p:cNvPicPr>
          <p:nvPr/>
        </p:nvPicPr>
        <p:blipFill>
          <a:blip r:embed="rId3"/>
          <a:stretch>
            <a:fillRect/>
          </a:stretch>
        </p:blipFill>
        <p:spPr>
          <a:xfrm>
            <a:off x="6410325" y="3028950"/>
            <a:ext cx="114300" cy="152400"/>
          </a:xfrm>
          <a:prstGeom prst="rect">
            <a:avLst/>
          </a:prstGeom>
        </p:spPr>
      </p:pic>
      <p:pic>
        <p:nvPicPr>
          <p:cNvPr id="15" name="Picture 14" descr="image.png"/>
          <p:cNvPicPr>
            <a:picLocks noChangeAspect="1"/>
          </p:cNvPicPr>
          <p:nvPr/>
        </p:nvPicPr>
        <p:blipFill>
          <a:blip r:embed="rId4"/>
          <a:stretch>
            <a:fillRect/>
          </a:stretch>
        </p:blipFill>
        <p:spPr>
          <a:xfrm>
            <a:off x="733425" y="3328987"/>
            <a:ext cx="114300" cy="142875"/>
          </a:xfrm>
          <a:prstGeom prst="rect">
            <a:avLst/>
          </a:prstGeom>
        </p:spPr>
      </p:pic>
      <p:pic>
        <p:nvPicPr>
          <p:cNvPr id="16" name="Picture 15" descr="image.png"/>
          <p:cNvPicPr>
            <a:picLocks noChangeAspect="1"/>
          </p:cNvPicPr>
          <p:nvPr/>
        </p:nvPicPr>
        <p:blipFill>
          <a:blip r:embed="rId4"/>
          <a:stretch>
            <a:fillRect/>
          </a:stretch>
        </p:blipFill>
        <p:spPr>
          <a:xfrm>
            <a:off x="733425" y="3567112"/>
            <a:ext cx="114300" cy="142875"/>
          </a:xfrm>
          <a:prstGeom prst="rect">
            <a:avLst/>
          </a:prstGeom>
        </p:spPr>
      </p:pic>
      <p:pic>
        <p:nvPicPr>
          <p:cNvPr id="17" name="Picture 16" descr="image.png"/>
          <p:cNvPicPr>
            <a:picLocks noChangeAspect="1"/>
          </p:cNvPicPr>
          <p:nvPr/>
        </p:nvPicPr>
        <p:blipFill>
          <a:blip r:embed="rId4"/>
          <a:stretch>
            <a:fillRect/>
          </a:stretch>
        </p:blipFill>
        <p:spPr>
          <a:xfrm>
            <a:off x="733425" y="3805237"/>
            <a:ext cx="114300" cy="142875"/>
          </a:xfrm>
          <a:prstGeom prst="rect">
            <a:avLst/>
          </a:prstGeom>
        </p:spPr>
      </p:pic>
      <p:pic>
        <p:nvPicPr>
          <p:cNvPr id="18" name="Picture 17" descr="image.png"/>
          <p:cNvPicPr>
            <a:picLocks noChangeAspect="1"/>
          </p:cNvPicPr>
          <p:nvPr/>
        </p:nvPicPr>
        <p:blipFill>
          <a:blip r:embed="rId4"/>
          <a:stretch>
            <a:fillRect/>
          </a:stretch>
        </p:blipFill>
        <p:spPr>
          <a:xfrm>
            <a:off x="733425" y="4043362"/>
            <a:ext cx="114300" cy="142875"/>
          </a:xfrm>
          <a:prstGeom prst="rect">
            <a:avLst/>
          </a:prstGeom>
        </p:spPr>
      </p:pic>
      <p:pic>
        <p:nvPicPr>
          <p:cNvPr id="19" name="Picture 18" descr="image.png"/>
          <p:cNvPicPr>
            <a:picLocks noChangeAspect="1"/>
          </p:cNvPicPr>
          <p:nvPr/>
        </p:nvPicPr>
        <p:blipFill>
          <a:blip r:embed="rId4"/>
          <a:stretch>
            <a:fillRect/>
          </a:stretch>
        </p:blipFill>
        <p:spPr>
          <a:xfrm>
            <a:off x="733425" y="4281487"/>
            <a:ext cx="114300" cy="142875"/>
          </a:xfrm>
          <a:prstGeom prst="rect">
            <a:avLst/>
          </a:prstGeom>
        </p:spPr>
      </p:pic>
      <p:pic>
        <p:nvPicPr>
          <p:cNvPr id="20" name="Picture 19" descr="image.png"/>
          <p:cNvPicPr>
            <a:picLocks noChangeAspect="1"/>
          </p:cNvPicPr>
          <p:nvPr/>
        </p:nvPicPr>
        <p:blipFill>
          <a:blip r:embed="rId4"/>
          <a:stretch>
            <a:fillRect/>
          </a:stretch>
        </p:blipFill>
        <p:spPr>
          <a:xfrm>
            <a:off x="733425" y="4519612"/>
            <a:ext cx="114300" cy="142875"/>
          </a:xfrm>
          <a:prstGeom prst="rect">
            <a:avLst/>
          </a:prstGeom>
        </p:spPr>
      </p:pic>
      <p:pic>
        <p:nvPicPr>
          <p:cNvPr id="21" name="Picture 20" descr="image.png"/>
          <p:cNvPicPr>
            <a:picLocks noChangeAspect="1"/>
          </p:cNvPicPr>
          <p:nvPr/>
        </p:nvPicPr>
        <p:blipFill>
          <a:blip r:embed="rId5"/>
          <a:stretch>
            <a:fillRect/>
          </a:stretch>
        </p:blipFill>
        <p:spPr>
          <a:xfrm>
            <a:off x="6410325" y="3328987"/>
            <a:ext cx="114300" cy="142875"/>
          </a:xfrm>
          <a:prstGeom prst="rect">
            <a:avLst/>
          </a:prstGeom>
        </p:spPr>
      </p:pic>
      <p:pic>
        <p:nvPicPr>
          <p:cNvPr id="22" name="Picture 21" descr="image.png"/>
          <p:cNvPicPr>
            <a:picLocks noChangeAspect="1"/>
          </p:cNvPicPr>
          <p:nvPr/>
        </p:nvPicPr>
        <p:blipFill>
          <a:blip r:embed="rId5"/>
          <a:stretch>
            <a:fillRect/>
          </a:stretch>
        </p:blipFill>
        <p:spPr>
          <a:xfrm>
            <a:off x="6410325" y="3567112"/>
            <a:ext cx="114300" cy="142875"/>
          </a:xfrm>
          <a:prstGeom prst="rect">
            <a:avLst/>
          </a:prstGeom>
        </p:spPr>
      </p:pic>
      <p:pic>
        <p:nvPicPr>
          <p:cNvPr id="23" name="Picture 22" descr="image.png"/>
          <p:cNvPicPr>
            <a:picLocks noChangeAspect="1"/>
          </p:cNvPicPr>
          <p:nvPr/>
        </p:nvPicPr>
        <p:blipFill>
          <a:blip r:embed="rId5"/>
          <a:stretch>
            <a:fillRect/>
          </a:stretch>
        </p:blipFill>
        <p:spPr>
          <a:xfrm>
            <a:off x="6410325" y="3805237"/>
            <a:ext cx="114300" cy="142875"/>
          </a:xfrm>
          <a:prstGeom prst="rect">
            <a:avLst/>
          </a:prstGeom>
        </p:spPr>
      </p:pic>
      <p:pic>
        <p:nvPicPr>
          <p:cNvPr id="24" name="Picture 23" descr="image.png"/>
          <p:cNvPicPr>
            <a:picLocks noChangeAspect="1"/>
          </p:cNvPicPr>
          <p:nvPr/>
        </p:nvPicPr>
        <p:blipFill>
          <a:blip r:embed="rId5"/>
          <a:stretch>
            <a:fillRect/>
          </a:stretch>
        </p:blipFill>
        <p:spPr>
          <a:xfrm>
            <a:off x="6410325" y="4043362"/>
            <a:ext cx="114300" cy="142875"/>
          </a:xfrm>
          <a:prstGeom prst="rect">
            <a:avLst/>
          </a:prstGeom>
        </p:spPr>
      </p:pic>
      <p:sp>
        <p:nvSpPr>
          <p:cNvPr id="25" name="TextBox 24"/>
          <p:cNvSpPr txBox="1"/>
          <p:nvPr/>
        </p:nvSpPr>
        <p:spPr>
          <a:xfrm>
            <a:off x="533400" y="419100"/>
            <a:ext cx="11658600" cy="171450"/>
          </a:xfrm>
          <a:prstGeom prst="rect">
            <a:avLst/>
          </a:prstGeom>
          <a:noFill/>
        </p:spPr>
        <p:txBody>
          <a:bodyPr wrap="none" lIns="0" rIns="0" tIns="0" bIns="0" anchor="t">
            <a:spAutoFit/>
          </a:bodyPr>
          <a:lstStyle/>
          <a:p>
            <a:pPr algn="l"/>
            <a:r>
              <a:rPr b="1" sz="1050" i="0" u="none">
                <a:solidFill>
                  <a:srgbClr val="2563EB"/>
                </a:solidFill>
                <a:latin typeface="Space Grotesk"/>
              </a:rPr>
              <a:t>PROJECT STATUS</a:t>
            </a:r>
          </a:p>
        </p:txBody>
      </p:sp>
      <p:sp>
        <p:nvSpPr>
          <p:cNvPr id="26" name="TextBox 25"/>
          <p:cNvSpPr txBox="1"/>
          <p:nvPr/>
        </p:nvSpPr>
        <p:spPr>
          <a:xfrm>
            <a:off x="533400" y="647700"/>
            <a:ext cx="116586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Space Grotesk"/>
              </a:rPr>
              <a:t>Current Progress &amp; Future Work</a:t>
            </a:r>
          </a:p>
        </p:txBody>
      </p:sp>
      <p:sp>
        <p:nvSpPr>
          <p:cNvPr id="27" name="TextBox 26"/>
          <p:cNvSpPr txBox="1"/>
          <p:nvPr/>
        </p:nvSpPr>
        <p:spPr>
          <a:xfrm>
            <a:off x="733425" y="3009900"/>
            <a:ext cx="6625828" cy="190500"/>
          </a:xfrm>
          <a:prstGeom prst="rect">
            <a:avLst/>
          </a:prstGeom>
          <a:noFill/>
        </p:spPr>
        <p:txBody>
          <a:bodyPr wrap="none" lIns="228600" rIns="0" tIns="0" bIns="0" anchor="t">
            <a:spAutoFit/>
          </a:bodyPr>
          <a:lstStyle/>
          <a:p>
            <a:pPr algn="l"/>
            <a:r>
              <a:rPr b="1" sz="1200" i="0" u="none">
                <a:solidFill>
                  <a:srgbClr val="15803D"/>
                </a:solidFill>
                <a:latin typeface="Inter"/>
              </a:rPr>
              <a:t>Completed Work</a:t>
            </a:r>
          </a:p>
        </p:txBody>
      </p:sp>
      <p:sp>
        <p:nvSpPr>
          <p:cNvPr id="28" name="TextBox 27"/>
          <p:cNvSpPr txBox="1"/>
          <p:nvPr/>
        </p:nvSpPr>
        <p:spPr>
          <a:xfrm>
            <a:off x="6410325" y="3009900"/>
            <a:ext cx="5781675" cy="190500"/>
          </a:xfrm>
          <a:prstGeom prst="rect">
            <a:avLst/>
          </a:prstGeom>
          <a:noFill/>
        </p:spPr>
        <p:txBody>
          <a:bodyPr wrap="none" lIns="190500" rIns="0" tIns="0" bIns="0" anchor="t">
            <a:spAutoFit/>
          </a:bodyPr>
          <a:lstStyle/>
          <a:p>
            <a:pPr algn="l"/>
            <a:r>
              <a:rPr b="1" sz="1200" i="0" u="none">
                <a:solidFill>
                  <a:srgbClr val="1D4ED8"/>
                </a:solidFill>
                <a:latin typeface="Inter"/>
              </a:rPr>
              <a:t>Remaining / Future Work</a:t>
            </a:r>
          </a:p>
        </p:txBody>
      </p:sp>
      <p:sp>
        <p:nvSpPr>
          <p:cNvPr id="29" name="TextBox 28"/>
          <p:cNvSpPr txBox="1"/>
          <p:nvPr/>
        </p:nvSpPr>
        <p:spPr>
          <a:xfrm>
            <a:off x="733425" y="3314700"/>
            <a:ext cx="6310312" cy="161925"/>
          </a:xfrm>
          <a:prstGeom prst="rect">
            <a:avLst/>
          </a:prstGeom>
          <a:noFill/>
        </p:spPr>
        <p:txBody>
          <a:bodyPr wrap="none" lIns="190500" rIns="0" tIns="0" bIns="0" anchor="t">
            <a:spAutoFit/>
          </a:bodyPr>
          <a:lstStyle/>
          <a:p>
            <a:pPr algn="l"/>
            <a:r>
              <a:rPr b="0" sz="1050" i="0" u="none">
                <a:solidFill>
                  <a:srgbClr val="334155"/>
                </a:solidFill>
                <a:latin typeface="Inter"/>
              </a:rPr>
              <a:t>Cleaned data and created 10 ML input features</a:t>
            </a:r>
          </a:p>
        </p:txBody>
      </p:sp>
      <p:sp>
        <p:nvSpPr>
          <p:cNvPr id="30" name="TextBox 29"/>
          <p:cNvSpPr txBox="1"/>
          <p:nvPr/>
        </p:nvSpPr>
        <p:spPr>
          <a:xfrm>
            <a:off x="733425" y="3552825"/>
            <a:ext cx="6310312" cy="161925"/>
          </a:xfrm>
          <a:prstGeom prst="rect">
            <a:avLst/>
          </a:prstGeom>
          <a:noFill/>
        </p:spPr>
        <p:txBody>
          <a:bodyPr wrap="none" lIns="190500" rIns="0" tIns="0" bIns="0" anchor="t">
            <a:spAutoFit/>
          </a:bodyPr>
          <a:lstStyle/>
          <a:p>
            <a:pPr algn="l"/>
            <a:r>
              <a:rPr b="0" sz="1050" i="0" u="none">
                <a:solidFill>
                  <a:srgbClr val="334155"/>
                </a:solidFill>
                <a:latin typeface="Inter"/>
              </a:rPr>
              <a:t>Built K-Means and DBSCAN baseline models</a:t>
            </a:r>
          </a:p>
        </p:txBody>
      </p:sp>
      <p:sp>
        <p:nvSpPr>
          <p:cNvPr id="31" name="TextBox 30"/>
          <p:cNvSpPr txBox="1"/>
          <p:nvPr/>
        </p:nvSpPr>
        <p:spPr>
          <a:xfrm>
            <a:off x="733425" y="3790950"/>
            <a:ext cx="6310312" cy="161925"/>
          </a:xfrm>
          <a:prstGeom prst="rect">
            <a:avLst/>
          </a:prstGeom>
          <a:noFill/>
        </p:spPr>
        <p:txBody>
          <a:bodyPr wrap="none" lIns="190500" rIns="0" tIns="0" bIns="0" anchor="t">
            <a:spAutoFit/>
          </a:bodyPr>
          <a:lstStyle/>
          <a:p>
            <a:pPr algn="l"/>
            <a:r>
              <a:rPr b="0" sz="1050" i="0" u="none">
                <a:solidFill>
                  <a:srgbClr val="334155"/>
                </a:solidFill>
                <a:latin typeface="Inter"/>
              </a:rPr>
              <a:t>Built Deep Embedded Clustering (DEC) pipeline</a:t>
            </a:r>
          </a:p>
        </p:txBody>
      </p:sp>
      <p:sp>
        <p:nvSpPr>
          <p:cNvPr id="32" name="TextBox 31"/>
          <p:cNvSpPr txBox="1"/>
          <p:nvPr/>
        </p:nvSpPr>
        <p:spPr>
          <a:xfrm>
            <a:off x="733425" y="4029075"/>
            <a:ext cx="6310312" cy="161925"/>
          </a:xfrm>
          <a:prstGeom prst="rect">
            <a:avLst/>
          </a:prstGeom>
          <a:noFill/>
        </p:spPr>
        <p:txBody>
          <a:bodyPr wrap="none" lIns="190500" rIns="0" tIns="0" bIns="0" anchor="t">
            <a:spAutoFit/>
          </a:bodyPr>
          <a:lstStyle/>
          <a:p>
            <a:pPr algn="l"/>
            <a:r>
              <a:rPr b="0" sz="1050" i="0" u="none">
                <a:solidFill>
                  <a:srgbClr val="334155"/>
                </a:solidFill>
                <a:latin typeface="Inter"/>
              </a:rPr>
              <a:t>Analyzed user group characteristics &amp; scores</a:t>
            </a:r>
          </a:p>
        </p:txBody>
      </p:sp>
      <p:sp>
        <p:nvSpPr>
          <p:cNvPr id="33" name="TextBox 32"/>
          <p:cNvSpPr txBox="1"/>
          <p:nvPr/>
        </p:nvSpPr>
        <p:spPr>
          <a:xfrm>
            <a:off x="733425" y="4267200"/>
            <a:ext cx="6310312" cy="161925"/>
          </a:xfrm>
          <a:prstGeom prst="rect">
            <a:avLst/>
          </a:prstGeom>
          <a:noFill/>
        </p:spPr>
        <p:txBody>
          <a:bodyPr wrap="none" lIns="190500" rIns="0" tIns="0" bIns="0" anchor="t">
            <a:spAutoFit/>
          </a:bodyPr>
          <a:lstStyle/>
          <a:p>
            <a:pPr algn="l"/>
            <a:r>
              <a:rPr b="0" sz="1050" i="0" u="none">
                <a:solidFill>
                  <a:srgbClr val="334155"/>
                </a:solidFill>
                <a:latin typeface="Inter"/>
              </a:rPr>
              <a:t>Created new-user predictor &amp; Streamlit dashboard</a:t>
            </a:r>
          </a:p>
        </p:txBody>
      </p:sp>
      <p:sp>
        <p:nvSpPr>
          <p:cNvPr id="34" name="TextBox 33"/>
          <p:cNvSpPr txBox="1"/>
          <p:nvPr/>
        </p:nvSpPr>
        <p:spPr>
          <a:xfrm>
            <a:off x="733425" y="4505325"/>
            <a:ext cx="6310312" cy="161925"/>
          </a:xfrm>
          <a:prstGeom prst="rect">
            <a:avLst/>
          </a:prstGeom>
          <a:noFill/>
        </p:spPr>
        <p:txBody>
          <a:bodyPr wrap="none" lIns="190500" rIns="0" tIns="0" bIns="0" anchor="t">
            <a:spAutoFit/>
          </a:bodyPr>
          <a:lstStyle/>
          <a:p>
            <a:pPr algn="l"/>
            <a:r>
              <a:rPr b="0" sz="1050" i="0" u="none">
                <a:solidFill>
                  <a:srgbClr val="334155"/>
                </a:solidFill>
                <a:latin typeface="Inter"/>
              </a:rPr>
              <a:t>Uploaded full working code to GitHub</a:t>
            </a:r>
          </a:p>
        </p:txBody>
      </p:sp>
      <p:sp>
        <p:nvSpPr>
          <p:cNvPr id="35" name="TextBox 34"/>
          <p:cNvSpPr txBox="1"/>
          <p:nvPr/>
        </p:nvSpPr>
        <p:spPr>
          <a:xfrm>
            <a:off x="6410325" y="3314700"/>
            <a:ext cx="5781675" cy="161925"/>
          </a:xfrm>
          <a:prstGeom prst="rect">
            <a:avLst/>
          </a:prstGeom>
          <a:noFill/>
        </p:spPr>
        <p:txBody>
          <a:bodyPr wrap="none" lIns="190500" rIns="0" tIns="0" bIns="0" anchor="t">
            <a:spAutoFit/>
          </a:bodyPr>
          <a:lstStyle/>
          <a:p>
            <a:pPr algn="l"/>
            <a:r>
              <a:rPr b="0" sz="1050" i="0" u="none">
                <a:solidFill>
                  <a:srgbClr val="334155"/>
                </a:solidFill>
                <a:latin typeface="Inter"/>
              </a:rPr>
              <a:t>Test on larger and more varied disaster datasets</a:t>
            </a:r>
          </a:p>
        </p:txBody>
      </p:sp>
      <p:sp>
        <p:nvSpPr>
          <p:cNvPr id="36" name="TextBox 35"/>
          <p:cNvSpPr txBox="1"/>
          <p:nvPr/>
        </p:nvSpPr>
        <p:spPr>
          <a:xfrm>
            <a:off x="6410325" y="3552825"/>
            <a:ext cx="5781675" cy="161925"/>
          </a:xfrm>
          <a:prstGeom prst="rect">
            <a:avLst/>
          </a:prstGeom>
          <a:noFill/>
        </p:spPr>
        <p:txBody>
          <a:bodyPr wrap="none" lIns="190500" rIns="0" tIns="0" bIns="0" anchor="t">
            <a:spAutoFit/>
          </a:bodyPr>
          <a:lstStyle/>
          <a:p>
            <a:pPr algn="l"/>
            <a:r>
              <a:rPr b="0" sz="1050" i="0" u="none">
                <a:solidFill>
                  <a:srgbClr val="334155"/>
                </a:solidFill>
                <a:latin typeface="Inter"/>
              </a:rPr>
              <a:t>Tune DEC neural network layers and settings</a:t>
            </a:r>
          </a:p>
        </p:txBody>
      </p:sp>
      <p:sp>
        <p:nvSpPr>
          <p:cNvPr id="37" name="TextBox 36"/>
          <p:cNvSpPr txBox="1"/>
          <p:nvPr/>
        </p:nvSpPr>
        <p:spPr>
          <a:xfrm>
            <a:off x="6410325" y="3790950"/>
            <a:ext cx="5781675" cy="161925"/>
          </a:xfrm>
          <a:prstGeom prst="rect">
            <a:avLst/>
          </a:prstGeom>
          <a:noFill/>
        </p:spPr>
        <p:txBody>
          <a:bodyPr wrap="none" lIns="190500" rIns="0" tIns="0" bIns="0" anchor="t">
            <a:spAutoFit/>
          </a:bodyPr>
          <a:lstStyle/>
          <a:p>
            <a:pPr algn="l"/>
            <a:r>
              <a:rPr b="0" sz="1050" i="0" u="none">
                <a:solidFill>
                  <a:srgbClr val="334155"/>
                </a:solidFill>
                <a:latin typeface="Inter"/>
              </a:rPr>
              <a:t>Investigate why DEC and baseline scores are similar</a:t>
            </a:r>
          </a:p>
        </p:txBody>
      </p:sp>
      <p:sp>
        <p:nvSpPr>
          <p:cNvPr id="38" name="TextBox 37"/>
          <p:cNvSpPr txBox="1"/>
          <p:nvPr/>
        </p:nvSpPr>
        <p:spPr>
          <a:xfrm>
            <a:off x="6410325" y="4029075"/>
            <a:ext cx="5781675" cy="161925"/>
          </a:xfrm>
          <a:prstGeom prst="rect">
            <a:avLst/>
          </a:prstGeom>
          <a:noFill/>
        </p:spPr>
        <p:txBody>
          <a:bodyPr wrap="none" lIns="190500" rIns="0" tIns="0" bIns="0" anchor="t">
            <a:spAutoFit/>
          </a:bodyPr>
          <a:lstStyle/>
          <a:p>
            <a:pPr algn="l"/>
            <a:r>
              <a:rPr b="0" sz="1050" i="0" u="none">
                <a:solidFill>
                  <a:srgbClr val="334155"/>
                </a:solidFill>
                <a:latin typeface="Inter"/>
              </a:rPr>
              <a:t>Connect user groups to a future drone network simulator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848475"/>
            <a:ext cx="12192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3400" y="2490787"/>
            <a:ext cx="11125200" cy="885825"/>
          </a:xfrm>
          <a:prstGeom prst="roundRect">
            <a:avLst>
              <a:gd name="adj" fmla="val 10752"/>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3400" y="3567112"/>
            <a:ext cx="11125200" cy="438150"/>
          </a:xfrm>
          <a:prstGeom prst="roundRect">
            <a:avLst>
              <a:gd name="adj" fmla="val 1739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3400" y="4195762"/>
            <a:ext cx="11125200" cy="962025"/>
          </a:xfrm>
          <a:prstGeom prst="roundRect">
            <a:avLst>
              <a:gd name="adj" fmla="val 9900"/>
            </a:avLst>
          </a:prstGeom>
          <a:solidFill>
            <a:srgbClr val="FFFF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2710755" y="3709987"/>
            <a:ext cx="95250" cy="152400"/>
          </a:xfrm>
          <a:prstGeom prst="rect">
            <a:avLst/>
          </a:prstGeom>
        </p:spPr>
      </p:pic>
      <p:pic>
        <p:nvPicPr>
          <p:cNvPr id="7" name="Picture 6" descr="image.png"/>
          <p:cNvPicPr>
            <a:picLocks noChangeAspect="1"/>
          </p:cNvPicPr>
          <p:nvPr/>
        </p:nvPicPr>
        <p:blipFill>
          <a:blip r:embed="rId2"/>
          <a:stretch>
            <a:fillRect/>
          </a:stretch>
        </p:blipFill>
        <p:spPr>
          <a:xfrm>
            <a:off x="4935735" y="3709987"/>
            <a:ext cx="95250" cy="152400"/>
          </a:xfrm>
          <a:prstGeom prst="rect">
            <a:avLst/>
          </a:prstGeom>
        </p:spPr>
      </p:pic>
      <p:pic>
        <p:nvPicPr>
          <p:cNvPr id="8" name="Picture 7" descr="image.png"/>
          <p:cNvPicPr>
            <a:picLocks noChangeAspect="1"/>
          </p:cNvPicPr>
          <p:nvPr/>
        </p:nvPicPr>
        <p:blipFill>
          <a:blip r:embed="rId2"/>
          <a:stretch>
            <a:fillRect/>
          </a:stretch>
        </p:blipFill>
        <p:spPr>
          <a:xfrm>
            <a:off x="7160716" y="3709987"/>
            <a:ext cx="95250" cy="152400"/>
          </a:xfrm>
          <a:prstGeom prst="rect">
            <a:avLst/>
          </a:prstGeom>
        </p:spPr>
      </p:pic>
      <p:pic>
        <p:nvPicPr>
          <p:cNvPr id="9" name="Picture 8" descr="image.png"/>
          <p:cNvPicPr>
            <a:picLocks noChangeAspect="1"/>
          </p:cNvPicPr>
          <p:nvPr/>
        </p:nvPicPr>
        <p:blipFill>
          <a:blip r:embed="rId2"/>
          <a:stretch>
            <a:fillRect/>
          </a:stretch>
        </p:blipFill>
        <p:spPr>
          <a:xfrm>
            <a:off x="9385696" y="3709987"/>
            <a:ext cx="95250" cy="152400"/>
          </a:xfrm>
          <a:prstGeom prst="rect">
            <a:avLst/>
          </a:prstGeom>
        </p:spPr>
      </p:pic>
      <p:pic>
        <p:nvPicPr>
          <p:cNvPr id="10" name="Picture 9" descr="image.png"/>
          <p:cNvPicPr>
            <a:picLocks noChangeAspect="1"/>
          </p:cNvPicPr>
          <p:nvPr/>
        </p:nvPicPr>
        <p:blipFill>
          <a:blip r:embed="rId3"/>
          <a:stretch>
            <a:fillRect/>
          </a:stretch>
        </p:blipFill>
        <p:spPr>
          <a:xfrm>
            <a:off x="695325" y="2714625"/>
            <a:ext cx="219075" cy="228600"/>
          </a:xfrm>
          <a:prstGeom prst="rect">
            <a:avLst/>
          </a:prstGeom>
        </p:spPr>
      </p:pic>
      <p:sp>
        <p:nvSpPr>
          <p:cNvPr id="11" name="TextBox 10"/>
          <p:cNvSpPr txBox="1"/>
          <p:nvPr/>
        </p:nvSpPr>
        <p:spPr>
          <a:xfrm>
            <a:off x="533400" y="419100"/>
            <a:ext cx="11658600" cy="171450"/>
          </a:xfrm>
          <a:prstGeom prst="rect">
            <a:avLst/>
          </a:prstGeom>
          <a:noFill/>
        </p:spPr>
        <p:txBody>
          <a:bodyPr wrap="none" lIns="0" rIns="0" tIns="0" bIns="0" anchor="t">
            <a:spAutoFit/>
          </a:bodyPr>
          <a:lstStyle/>
          <a:p>
            <a:pPr algn="l"/>
            <a:r>
              <a:rPr b="1" sz="1050" i="0" u="none">
                <a:solidFill>
                  <a:srgbClr val="2563EB"/>
                </a:solidFill>
                <a:latin typeface="Space Grotesk"/>
              </a:rPr>
              <a:t>DELIVERABLES &amp; SUMMARY</a:t>
            </a:r>
          </a:p>
        </p:txBody>
      </p:sp>
      <p:sp>
        <p:nvSpPr>
          <p:cNvPr id="12" name="TextBox 11"/>
          <p:cNvSpPr txBox="1"/>
          <p:nvPr/>
        </p:nvSpPr>
        <p:spPr>
          <a:xfrm>
            <a:off x="533400" y="647700"/>
            <a:ext cx="11658600" cy="342900"/>
          </a:xfrm>
          <a:prstGeom prst="rect">
            <a:avLst/>
          </a:prstGeom>
          <a:noFill/>
        </p:spPr>
        <p:txBody>
          <a:bodyPr wrap="none" lIns="0" rIns="0" tIns="0" bIns="0" anchor="t">
            <a:spAutoFit/>
          </a:bodyPr>
          <a:lstStyle/>
          <a:p>
            <a:pPr algn="l">
              <a:lnSpc>
                <a:spcPts val="2700"/>
              </a:lnSpc>
            </a:pPr>
            <a:r>
              <a:rPr b="1" sz="2250" i="0" u="none">
                <a:solidFill>
                  <a:srgbClr val="0F172A"/>
                </a:solidFill>
                <a:latin typeface="Space Grotesk"/>
              </a:rPr>
              <a:t>Project Output, GitHub &amp; Conclusion</a:t>
            </a:r>
          </a:p>
        </p:txBody>
      </p:sp>
      <p:sp>
        <p:nvSpPr>
          <p:cNvPr id="13" name="TextBox 12"/>
          <p:cNvSpPr txBox="1"/>
          <p:nvPr/>
        </p:nvSpPr>
        <p:spPr>
          <a:xfrm>
            <a:off x="695325" y="3062287"/>
            <a:ext cx="11496675" cy="152400"/>
          </a:xfrm>
          <a:prstGeom prst="rect">
            <a:avLst/>
          </a:prstGeom>
          <a:noFill/>
        </p:spPr>
        <p:txBody>
          <a:bodyPr wrap="none" lIns="0" rIns="0" tIns="0" bIns="0" anchor="t">
            <a:spAutoFit/>
          </a:bodyPr>
          <a:lstStyle/>
          <a:p>
            <a:pPr algn="l"/>
            <a:r>
              <a:rPr b="0" sz="975" i="0" u="none">
                <a:solidFill>
                  <a:srgbClr val="64748B"/>
                </a:solidFill>
                <a:latin typeface="Inter"/>
              </a:rPr>
              <a:t>Contains 11 modular python scripts (`src/`), data files (`data/`), result outputs (`results/`), Streamlit web app, setup steps, and `run_all.py`.</a:t>
            </a:r>
          </a:p>
        </p:txBody>
      </p:sp>
      <p:sp>
        <p:nvSpPr>
          <p:cNvPr id="14" name="TextBox 13"/>
          <p:cNvSpPr txBox="1"/>
          <p:nvPr/>
        </p:nvSpPr>
        <p:spPr>
          <a:xfrm>
            <a:off x="410058" y="3690937"/>
            <a:ext cx="2471663" cy="190500"/>
          </a:xfrm>
          <a:prstGeom prst="rect">
            <a:avLst/>
          </a:prstGeom>
          <a:noFill/>
        </p:spPr>
        <p:txBody>
          <a:bodyPr wrap="none" lIns="0" rIns="0" tIns="0" bIns="0" anchor="t">
            <a:spAutoFit/>
          </a:bodyPr>
          <a:lstStyle/>
          <a:p>
            <a:pPr algn="ctr"/>
            <a:r>
              <a:rPr b="1" sz="975" i="0" u="none">
                <a:solidFill>
                  <a:srgbClr val="0F172A"/>
                </a:solidFill>
                <a:latin typeface="Inter"/>
              </a:rPr>
              <a:t>1000 Users</a:t>
            </a:r>
          </a:p>
        </p:txBody>
      </p:sp>
      <p:sp>
        <p:nvSpPr>
          <p:cNvPr id="15" name="TextBox 14"/>
          <p:cNvSpPr txBox="1"/>
          <p:nvPr/>
        </p:nvSpPr>
        <p:spPr>
          <a:xfrm>
            <a:off x="2635039" y="3690937"/>
            <a:ext cx="2471663" cy="190500"/>
          </a:xfrm>
          <a:prstGeom prst="rect">
            <a:avLst/>
          </a:prstGeom>
          <a:noFill/>
        </p:spPr>
        <p:txBody>
          <a:bodyPr wrap="none" lIns="0" rIns="0" tIns="0" bIns="0" anchor="t">
            <a:spAutoFit/>
          </a:bodyPr>
          <a:lstStyle/>
          <a:p>
            <a:pPr algn="ctr"/>
            <a:r>
              <a:rPr b="1" sz="975" i="0" u="none">
                <a:solidFill>
                  <a:srgbClr val="0F172A"/>
                </a:solidFill>
                <a:latin typeface="Inter"/>
              </a:rPr>
              <a:t>10 Features</a:t>
            </a:r>
          </a:p>
        </p:txBody>
      </p:sp>
      <p:sp>
        <p:nvSpPr>
          <p:cNvPr id="16" name="TextBox 15"/>
          <p:cNvSpPr txBox="1"/>
          <p:nvPr/>
        </p:nvSpPr>
        <p:spPr>
          <a:xfrm>
            <a:off x="4860019" y="3690937"/>
            <a:ext cx="2471663" cy="190500"/>
          </a:xfrm>
          <a:prstGeom prst="rect">
            <a:avLst/>
          </a:prstGeom>
          <a:noFill/>
        </p:spPr>
        <p:txBody>
          <a:bodyPr wrap="none" lIns="0" rIns="0" tIns="0" bIns="0" anchor="t">
            <a:spAutoFit/>
          </a:bodyPr>
          <a:lstStyle/>
          <a:p>
            <a:pPr algn="ctr"/>
            <a:r>
              <a:rPr b="1" sz="975" i="0" u="none">
                <a:solidFill>
                  <a:srgbClr val="2563EB"/>
                </a:solidFill>
                <a:latin typeface="Inter"/>
              </a:rPr>
              <a:t>DEC Model</a:t>
            </a:r>
          </a:p>
        </p:txBody>
      </p:sp>
      <p:sp>
        <p:nvSpPr>
          <p:cNvPr id="17" name="TextBox 16"/>
          <p:cNvSpPr txBox="1"/>
          <p:nvPr/>
        </p:nvSpPr>
        <p:spPr>
          <a:xfrm>
            <a:off x="7085000" y="3690937"/>
            <a:ext cx="2471663" cy="190500"/>
          </a:xfrm>
          <a:prstGeom prst="rect">
            <a:avLst/>
          </a:prstGeom>
          <a:noFill/>
        </p:spPr>
        <p:txBody>
          <a:bodyPr wrap="none" lIns="0" rIns="0" tIns="0" bIns="0" anchor="t">
            <a:spAutoFit/>
          </a:bodyPr>
          <a:lstStyle/>
          <a:p>
            <a:pPr algn="ctr"/>
            <a:r>
              <a:rPr b="1" sz="975" i="0" u="none">
                <a:solidFill>
                  <a:srgbClr val="0F172A"/>
                </a:solidFill>
                <a:latin typeface="Inter"/>
              </a:rPr>
              <a:t>4 User Groups</a:t>
            </a:r>
          </a:p>
        </p:txBody>
      </p:sp>
      <p:sp>
        <p:nvSpPr>
          <p:cNvPr id="18" name="TextBox 17"/>
          <p:cNvSpPr txBox="1"/>
          <p:nvPr/>
        </p:nvSpPr>
        <p:spPr>
          <a:xfrm>
            <a:off x="9309980" y="3690937"/>
            <a:ext cx="2471663" cy="190500"/>
          </a:xfrm>
          <a:prstGeom prst="rect">
            <a:avLst/>
          </a:prstGeom>
          <a:noFill/>
        </p:spPr>
        <p:txBody>
          <a:bodyPr wrap="none" lIns="0" rIns="0" tIns="0" bIns="0" anchor="t">
            <a:spAutoFit/>
          </a:bodyPr>
          <a:lstStyle/>
          <a:p>
            <a:pPr algn="ctr"/>
            <a:r>
              <a:rPr b="1" sz="975" i="0" u="none">
                <a:solidFill>
                  <a:srgbClr val="16A34A"/>
                </a:solidFill>
                <a:latin typeface="Inter"/>
              </a:rPr>
              <a:t>Dashboard App</a:t>
            </a:r>
          </a:p>
        </p:txBody>
      </p:sp>
      <p:sp>
        <p:nvSpPr>
          <p:cNvPr id="19" name="TextBox 18"/>
          <p:cNvSpPr txBox="1"/>
          <p:nvPr/>
        </p:nvSpPr>
        <p:spPr>
          <a:xfrm>
            <a:off x="704850" y="4367212"/>
            <a:ext cx="11487150" cy="180975"/>
          </a:xfrm>
          <a:prstGeom prst="rect">
            <a:avLst/>
          </a:prstGeom>
          <a:noFill/>
        </p:spPr>
        <p:txBody>
          <a:bodyPr wrap="none" lIns="0" rIns="0" tIns="0" bIns="0" anchor="t">
            <a:spAutoFit/>
          </a:bodyPr>
          <a:lstStyle/>
          <a:p>
            <a:pPr algn="l"/>
            <a:r>
              <a:rPr b="1" sz="1125" i="0" u="none">
                <a:solidFill>
                  <a:srgbClr val="0F172A"/>
                </a:solidFill>
                <a:latin typeface="Inter"/>
              </a:rPr>
              <a:t>Conclusion</a:t>
            </a:r>
          </a:p>
        </p:txBody>
      </p:sp>
      <p:sp>
        <p:nvSpPr>
          <p:cNvPr id="20" name="TextBox 19"/>
          <p:cNvSpPr txBox="1"/>
          <p:nvPr/>
        </p:nvSpPr>
        <p:spPr>
          <a:xfrm>
            <a:off x="704850" y="4586287"/>
            <a:ext cx="10877550"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Inter"/>
              </a:rPr>
              <a:t>"The project successfully groups disaster victims based on their communication needs using DEC and baseline models. These groups organize emergency requests cleanly and can serve as input data for future drone communication systems."</a:t>
            </a:r>
          </a:p>
        </p:txBody>
      </p:sp>
      <p:sp>
        <p:nvSpPr>
          <p:cNvPr id="21" name="TextBox 20"/>
          <p:cNvSpPr txBox="1"/>
          <p:nvPr/>
        </p:nvSpPr>
        <p:spPr>
          <a:xfrm>
            <a:off x="1028700" y="2652712"/>
            <a:ext cx="4705350" cy="352425"/>
          </a:xfrm>
          <a:prstGeom prst="rect">
            <a:avLst/>
          </a:prstGeom>
          <a:noFill/>
        </p:spPr>
        <p:txBody>
          <a:bodyPr wrap="square" lIns="0" rIns="0" tIns="0" bIns="0" anchor="t">
            <a:spAutoFit/>
          </a:bodyPr>
          <a:lstStyle/>
          <a:p>
            <a:pPr algn="l"/>
            <a:r>
              <a:rPr b="1" sz="1125" i="0" u="none">
                <a:solidFill>
                  <a:srgbClr val="0F172A"/>
                </a:solidFill>
                <a:latin typeface="Inter"/>
              </a:rPr>
              <a:t>GitHub Code Repository</a:t>
            </a:r>
          </a:p>
        </p:txBody>
      </p:sp>
      <p:sp>
        <p:nvSpPr>
          <p:cNvPr id="22" name="TextBox 21"/>
          <p:cNvSpPr txBox="1"/>
          <p:nvPr/>
        </p:nvSpPr>
        <p:spPr>
          <a:xfrm>
            <a:off x="1028700" y="2843212"/>
            <a:ext cx="5762625" cy="161925"/>
          </a:xfrm>
          <a:prstGeom prst="rect">
            <a:avLst/>
          </a:prstGeom>
          <a:noFill/>
        </p:spPr>
        <p:txBody>
          <a:bodyPr wrap="none" lIns="0" rIns="0" tIns="0" bIns="0" anchor="t">
            <a:spAutoFit/>
          </a:bodyPr>
          <a:lstStyle/>
          <a:p>
            <a:pPr algn="l"/>
            <a:r>
              <a:rPr b="0" sz="1050" i="0" u="none">
                <a:solidFill>
                  <a:srgbClr val="2563EB"/>
                </a:solidFill>
                <a:latin typeface="Inter"/>
              </a:rPr>
              <a:t>https://github.com/chandu235363/semantic-uav-disaster-communication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