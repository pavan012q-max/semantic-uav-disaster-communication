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guide. This project groups disaster-affected users by what they are asking for and how urgent it is, so that a future UAV communication system can serve them in a sensible order. The whole report is built on an unsupervised pipeline: K-Means and DBSCAN as baselines, and Deep Embedded Clustering as the proposed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Floods and earthquakes damage cellular towers and power, so networks fail or get overloaded. People then ask for different things: general information, medical help, sharing a location, or rescue. A UAV can act as a temporary base station, but its capacity is limited, so we first need to organise users into meaningful groups. Our objectives: prepare the data, compare three clustering methods, interpret the four groups, and provide a prediction workflow with a dashboard. We do not claim a live drone network or improved survival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1,000 users and eight raw columns. user_id is only an identifier, so it is removed. The six numerical features (x and y coordinates, channel condition, emergency priority, delay requirement, semantic similarity) are standardized to mean 0 and standard deviation 1, so no feature dominates distance calculations because of its units. The requested data type is categorical, so it is one-hot encoded into General, Medical, Location and Rescue columns. That gives 6 + 4 = 10 features per user. Be upfront that all 1,000 records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four stages: prepare the data, cluster it, evaluate the results, and present them. Preprocessing and clustering are modular Python scripts under a src folder, with data and results folders alongside. TensorFlow and Keras implement the autoencoder and DEC, scikit-learn provides preprocessing plus the K-Means and DBSCAN baselines, and Streamlit gives the dashboard. run_all.py runs everything in one go. Source code is on GitHub (link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 is our proposed method. An autoencoder compresses the ten input features through a 32-neuron layer and a 16-neuron layer into a five-dimensional latent representation. K-Means initializes four cluster centers in that latent space. DEC then computes soft assignments (how likely each user belongs to each cluster), builds a sharper target distribution that strengthens confident assignments, and refines the assignments by minimizing the KL divergence between the two. The aim is a representation where cluster structure is clearer than in the raw input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methods produced four clusters on the same 1,000 synthetic users. Silhouette is 0.6320 and Davies–Bouldin is 0.5501 for every method, and Calinski–Harabasz differs only in the seventh digit (2630.6143 versus 2630.6144). A silhouette of 0.6320 suggests reasonably separated clusters, but the scores are effectively tied, so we cannot claim DEC beats the baselines. The report itself lists investigating the near-identical values as future work. DBSCAN ran a grid search over eps and min_samples, but the winning pair was not stored in the saved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Figures 6.1 to 6.3 from the report. K-Means and DBSCAN show four clean, separated regions in the x/y coordinate plane. The DEC plot (seed 42) shows the learned cluster labels for the displayed sample, and some groups overlap more in this projection. The report is explicit that this visual alone does not establish overall model quality. If asked why the DEC plot looks different from the first two: it is a different displayed sample and a different labelling, and the clusters are defined over all ten features, not just x and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 IDs are just numbers, so we named each group after its dominant requested data type and its average characteristics. General: low priority (1.21) and the longest allowed delay (5.95 s). Medical: high priority (2.81) and the shortest delay (0.98 s). Location: medium priority (2.02) and medium delay (3.00 s). Rescue: high priority (2.81) and urgent delay (1.54 s), slightly more tolerant than Medical. Group sizes are close: 253, 253, 256 and 238 users. These profiles describe synthetic records and should be validated with emergency-response experts before any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limits; it makes the review stronger. First, the data is synthetic, so the profiles are not validated representations of real disaster-affected people. Second, the three methods are effectively tied, so the results support the usefulness of organizing requests but do not prove DEC outperforms simpler clustering. Third, the scores depend on scaling, settings and initialization, and the saved metrics do not record which DBSCAN parameters won. Fourth, these are internal clustering scores and not a test of UAV network performance. Privacy also matters in a real deployment: location and emergency information are sensitive and need access limits and human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we built an unsupervised pipeline that prepares ten features for 1,000 users, runs K-Means, DBSCAN and DEC, and interprets four groups: General, Medical, Location and Rescue. Medical and Rescue are the most urgent. The honest result is that the three methods score almost the same, so we have not shown DEC to be better. Next steps are real data, systematic tuning and stability checks across seeds, expert validation of the groups, a UAV network simulator to measure latency, coverage and capacity, and privacy and human-oversight requirements before any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226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226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226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226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14736F"/>
                </a:solidFill>
                <a:latin typeface="IBM Plex Sans" pitchFamily="34" charset="0"/>
                <a:ea typeface="IBM Plex Sans" pitchFamily="34" charset="-122"/>
                <a:cs typeface="IBM Plex Sans" pitchFamily="34" charset="-120"/>
              </a:rPr>
              <a:t>MACHINE LEARNING · 25SC2107E · FINAL REVIEW</a:t>
            </a:r>
            <a:endParaRPr lang="en-US" sz="1300" dirty="0"/>
          </a:p>
        </p:txBody>
      </p:sp>
      <p:sp>
        <p:nvSpPr>
          <p:cNvPr id="3" name="Shape 1"/>
          <p:cNvSpPr/>
          <p:nvPr/>
        </p:nvSpPr>
        <p:spPr>
          <a:xfrm>
            <a:off x="812800" y="1777286"/>
            <a:ext cx="762000" cy="50800"/>
          </a:xfrm>
          <a:prstGeom prst="rect">
            <a:avLst/>
          </a:prstGeom>
          <a:solidFill>
            <a:srgbClr val="D4922B"/>
          </a:solidFill>
          <a:ln/>
        </p:spPr>
      </p:sp>
      <p:sp>
        <p:nvSpPr>
          <p:cNvPr id="4" name="Text 2"/>
          <p:cNvSpPr/>
          <p:nvPr>
            <p:ph type="title"/>
          </p:nvPr>
        </p:nvSpPr>
        <p:spPr>
          <a:xfrm>
            <a:off x="812800" y="2082086"/>
            <a:ext cx="10883392" cy="2000409"/>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12263A"/>
                </a:solidFill>
                <a:latin typeface="EB Garamond" pitchFamily="18" charset="0"/>
                <a:ea typeface="EB Garamond" pitchFamily="18" charset="-122"/>
                <a:cs typeface="EB Garamond" pitchFamily="18" charset="-120"/>
              </a:rPr>
              <a:t>Deep Embedded Clustering-Based Semantic User Grouping for UAV-Assisted Disaster Communication</a:t>
            </a:r>
            <a:endParaRPr lang="en-US" sz="4800" dirty="0"/>
          </a:p>
        </p:txBody>
      </p:sp>
      <p:sp>
        <p:nvSpPr>
          <p:cNvPr id="5" name="Text 3"/>
          <p:cNvSpPr/>
          <p:nvPr/>
        </p:nvSpPr>
        <p:spPr>
          <a:xfrm>
            <a:off x="812800" y="4808220"/>
            <a:ext cx="536321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TEAM</a:t>
            </a:r>
            <a:endParaRPr lang="en-US" sz="1300" dirty="0"/>
          </a:p>
        </p:txBody>
      </p:sp>
      <p:sp>
        <p:nvSpPr>
          <p:cNvPr id="6" name="Text 4"/>
          <p:cNvSpPr/>
          <p:nvPr/>
        </p:nvSpPr>
        <p:spPr>
          <a:xfrm>
            <a:off x="812800" y="5090160"/>
            <a:ext cx="53632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Chandrakanth </a:t>
            </a:r>
            <a:r>
              <a:rPr lang="en-US" sz="1600" dirty="0">
                <a:solidFill>
                  <a:srgbClr val="5A6B78"/>
                </a:solidFill>
                <a:latin typeface="IBM Plex Sans" pitchFamily="34" charset="0"/>
                <a:ea typeface="IBM Plex Sans" pitchFamily="34" charset="-122"/>
                <a:cs typeface="IBM Plex Sans" pitchFamily="34" charset="-120"/>
              </a:rPr>
              <a:t>2520040098</a:t>
            </a:r>
            <a:endParaRPr lang="en-US" sz="1600" dirty="0"/>
          </a:p>
        </p:txBody>
      </p:sp>
      <p:sp>
        <p:nvSpPr>
          <p:cNvPr id="7" name="Text 5"/>
          <p:cNvSpPr/>
          <p:nvPr/>
        </p:nvSpPr>
        <p:spPr>
          <a:xfrm>
            <a:off x="812800" y="5425440"/>
            <a:ext cx="53632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Pavan Karthik </a:t>
            </a:r>
            <a:r>
              <a:rPr lang="en-US" sz="1600" dirty="0">
                <a:solidFill>
                  <a:srgbClr val="5A6B78"/>
                </a:solidFill>
                <a:latin typeface="IBM Plex Sans" pitchFamily="34" charset="0"/>
                <a:ea typeface="IBM Plex Sans" pitchFamily="34" charset="-122"/>
                <a:cs typeface="IBM Plex Sans" pitchFamily="34" charset="-120"/>
              </a:rPr>
              <a:t>2520040071</a:t>
            </a:r>
            <a:endParaRPr lang="en-US" sz="1600" dirty="0"/>
          </a:p>
        </p:txBody>
      </p:sp>
      <p:sp>
        <p:nvSpPr>
          <p:cNvPr id="8" name="Text 6"/>
          <p:cNvSpPr/>
          <p:nvPr/>
        </p:nvSpPr>
        <p:spPr>
          <a:xfrm>
            <a:off x="812800" y="5760720"/>
            <a:ext cx="536321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Karthik </a:t>
            </a:r>
            <a:r>
              <a:rPr lang="en-US" sz="1600" dirty="0">
                <a:solidFill>
                  <a:srgbClr val="5A6B78"/>
                </a:solidFill>
                <a:latin typeface="IBM Plex Sans" pitchFamily="34" charset="0"/>
                <a:ea typeface="IBM Plex Sans" pitchFamily="34" charset="-122"/>
                <a:cs typeface="IBM Plex Sans" pitchFamily="34" charset="-120"/>
              </a:rPr>
              <a:t>2520040047</a:t>
            </a:r>
            <a:endParaRPr lang="en-US" sz="1600" dirty="0"/>
          </a:p>
        </p:txBody>
      </p:sp>
      <p:sp>
        <p:nvSpPr>
          <p:cNvPr id="9" name="Text 7"/>
          <p:cNvSpPr/>
          <p:nvPr/>
        </p:nvSpPr>
        <p:spPr>
          <a:xfrm>
            <a:off x="6426200" y="4790440"/>
            <a:ext cx="510159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UNDER THE GUIDANCE OF</a:t>
            </a:r>
            <a:endParaRPr lang="en-US" sz="1300" dirty="0"/>
          </a:p>
        </p:txBody>
      </p:sp>
      <p:sp>
        <p:nvSpPr>
          <p:cNvPr id="10" name="Text 8"/>
          <p:cNvSpPr/>
          <p:nvPr/>
        </p:nvSpPr>
        <p:spPr>
          <a:xfrm>
            <a:off x="6426200" y="5072380"/>
            <a:ext cx="510159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Mr. N Lava Prasad</a:t>
            </a:r>
            <a:endParaRPr lang="en-US" sz="2000" dirty="0"/>
          </a:p>
        </p:txBody>
      </p:sp>
      <p:sp>
        <p:nvSpPr>
          <p:cNvPr id="11" name="Text 9"/>
          <p:cNvSpPr/>
          <p:nvPr/>
        </p:nvSpPr>
        <p:spPr>
          <a:xfrm>
            <a:off x="6426200" y="5478780"/>
            <a:ext cx="510159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Assistant Professor, Department of ECE</a:t>
            </a:r>
            <a:endParaRPr lang="en-US" sz="1600" dirty="0"/>
          </a:p>
        </p:txBody>
      </p:sp>
      <p:sp>
        <p:nvSpPr>
          <p:cNvPr id="12" name="Text 10"/>
          <p:cNvSpPr/>
          <p:nvPr/>
        </p:nvSpPr>
        <p:spPr>
          <a:xfrm>
            <a:off x="6426200" y="5814060"/>
            <a:ext cx="51015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KL University · A.Y. 2026–27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Problem and motivation</a:t>
            </a:r>
            <a:endParaRPr lang="en-US" sz="3200" dirty="0"/>
          </a:p>
        </p:txBody>
      </p:sp>
      <p:sp>
        <p:nvSpPr>
          <p:cNvPr id="3" name="Text 1"/>
          <p:cNvSpPr/>
          <p:nvPr/>
        </p:nvSpPr>
        <p:spPr>
          <a:xfrm>
            <a:off x="812800" y="1513840"/>
            <a:ext cx="5180076" cy="977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12263A"/>
                </a:solidFill>
                <a:latin typeface="EB Garamond" pitchFamily="18" charset="0"/>
                <a:ea typeface="EB Garamond" pitchFamily="18" charset="-122"/>
                <a:cs typeface="EB Garamond" pitchFamily="18" charset="-120"/>
              </a:rPr>
              <a:t>When a disaster takes down ground networks, limited capacity should not treat every request the same way.</a:t>
            </a:r>
            <a:endParaRPr lang="en-US" sz="2000" dirty="0"/>
          </a:p>
        </p:txBody>
      </p:sp>
      <p:sp>
        <p:nvSpPr>
          <p:cNvPr id="4" name="Shape 2"/>
          <p:cNvSpPr/>
          <p:nvPr/>
        </p:nvSpPr>
        <p:spPr>
          <a:xfrm>
            <a:off x="812800" y="2720340"/>
            <a:ext cx="2438400" cy="845820"/>
          </a:xfrm>
          <a:prstGeom prst="roundRect">
            <a:avLst>
              <a:gd name="adj" fmla="val 9009"/>
            </a:avLst>
          </a:prstGeom>
          <a:solidFill>
            <a:srgbClr val="F4F7F6"/>
          </a:solidFill>
          <a:ln/>
        </p:spPr>
      </p:sp>
      <p:sp>
        <p:nvSpPr>
          <p:cNvPr id="5" name="Shape 3"/>
          <p:cNvSpPr/>
          <p:nvPr/>
        </p:nvSpPr>
        <p:spPr>
          <a:xfrm>
            <a:off x="812800" y="2720340"/>
            <a:ext cx="2438400" cy="845820"/>
          </a:xfrm>
          <a:custGeom>
            <a:avLst/>
            <a:gdLst/>
            <a:ahLst/>
            <a:cxnLst/>
            <a:rect l="l" t="t" r="r" b="b"/>
            <a:pathLst>
              <a:path w="2438400" h="845820">
                <a:moveTo>
                  <a:pt x="76200" y="845820"/>
                </a:moveTo>
                <a:lnTo>
                  <a:pt x="76200" y="845820"/>
                </a:lnTo>
                <a:arcTo hR="76200" wR="76200" stAng="5400000" swAng="5400000"/>
                <a:lnTo>
                  <a:pt x="0" y="76200"/>
                </a:lnTo>
                <a:arcTo hR="76200" wR="76200" stAng="10800000" swAng="5400000"/>
                <a:lnTo>
                  <a:pt x="76200" y="0"/>
                </a:lnTo>
                <a:arcTo hR="76200" wR="25400" stAng="16200000" swAng="-5400000"/>
                <a:lnTo>
                  <a:pt x="50800" y="769620"/>
                </a:lnTo>
                <a:arcTo hR="76200" wR="25400" stAng="10800000" swAng="-5400000"/>
                <a:close/>
              </a:path>
            </a:pathLst>
          </a:custGeom>
          <a:solidFill>
            <a:srgbClr val="3F7FA6"/>
          </a:solidFill>
          <a:ln/>
        </p:spPr>
      </p:sp>
      <p:sp>
        <p:nvSpPr>
          <p:cNvPr id="6" name="Text 4"/>
          <p:cNvSpPr/>
          <p:nvPr/>
        </p:nvSpPr>
        <p:spPr>
          <a:xfrm>
            <a:off x="1041400" y="2872740"/>
            <a:ext cx="20929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IBM Plex Sans" pitchFamily="34" charset="0"/>
                <a:ea typeface="IBM Plex Sans" pitchFamily="34" charset="-122"/>
                <a:cs typeface="IBM Plex Sans" pitchFamily="34" charset="-120"/>
              </a:rPr>
              <a:t>General</a:t>
            </a:r>
            <a:endParaRPr lang="en-US" sz="1600" dirty="0"/>
          </a:p>
        </p:txBody>
      </p:sp>
      <p:sp>
        <p:nvSpPr>
          <p:cNvPr id="7" name="Text 5"/>
          <p:cNvSpPr/>
          <p:nvPr/>
        </p:nvSpPr>
        <p:spPr>
          <a:xfrm>
            <a:off x="1041400" y="3182620"/>
            <a:ext cx="20929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General information</a:t>
            </a:r>
            <a:endParaRPr lang="en-US" sz="1300" dirty="0"/>
          </a:p>
        </p:txBody>
      </p:sp>
      <p:sp>
        <p:nvSpPr>
          <p:cNvPr id="8" name="Shape 6"/>
          <p:cNvSpPr/>
          <p:nvPr/>
        </p:nvSpPr>
        <p:spPr>
          <a:xfrm>
            <a:off x="3403600" y="2720340"/>
            <a:ext cx="2438400" cy="845820"/>
          </a:xfrm>
          <a:prstGeom prst="roundRect">
            <a:avLst>
              <a:gd name="adj" fmla="val 9009"/>
            </a:avLst>
          </a:prstGeom>
          <a:solidFill>
            <a:srgbClr val="F4F7F6"/>
          </a:solidFill>
          <a:ln/>
        </p:spPr>
      </p:sp>
      <p:sp>
        <p:nvSpPr>
          <p:cNvPr id="9" name="Shape 7"/>
          <p:cNvSpPr/>
          <p:nvPr/>
        </p:nvSpPr>
        <p:spPr>
          <a:xfrm>
            <a:off x="3403600" y="2720340"/>
            <a:ext cx="2438400" cy="845820"/>
          </a:xfrm>
          <a:custGeom>
            <a:avLst/>
            <a:gdLst/>
            <a:ahLst/>
            <a:cxnLst/>
            <a:rect l="l" t="t" r="r" b="b"/>
            <a:pathLst>
              <a:path w="2438400" h="845820">
                <a:moveTo>
                  <a:pt x="76200" y="845820"/>
                </a:moveTo>
                <a:lnTo>
                  <a:pt x="76200" y="845820"/>
                </a:lnTo>
                <a:arcTo hR="76200" wR="76200" stAng="5400000" swAng="5400000"/>
                <a:lnTo>
                  <a:pt x="0" y="76200"/>
                </a:lnTo>
                <a:arcTo hR="76200" wR="76200" stAng="10800000" swAng="5400000"/>
                <a:lnTo>
                  <a:pt x="76200" y="0"/>
                </a:lnTo>
                <a:arcTo hR="76200" wR="25400" stAng="16200000" swAng="-5400000"/>
                <a:lnTo>
                  <a:pt x="50800" y="769620"/>
                </a:lnTo>
                <a:arcTo hR="76200" wR="25400" stAng="10800000" swAng="-5400000"/>
                <a:close/>
              </a:path>
            </a:pathLst>
          </a:custGeom>
          <a:solidFill>
            <a:srgbClr val="C4503F"/>
          </a:solidFill>
          <a:ln/>
        </p:spPr>
      </p:sp>
      <p:sp>
        <p:nvSpPr>
          <p:cNvPr id="10" name="Text 8"/>
          <p:cNvSpPr/>
          <p:nvPr/>
        </p:nvSpPr>
        <p:spPr>
          <a:xfrm>
            <a:off x="3632200" y="2872740"/>
            <a:ext cx="20929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IBM Plex Sans" pitchFamily="34" charset="0"/>
                <a:ea typeface="IBM Plex Sans" pitchFamily="34" charset="-122"/>
                <a:cs typeface="IBM Plex Sans" pitchFamily="34" charset="-120"/>
              </a:rPr>
              <a:t>Medical</a:t>
            </a:r>
            <a:endParaRPr lang="en-US" sz="1600" dirty="0"/>
          </a:p>
        </p:txBody>
      </p:sp>
      <p:sp>
        <p:nvSpPr>
          <p:cNvPr id="11" name="Text 9"/>
          <p:cNvSpPr/>
          <p:nvPr/>
        </p:nvSpPr>
        <p:spPr>
          <a:xfrm>
            <a:off x="3632200" y="3182620"/>
            <a:ext cx="20929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Medical assistance</a:t>
            </a:r>
            <a:endParaRPr lang="en-US" sz="1300" dirty="0"/>
          </a:p>
        </p:txBody>
      </p:sp>
      <p:sp>
        <p:nvSpPr>
          <p:cNvPr id="12" name="Shape 10"/>
          <p:cNvSpPr/>
          <p:nvPr/>
        </p:nvSpPr>
        <p:spPr>
          <a:xfrm>
            <a:off x="812800" y="3718560"/>
            <a:ext cx="2438400" cy="845820"/>
          </a:xfrm>
          <a:prstGeom prst="roundRect">
            <a:avLst>
              <a:gd name="adj" fmla="val 9009"/>
            </a:avLst>
          </a:prstGeom>
          <a:solidFill>
            <a:srgbClr val="F4F7F6"/>
          </a:solidFill>
          <a:ln/>
        </p:spPr>
      </p:sp>
      <p:sp>
        <p:nvSpPr>
          <p:cNvPr id="13" name="Shape 11"/>
          <p:cNvSpPr/>
          <p:nvPr/>
        </p:nvSpPr>
        <p:spPr>
          <a:xfrm>
            <a:off x="812800" y="3718560"/>
            <a:ext cx="2438400" cy="845820"/>
          </a:xfrm>
          <a:custGeom>
            <a:avLst/>
            <a:gdLst/>
            <a:ahLst/>
            <a:cxnLst/>
            <a:rect l="l" t="t" r="r" b="b"/>
            <a:pathLst>
              <a:path w="2438400" h="845820">
                <a:moveTo>
                  <a:pt x="76200" y="845820"/>
                </a:moveTo>
                <a:lnTo>
                  <a:pt x="76200" y="845820"/>
                </a:lnTo>
                <a:arcTo hR="76200" wR="76200" stAng="5400000" swAng="5400000"/>
                <a:lnTo>
                  <a:pt x="0" y="76200"/>
                </a:lnTo>
                <a:arcTo hR="76200" wR="76200" stAng="10800000" swAng="5400000"/>
                <a:lnTo>
                  <a:pt x="76200" y="0"/>
                </a:lnTo>
                <a:arcTo hR="76200" wR="25400" stAng="16200000" swAng="-5400000"/>
                <a:lnTo>
                  <a:pt x="50800" y="769620"/>
                </a:lnTo>
                <a:arcTo hR="76200" wR="25400" stAng="10800000" swAng="-5400000"/>
                <a:close/>
              </a:path>
            </a:pathLst>
          </a:custGeom>
          <a:solidFill>
            <a:srgbClr val="1B8A86"/>
          </a:solidFill>
          <a:ln/>
        </p:spPr>
      </p:sp>
      <p:sp>
        <p:nvSpPr>
          <p:cNvPr id="14" name="Text 12"/>
          <p:cNvSpPr/>
          <p:nvPr/>
        </p:nvSpPr>
        <p:spPr>
          <a:xfrm>
            <a:off x="1041400" y="3870960"/>
            <a:ext cx="20929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IBM Plex Sans" pitchFamily="34" charset="0"/>
                <a:ea typeface="IBM Plex Sans" pitchFamily="34" charset="-122"/>
                <a:cs typeface="IBM Plex Sans" pitchFamily="34" charset="-120"/>
              </a:rPr>
              <a:t>Location</a:t>
            </a:r>
            <a:endParaRPr lang="en-US" sz="1600" dirty="0"/>
          </a:p>
        </p:txBody>
      </p:sp>
      <p:sp>
        <p:nvSpPr>
          <p:cNvPr id="15" name="Text 13"/>
          <p:cNvSpPr/>
          <p:nvPr/>
        </p:nvSpPr>
        <p:spPr>
          <a:xfrm>
            <a:off x="1041400" y="4180840"/>
            <a:ext cx="20929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Location sharing</a:t>
            </a:r>
            <a:endParaRPr lang="en-US" sz="1300" dirty="0"/>
          </a:p>
        </p:txBody>
      </p:sp>
      <p:sp>
        <p:nvSpPr>
          <p:cNvPr id="16" name="Shape 14"/>
          <p:cNvSpPr/>
          <p:nvPr/>
        </p:nvSpPr>
        <p:spPr>
          <a:xfrm>
            <a:off x="3403600" y="3718560"/>
            <a:ext cx="2438400" cy="845820"/>
          </a:xfrm>
          <a:prstGeom prst="roundRect">
            <a:avLst>
              <a:gd name="adj" fmla="val 9009"/>
            </a:avLst>
          </a:prstGeom>
          <a:solidFill>
            <a:srgbClr val="F4F7F6"/>
          </a:solidFill>
          <a:ln/>
        </p:spPr>
      </p:sp>
      <p:sp>
        <p:nvSpPr>
          <p:cNvPr id="17" name="Shape 15"/>
          <p:cNvSpPr/>
          <p:nvPr/>
        </p:nvSpPr>
        <p:spPr>
          <a:xfrm>
            <a:off x="3403600" y="3718560"/>
            <a:ext cx="2438400" cy="845820"/>
          </a:xfrm>
          <a:custGeom>
            <a:avLst/>
            <a:gdLst/>
            <a:ahLst/>
            <a:cxnLst/>
            <a:rect l="l" t="t" r="r" b="b"/>
            <a:pathLst>
              <a:path w="2438400" h="845820">
                <a:moveTo>
                  <a:pt x="76200" y="845820"/>
                </a:moveTo>
                <a:lnTo>
                  <a:pt x="76200" y="845820"/>
                </a:lnTo>
                <a:arcTo hR="76200" wR="76200" stAng="5400000" swAng="5400000"/>
                <a:lnTo>
                  <a:pt x="0" y="76200"/>
                </a:lnTo>
                <a:arcTo hR="76200" wR="76200" stAng="10800000" swAng="5400000"/>
                <a:lnTo>
                  <a:pt x="76200" y="0"/>
                </a:lnTo>
                <a:arcTo hR="76200" wR="25400" stAng="16200000" swAng="-5400000"/>
                <a:lnTo>
                  <a:pt x="50800" y="769620"/>
                </a:lnTo>
                <a:arcTo hR="76200" wR="25400" stAng="10800000" swAng="-5400000"/>
                <a:close/>
              </a:path>
            </a:pathLst>
          </a:custGeom>
          <a:solidFill>
            <a:srgbClr val="D4922B"/>
          </a:solidFill>
          <a:ln/>
        </p:spPr>
      </p:sp>
      <p:sp>
        <p:nvSpPr>
          <p:cNvPr id="18" name="Text 16"/>
          <p:cNvSpPr/>
          <p:nvPr/>
        </p:nvSpPr>
        <p:spPr>
          <a:xfrm>
            <a:off x="3632200" y="3870960"/>
            <a:ext cx="20929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IBM Plex Sans" pitchFamily="34" charset="0"/>
                <a:ea typeface="IBM Plex Sans" pitchFamily="34" charset="-122"/>
                <a:cs typeface="IBM Plex Sans" pitchFamily="34" charset="-120"/>
              </a:rPr>
              <a:t>Rescue</a:t>
            </a:r>
            <a:endParaRPr lang="en-US" sz="1600" dirty="0"/>
          </a:p>
        </p:txBody>
      </p:sp>
      <p:sp>
        <p:nvSpPr>
          <p:cNvPr id="19" name="Text 17"/>
          <p:cNvSpPr/>
          <p:nvPr/>
        </p:nvSpPr>
        <p:spPr>
          <a:xfrm>
            <a:off x="3632200" y="4180840"/>
            <a:ext cx="20929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Rescue coordination</a:t>
            </a:r>
            <a:endParaRPr lang="en-US" sz="1300" dirty="0"/>
          </a:p>
        </p:txBody>
      </p:sp>
      <p:sp>
        <p:nvSpPr>
          <p:cNvPr id="20" name="Text 18"/>
          <p:cNvSpPr/>
          <p:nvPr/>
        </p:nvSpPr>
        <p:spPr>
          <a:xfrm>
            <a:off x="6350000" y="1513840"/>
            <a:ext cx="5180076"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OBJECTIVES</a:t>
            </a:r>
            <a:endParaRPr lang="en-US" sz="1300" dirty="0"/>
          </a:p>
        </p:txBody>
      </p:sp>
      <p:sp>
        <p:nvSpPr>
          <p:cNvPr id="21" name="Text 19"/>
          <p:cNvSpPr/>
          <p:nvPr/>
        </p:nvSpPr>
        <p:spPr>
          <a:xfrm>
            <a:off x="6350000" y="1922780"/>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736F"/>
                </a:solidFill>
                <a:latin typeface="EB Garamond" pitchFamily="18" charset="0"/>
                <a:ea typeface="EB Garamond" pitchFamily="18" charset="-122"/>
                <a:cs typeface="EB Garamond" pitchFamily="18" charset="-120"/>
              </a:rPr>
              <a:t>1</a:t>
            </a:r>
            <a:endParaRPr lang="en-US" sz="2000" dirty="0"/>
          </a:p>
        </p:txBody>
      </p:sp>
      <p:sp>
        <p:nvSpPr>
          <p:cNvPr id="22" name="Text 20"/>
          <p:cNvSpPr/>
          <p:nvPr/>
        </p:nvSpPr>
        <p:spPr>
          <a:xfrm>
            <a:off x="6807200" y="1922780"/>
            <a:ext cx="47091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Prepare 1,000 user records as a ten-feature input matrix</a:t>
            </a:r>
            <a:endParaRPr lang="en-US" sz="1600" dirty="0"/>
          </a:p>
        </p:txBody>
      </p:sp>
      <p:sp>
        <p:nvSpPr>
          <p:cNvPr id="23" name="Text 21"/>
          <p:cNvSpPr/>
          <p:nvPr/>
        </p:nvSpPr>
        <p:spPr>
          <a:xfrm>
            <a:off x="6350000" y="2669540"/>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736F"/>
                </a:solidFill>
                <a:latin typeface="EB Garamond" pitchFamily="18" charset="0"/>
                <a:ea typeface="EB Garamond" pitchFamily="18" charset="-122"/>
                <a:cs typeface="EB Garamond" pitchFamily="18" charset="-120"/>
              </a:rPr>
              <a:t>2</a:t>
            </a:r>
            <a:endParaRPr lang="en-US" sz="2000" dirty="0"/>
          </a:p>
        </p:txBody>
      </p:sp>
      <p:sp>
        <p:nvSpPr>
          <p:cNvPr id="24" name="Text 22"/>
          <p:cNvSpPr/>
          <p:nvPr/>
        </p:nvSpPr>
        <p:spPr>
          <a:xfrm>
            <a:off x="6807200" y="2669540"/>
            <a:ext cx="47091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Compare K-Means, DBSCAN and Deep Embedded Clustering</a:t>
            </a:r>
            <a:endParaRPr lang="en-US" sz="1600" dirty="0"/>
          </a:p>
        </p:txBody>
      </p:sp>
      <p:sp>
        <p:nvSpPr>
          <p:cNvPr id="25" name="Text 23"/>
          <p:cNvSpPr/>
          <p:nvPr/>
        </p:nvSpPr>
        <p:spPr>
          <a:xfrm>
            <a:off x="6350000" y="3416300"/>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736F"/>
                </a:solidFill>
                <a:latin typeface="EB Garamond" pitchFamily="18" charset="0"/>
                <a:ea typeface="EB Garamond" pitchFamily="18" charset="-122"/>
                <a:cs typeface="EB Garamond" pitchFamily="18" charset="-120"/>
              </a:rPr>
              <a:t>3</a:t>
            </a:r>
            <a:endParaRPr lang="en-US" sz="2000" dirty="0"/>
          </a:p>
        </p:txBody>
      </p:sp>
      <p:sp>
        <p:nvSpPr>
          <p:cNvPr id="26" name="Text 24"/>
          <p:cNvSpPr/>
          <p:nvPr/>
        </p:nvSpPr>
        <p:spPr>
          <a:xfrm>
            <a:off x="6807200" y="3416300"/>
            <a:ext cx="47091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Interpret four groups from their average characteristics</a:t>
            </a:r>
            <a:endParaRPr lang="en-US" sz="1600" dirty="0"/>
          </a:p>
        </p:txBody>
      </p:sp>
      <p:sp>
        <p:nvSpPr>
          <p:cNvPr id="27" name="Text 25"/>
          <p:cNvSpPr/>
          <p:nvPr/>
        </p:nvSpPr>
        <p:spPr>
          <a:xfrm>
            <a:off x="6350000" y="4163060"/>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736F"/>
                </a:solidFill>
                <a:latin typeface="EB Garamond" pitchFamily="18" charset="0"/>
                <a:ea typeface="EB Garamond" pitchFamily="18" charset="-122"/>
                <a:cs typeface="EB Garamond" pitchFamily="18" charset="-120"/>
              </a:rPr>
              <a:t>4</a:t>
            </a:r>
            <a:endParaRPr lang="en-US" sz="2000" dirty="0"/>
          </a:p>
        </p:txBody>
      </p:sp>
      <p:sp>
        <p:nvSpPr>
          <p:cNvPr id="28" name="Text 26"/>
          <p:cNvSpPr/>
          <p:nvPr/>
        </p:nvSpPr>
        <p:spPr>
          <a:xfrm>
            <a:off x="6807200" y="4163060"/>
            <a:ext cx="47091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Provide new-user group prediction and a Streamlit dashboard</a:t>
            </a:r>
            <a:endParaRPr lang="en-US" sz="1600" dirty="0"/>
          </a:p>
        </p:txBody>
      </p:sp>
      <p:sp>
        <p:nvSpPr>
          <p:cNvPr id="29" name="Text 27"/>
          <p:cNvSpPr/>
          <p:nvPr/>
        </p:nvSpPr>
        <p:spPr>
          <a:xfrm>
            <a:off x="812800" y="6220461"/>
            <a:ext cx="78486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Deep Embedded Clustering · UAV disaster communication</a:t>
            </a:r>
            <a:endParaRPr lang="en-US" sz="1300" dirty="0"/>
          </a:p>
        </p:txBody>
      </p:sp>
      <p:sp>
        <p:nvSpPr>
          <p:cNvPr id="30" name="Text 28"/>
          <p:cNvSpPr/>
          <p:nvPr/>
        </p:nvSpPr>
        <p:spPr>
          <a:xfrm>
            <a:off x="10058400" y="6220461"/>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Dataset and feature preparation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24001"/>
          <a:ext cx="6339840" cy="3556000"/>
        </p:xfrm>
        <a:graphic>
          <a:graphicData uri="http://schemas.openxmlformats.org/drawingml/2006/table">
            <a:tbl>
              <a:tblPr/>
              <a:tblGrid>
                <a:gridCol w="2409139"/>
                <a:gridCol w="1521562"/>
                <a:gridCol w="2409139"/>
              </a:tblGrid>
              <a:tr h="444500">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Field</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Preparation</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r>
              <a:tr h="4445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user_id</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Identifier</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Dropped</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445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x_coordinate, y_coordinate</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Numerical</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Standardized</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r>
              <a:tr h="4445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channel_condition</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Numerical</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Standardized</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445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emergency_priority</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Numerical</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Standardized</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r>
              <a:tr h="4445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delay_requirement</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Numerical</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Standardized</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445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semantic_similarity</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Numerical</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Standardized</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r>
              <a:tr h="4445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requested_data_type</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Categorical</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One-hot (4 columns)</a:t>
                      </a:r>
                      <a:endParaRPr lang="en-US" sz="1300" dirty="0">
                        <a:latin typeface="IBM Plex Sans" charset="0"/>
                        <a:ea typeface="IBM Plex Sans" charset="0"/>
                        <a:cs typeface="IBM Plex Sans"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Shape 1"/>
          <p:cNvSpPr/>
          <p:nvPr/>
        </p:nvSpPr>
        <p:spPr>
          <a:xfrm>
            <a:off x="7569200" y="1513841"/>
            <a:ext cx="3810000" cy="1696720"/>
          </a:xfrm>
          <a:prstGeom prst="roundRect">
            <a:avLst>
              <a:gd name="adj" fmla="val 5988"/>
            </a:avLst>
          </a:prstGeom>
          <a:solidFill>
            <a:srgbClr val="F4F7F6"/>
          </a:solidFill>
          <a:ln/>
        </p:spPr>
      </p:sp>
      <p:sp>
        <p:nvSpPr>
          <p:cNvPr id="5" name="Shape 2"/>
          <p:cNvSpPr/>
          <p:nvPr/>
        </p:nvSpPr>
        <p:spPr>
          <a:xfrm>
            <a:off x="7569200" y="1513841"/>
            <a:ext cx="3810000" cy="1696720"/>
          </a:xfrm>
          <a:custGeom>
            <a:avLst/>
            <a:gdLst/>
            <a:ahLst/>
            <a:cxnLst/>
            <a:rect l="l" t="t" r="r" b="b"/>
            <a:pathLst>
              <a:path w="3810000" h="1696720">
                <a:moveTo>
                  <a:pt x="101600" y="1696720"/>
                </a:moveTo>
                <a:lnTo>
                  <a:pt x="101600" y="1696720"/>
                </a:lnTo>
                <a:arcTo hR="101600" wR="101600" stAng="5400000" swAng="5400000"/>
                <a:lnTo>
                  <a:pt x="0" y="101600"/>
                </a:lnTo>
                <a:arcTo hR="101600" wR="101600" stAng="10800000" swAng="5400000"/>
                <a:lnTo>
                  <a:pt x="101600" y="0"/>
                </a:lnTo>
                <a:arcTo hR="101600" wR="50800" stAng="16200000" swAng="-5400000"/>
                <a:lnTo>
                  <a:pt x="50800" y="1595120"/>
                </a:lnTo>
                <a:arcTo hR="101600" wR="50800" stAng="10800000" swAng="-5400000"/>
                <a:close/>
              </a:path>
            </a:pathLst>
          </a:custGeom>
          <a:solidFill>
            <a:srgbClr val="B8C7C2"/>
          </a:solidFill>
          <a:ln/>
        </p:spPr>
      </p:sp>
      <p:sp>
        <p:nvSpPr>
          <p:cNvPr id="6" name="Text 3"/>
          <p:cNvSpPr/>
          <p:nvPr/>
        </p:nvSpPr>
        <p:spPr>
          <a:xfrm>
            <a:off x="7823200" y="1717041"/>
            <a:ext cx="345338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2263A"/>
                </a:solidFill>
                <a:latin typeface="EB Garamond" pitchFamily="18" charset="0"/>
                <a:ea typeface="EB Garamond" pitchFamily="18" charset="-122"/>
                <a:cs typeface="EB Garamond" pitchFamily="18" charset="-120"/>
              </a:rPr>
              <a:t>1,000</a:t>
            </a:r>
            <a:endParaRPr lang="en-US" sz="4800" dirty="0"/>
          </a:p>
        </p:txBody>
      </p:sp>
      <p:sp>
        <p:nvSpPr>
          <p:cNvPr id="7" name="Text 4"/>
          <p:cNvSpPr/>
          <p:nvPr/>
        </p:nvSpPr>
        <p:spPr>
          <a:xfrm>
            <a:off x="7823200" y="2438400"/>
            <a:ext cx="345338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synthetic user records with eight raw columns</a:t>
            </a:r>
            <a:endParaRPr lang="en-US" sz="1600" dirty="0"/>
          </a:p>
        </p:txBody>
      </p:sp>
      <p:sp>
        <p:nvSpPr>
          <p:cNvPr id="8" name="Shape 5"/>
          <p:cNvSpPr/>
          <p:nvPr/>
        </p:nvSpPr>
        <p:spPr>
          <a:xfrm>
            <a:off x="7569200" y="3362961"/>
            <a:ext cx="3810000" cy="2263140"/>
          </a:xfrm>
          <a:prstGeom prst="roundRect">
            <a:avLst>
              <a:gd name="adj" fmla="val 4489"/>
            </a:avLst>
          </a:prstGeom>
          <a:solidFill>
            <a:srgbClr val="F4F7F6"/>
          </a:solidFill>
          <a:ln/>
        </p:spPr>
      </p:sp>
      <p:sp>
        <p:nvSpPr>
          <p:cNvPr id="9" name="Shape 6"/>
          <p:cNvSpPr/>
          <p:nvPr/>
        </p:nvSpPr>
        <p:spPr>
          <a:xfrm>
            <a:off x="7569200" y="3362961"/>
            <a:ext cx="3810000" cy="2263140"/>
          </a:xfrm>
          <a:custGeom>
            <a:avLst/>
            <a:gdLst/>
            <a:ahLst/>
            <a:cxnLst/>
            <a:rect l="l" t="t" r="r" b="b"/>
            <a:pathLst>
              <a:path w="3810000" h="2263140">
                <a:moveTo>
                  <a:pt x="101600" y="2263140"/>
                </a:moveTo>
                <a:lnTo>
                  <a:pt x="101600" y="2263140"/>
                </a:lnTo>
                <a:arcTo hR="101600" wR="101600" stAng="5400000" swAng="5400000"/>
                <a:lnTo>
                  <a:pt x="0" y="101600"/>
                </a:lnTo>
                <a:arcTo hR="101600" wR="101600" stAng="10800000" swAng="5400000"/>
                <a:lnTo>
                  <a:pt x="101600" y="0"/>
                </a:lnTo>
                <a:arcTo hR="101600" wR="50800" stAng="16200000" swAng="-5400000"/>
                <a:lnTo>
                  <a:pt x="50800" y="2161540"/>
                </a:lnTo>
                <a:arcTo hR="101600" wR="50800" stAng="10800000" swAng="-5400000"/>
                <a:close/>
              </a:path>
            </a:pathLst>
          </a:custGeom>
          <a:solidFill>
            <a:srgbClr val="14736F"/>
          </a:solidFill>
          <a:ln/>
        </p:spPr>
      </p:sp>
      <p:sp>
        <p:nvSpPr>
          <p:cNvPr id="10" name="Text 7"/>
          <p:cNvSpPr/>
          <p:nvPr/>
        </p:nvSpPr>
        <p:spPr>
          <a:xfrm>
            <a:off x="7823200" y="3566161"/>
            <a:ext cx="345338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736F"/>
                </a:solidFill>
                <a:latin typeface="EB Garamond" pitchFamily="18" charset="0"/>
                <a:ea typeface="EB Garamond" pitchFamily="18" charset="-122"/>
                <a:cs typeface="EB Garamond" pitchFamily="18" charset="-120"/>
              </a:rPr>
              <a:t>10</a:t>
            </a:r>
            <a:endParaRPr lang="en-US" sz="4800" dirty="0"/>
          </a:p>
        </p:txBody>
      </p:sp>
      <p:sp>
        <p:nvSpPr>
          <p:cNvPr id="11" name="Text 8"/>
          <p:cNvSpPr/>
          <p:nvPr/>
        </p:nvSpPr>
        <p:spPr>
          <a:xfrm>
            <a:off x="7823200" y="4287520"/>
            <a:ext cx="345338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input features: six standardized numbers plus four one-hot categories</a:t>
            </a:r>
            <a:endParaRPr lang="en-US" sz="1600" dirty="0"/>
          </a:p>
        </p:txBody>
      </p:sp>
      <p:sp>
        <p:nvSpPr>
          <p:cNvPr id="12" name="Text 9"/>
          <p:cNvSpPr/>
          <p:nvPr/>
        </p:nvSpPr>
        <p:spPr>
          <a:xfrm>
            <a:off x="7823200" y="5191761"/>
            <a:ext cx="34533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Processed matrix: 1,000 × 10</a:t>
            </a:r>
            <a:endParaRPr lang="en-US" sz="1300" dirty="0"/>
          </a:p>
        </p:txBody>
      </p:sp>
      <p:sp>
        <p:nvSpPr>
          <p:cNvPr id="13" name="Text 10"/>
          <p:cNvSpPr/>
          <p:nvPr/>
        </p:nvSpPr>
        <p:spPr>
          <a:xfrm>
            <a:off x="812800" y="6220461"/>
            <a:ext cx="78486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Deep Embedded Clustering · UAV disaster communication</a:t>
            </a:r>
            <a:endParaRPr lang="en-US" sz="1300" dirty="0"/>
          </a:p>
        </p:txBody>
      </p:sp>
      <p:sp>
        <p:nvSpPr>
          <p:cNvPr id="14" name="Text 11"/>
          <p:cNvSpPr/>
          <p:nvPr/>
        </p:nvSpPr>
        <p:spPr>
          <a:xfrm>
            <a:off x="10058400" y="6220461"/>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Workflow and technologies</a:t>
            </a:r>
            <a:endParaRPr lang="en-US" sz="3200" dirty="0"/>
          </a:p>
        </p:txBody>
      </p:sp>
      <p:sp>
        <p:nvSpPr>
          <p:cNvPr id="3" name="Shape 1"/>
          <p:cNvSpPr/>
          <p:nvPr/>
        </p:nvSpPr>
        <p:spPr>
          <a:xfrm>
            <a:off x="812800" y="1513841"/>
            <a:ext cx="2260600" cy="2275840"/>
          </a:xfrm>
          <a:prstGeom prst="roundRect">
            <a:avLst>
              <a:gd name="adj" fmla="val 4494"/>
            </a:avLst>
          </a:prstGeom>
          <a:solidFill>
            <a:srgbClr val="F4F7F6"/>
          </a:solidFill>
          <a:ln/>
        </p:spPr>
      </p:sp>
      <p:sp>
        <p:nvSpPr>
          <p:cNvPr id="4" name="Shape 2"/>
          <p:cNvSpPr/>
          <p:nvPr/>
        </p:nvSpPr>
        <p:spPr>
          <a:xfrm>
            <a:off x="812800" y="1513841"/>
            <a:ext cx="2260600" cy="2275840"/>
          </a:xfrm>
          <a:custGeom>
            <a:avLst/>
            <a:gdLst/>
            <a:ahLst/>
            <a:cxnLst/>
            <a:rect l="l" t="t" r="r" b="b"/>
            <a:pathLst>
              <a:path w="2260600" h="2275840">
                <a:moveTo>
                  <a:pt x="0" y="101600"/>
                </a:moveTo>
                <a:lnTo>
                  <a:pt x="0" y="101600"/>
                </a:lnTo>
                <a:arcTo hR="101600" wR="101600" stAng="10800000" swAng="5400000"/>
                <a:lnTo>
                  <a:pt x="2159000" y="0"/>
                </a:lnTo>
                <a:arcTo hR="101600" wR="101600" stAng="16200000" swAng="5400000"/>
                <a:lnTo>
                  <a:pt x="2260600" y="101600"/>
                </a:lnTo>
                <a:arcTo hR="50800" wR="101600" stAng="0" swAng="-5400000"/>
                <a:lnTo>
                  <a:pt x="101600" y="50800"/>
                </a:lnTo>
                <a:arcTo hR="50800" wR="101600" stAng="16200000" swAng="-5400000"/>
                <a:close/>
              </a:path>
            </a:pathLst>
          </a:custGeom>
          <a:solidFill>
            <a:srgbClr val="14736F"/>
          </a:solidFill>
          <a:ln/>
        </p:spPr>
      </p:sp>
      <p:sp>
        <p:nvSpPr>
          <p:cNvPr id="5" name="Text 3"/>
          <p:cNvSpPr/>
          <p:nvPr/>
        </p:nvSpPr>
        <p:spPr>
          <a:xfrm>
            <a:off x="990600" y="1767841"/>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01</a:t>
            </a:r>
            <a:endParaRPr lang="en-US" sz="1300" dirty="0"/>
          </a:p>
        </p:txBody>
      </p:sp>
      <p:sp>
        <p:nvSpPr>
          <p:cNvPr id="6" name="Text 4"/>
          <p:cNvSpPr/>
          <p:nvPr/>
        </p:nvSpPr>
        <p:spPr>
          <a:xfrm>
            <a:off x="990600" y="2075180"/>
            <a:ext cx="19621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Prepare</a:t>
            </a:r>
            <a:endParaRPr lang="en-US" sz="2000" dirty="0"/>
          </a:p>
        </p:txBody>
      </p:sp>
      <p:sp>
        <p:nvSpPr>
          <p:cNvPr id="7" name="Text 5"/>
          <p:cNvSpPr/>
          <p:nvPr/>
        </p:nvSpPr>
        <p:spPr>
          <a:xfrm>
            <a:off x="990600" y="2430780"/>
            <a:ext cx="1962150"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Drop user_id, standardize six numerical features and one-hot encode the data type into a 1,000 × 10 matrix.</a:t>
            </a:r>
            <a:endParaRPr lang="en-US" sz="1300" dirty="0"/>
          </a:p>
        </p:txBody>
      </p:sp>
      <p:pic>
        <p:nvPicPr>
          <p:cNvPr id="8" name="Image 0" descr="arrow-right">    </p:cNvPr>
          <p:cNvPicPr>
            <a:picLocks noChangeAspect="1"/>
          </p:cNvPicPr>
          <p:nvPr/>
        </p:nvPicPr>
        <p:blipFill>
          <a:blip r:embed="rId1"/>
          <a:srcRect l="0" r="0" t="0" b="0"/>
          <a:stretch/>
        </p:blipFill>
        <p:spPr>
          <a:xfrm>
            <a:off x="3175000" y="2562861"/>
            <a:ext cx="304800" cy="177800"/>
          </a:xfrm>
          <a:prstGeom prst="rect">
            <a:avLst/>
          </a:prstGeom>
        </p:spPr>
      </p:pic>
      <p:sp>
        <p:nvSpPr>
          <p:cNvPr id="9" name="Shape 6"/>
          <p:cNvSpPr/>
          <p:nvPr/>
        </p:nvSpPr>
        <p:spPr>
          <a:xfrm>
            <a:off x="3581400" y="1513841"/>
            <a:ext cx="2260600" cy="2275840"/>
          </a:xfrm>
          <a:prstGeom prst="roundRect">
            <a:avLst>
              <a:gd name="adj" fmla="val 4494"/>
            </a:avLst>
          </a:prstGeom>
          <a:solidFill>
            <a:srgbClr val="F4F7F6"/>
          </a:solidFill>
          <a:ln/>
        </p:spPr>
      </p:sp>
      <p:sp>
        <p:nvSpPr>
          <p:cNvPr id="10" name="Shape 7"/>
          <p:cNvSpPr/>
          <p:nvPr/>
        </p:nvSpPr>
        <p:spPr>
          <a:xfrm>
            <a:off x="3581400" y="1513841"/>
            <a:ext cx="2260600" cy="2275840"/>
          </a:xfrm>
          <a:custGeom>
            <a:avLst/>
            <a:gdLst/>
            <a:ahLst/>
            <a:cxnLst/>
            <a:rect l="l" t="t" r="r" b="b"/>
            <a:pathLst>
              <a:path w="2260600" h="2275840">
                <a:moveTo>
                  <a:pt x="0" y="101600"/>
                </a:moveTo>
                <a:lnTo>
                  <a:pt x="0" y="101600"/>
                </a:lnTo>
                <a:arcTo hR="101600" wR="101600" stAng="10800000" swAng="5400000"/>
                <a:lnTo>
                  <a:pt x="2159000" y="0"/>
                </a:lnTo>
                <a:arcTo hR="101600" wR="101600" stAng="16200000" swAng="5400000"/>
                <a:lnTo>
                  <a:pt x="2260600" y="101600"/>
                </a:lnTo>
                <a:arcTo hR="50800" wR="101600" stAng="0" swAng="-5400000"/>
                <a:lnTo>
                  <a:pt x="101600" y="50800"/>
                </a:lnTo>
                <a:arcTo hR="50800" wR="101600" stAng="16200000" swAng="-5400000"/>
                <a:close/>
              </a:path>
            </a:pathLst>
          </a:custGeom>
          <a:solidFill>
            <a:srgbClr val="14736F"/>
          </a:solidFill>
          <a:ln/>
        </p:spPr>
      </p:sp>
      <p:sp>
        <p:nvSpPr>
          <p:cNvPr id="11" name="Text 8"/>
          <p:cNvSpPr/>
          <p:nvPr/>
        </p:nvSpPr>
        <p:spPr>
          <a:xfrm>
            <a:off x="3759200" y="1767841"/>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02</a:t>
            </a:r>
            <a:endParaRPr lang="en-US" sz="1300" dirty="0"/>
          </a:p>
        </p:txBody>
      </p:sp>
      <p:sp>
        <p:nvSpPr>
          <p:cNvPr id="12" name="Text 9"/>
          <p:cNvSpPr/>
          <p:nvPr/>
        </p:nvSpPr>
        <p:spPr>
          <a:xfrm>
            <a:off x="3759200" y="2075180"/>
            <a:ext cx="19621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Cluster</a:t>
            </a:r>
            <a:endParaRPr lang="en-US" sz="2000" dirty="0"/>
          </a:p>
        </p:txBody>
      </p:sp>
      <p:sp>
        <p:nvSpPr>
          <p:cNvPr id="13" name="Text 10"/>
          <p:cNvSpPr/>
          <p:nvPr/>
        </p:nvSpPr>
        <p:spPr>
          <a:xfrm>
            <a:off x="3759200" y="2430780"/>
            <a:ext cx="1962150"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Run K-Means (k = 4) and DBSCAN as baselines, then Deep Embedded Clustering as the proposed method.</a:t>
            </a:r>
            <a:endParaRPr lang="en-US" sz="1300" dirty="0"/>
          </a:p>
        </p:txBody>
      </p:sp>
      <p:pic>
        <p:nvPicPr>
          <p:cNvPr id="14" name="Image 1" descr="arrow-right">    </p:cNvPr>
          <p:cNvPicPr>
            <a:picLocks noChangeAspect="1"/>
          </p:cNvPicPr>
          <p:nvPr/>
        </p:nvPicPr>
        <p:blipFill>
          <a:blip r:embed="rId2"/>
          <a:srcRect l="0" r="0" t="0" b="0"/>
          <a:stretch/>
        </p:blipFill>
        <p:spPr>
          <a:xfrm>
            <a:off x="5943600" y="2562861"/>
            <a:ext cx="304800" cy="177800"/>
          </a:xfrm>
          <a:prstGeom prst="rect">
            <a:avLst/>
          </a:prstGeom>
        </p:spPr>
      </p:pic>
      <p:sp>
        <p:nvSpPr>
          <p:cNvPr id="15" name="Shape 11"/>
          <p:cNvSpPr/>
          <p:nvPr/>
        </p:nvSpPr>
        <p:spPr>
          <a:xfrm>
            <a:off x="6350000" y="1513841"/>
            <a:ext cx="2260600" cy="2275840"/>
          </a:xfrm>
          <a:prstGeom prst="roundRect">
            <a:avLst>
              <a:gd name="adj" fmla="val 4494"/>
            </a:avLst>
          </a:prstGeom>
          <a:solidFill>
            <a:srgbClr val="F4F7F6"/>
          </a:solidFill>
          <a:ln/>
        </p:spPr>
      </p:sp>
      <p:sp>
        <p:nvSpPr>
          <p:cNvPr id="16" name="Shape 12"/>
          <p:cNvSpPr/>
          <p:nvPr/>
        </p:nvSpPr>
        <p:spPr>
          <a:xfrm>
            <a:off x="6350000" y="1513841"/>
            <a:ext cx="2260600" cy="2275840"/>
          </a:xfrm>
          <a:custGeom>
            <a:avLst/>
            <a:gdLst/>
            <a:ahLst/>
            <a:cxnLst/>
            <a:rect l="l" t="t" r="r" b="b"/>
            <a:pathLst>
              <a:path w="2260600" h="2275840">
                <a:moveTo>
                  <a:pt x="0" y="101600"/>
                </a:moveTo>
                <a:lnTo>
                  <a:pt x="0" y="101600"/>
                </a:lnTo>
                <a:arcTo hR="101600" wR="101600" stAng="10800000" swAng="5400000"/>
                <a:lnTo>
                  <a:pt x="2159000" y="0"/>
                </a:lnTo>
                <a:arcTo hR="101600" wR="101600" stAng="16200000" swAng="5400000"/>
                <a:lnTo>
                  <a:pt x="2260600" y="101600"/>
                </a:lnTo>
                <a:arcTo hR="50800" wR="101600" stAng="0" swAng="-5400000"/>
                <a:lnTo>
                  <a:pt x="101600" y="50800"/>
                </a:lnTo>
                <a:arcTo hR="50800" wR="101600" stAng="16200000" swAng="-5400000"/>
                <a:close/>
              </a:path>
            </a:pathLst>
          </a:custGeom>
          <a:solidFill>
            <a:srgbClr val="14736F"/>
          </a:solidFill>
          <a:ln/>
        </p:spPr>
      </p:sp>
      <p:sp>
        <p:nvSpPr>
          <p:cNvPr id="17" name="Text 13"/>
          <p:cNvSpPr/>
          <p:nvPr/>
        </p:nvSpPr>
        <p:spPr>
          <a:xfrm>
            <a:off x="6527800" y="1767841"/>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03</a:t>
            </a:r>
            <a:endParaRPr lang="en-US" sz="1300" dirty="0"/>
          </a:p>
        </p:txBody>
      </p:sp>
      <p:sp>
        <p:nvSpPr>
          <p:cNvPr id="18" name="Text 14"/>
          <p:cNvSpPr/>
          <p:nvPr/>
        </p:nvSpPr>
        <p:spPr>
          <a:xfrm>
            <a:off x="6527800" y="2075180"/>
            <a:ext cx="19621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Evaluate</a:t>
            </a:r>
            <a:endParaRPr lang="en-US" sz="2000" dirty="0"/>
          </a:p>
        </p:txBody>
      </p:sp>
      <p:sp>
        <p:nvSpPr>
          <p:cNvPr id="19" name="Text 15"/>
          <p:cNvSpPr/>
          <p:nvPr/>
        </p:nvSpPr>
        <p:spPr>
          <a:xfrm>
            <a:off x="6527800" y="2430780"/>
            <a:ext cx="1962150"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Silhouette, Davies–Bouldin and Calinski–Harabasz scores, plus average-based group profiles.</a:t>
            </a:r>
            <a:endParaRPr lang="en-US" sz="1300" dirty="0"/>
          </a:p>
        </p:txBody>
      </p:sp>
      <p:pic>
        <p:nvPicPr>
          <p:cNvPr id="20" name="Image 2" descr="arrow-right">    </p:cNvPr>
          <p:cNvPicPr>
            <a:picLocks noChangeAspect="1"/>
          </p:cNvPicPr>
          <p:nvPr/>
        </p:nvPicPr>
        <p:blipFill>
          <a:blip r:embed="rId3"/>
          <a:srcRect l="0" r="0" t="0" b="0"/>
          <a:stretch/>
        </p:blipFill>
        <p:spPr>
          <a:xfrm>
            <a:off x="8712200" y="2562861"/>
            <a:ext cx="304800" cy="177800"/>
          </a:xfrm>
          <a:prstGeom prst="rect">
            <a:avLst/>
          </a:prstGeom>
        </p:spPr>
      </p:pic>
      <p:sp>
        <p:nvSpPr>
          <p:cNvPr id="21" name="Shape 16"/>
          <p:cNvSpPr/>
          <p:nvPr/>
        </p:nvSpPr>
        <p:spPr>
          <a:xfrm>
            <a:off x="9118600" y="1513841"/>
            <a:ext cx="2260600" cy="2275840"/>
          </a:xfrm>
          <a:prstGeom prst="roundRect">
            <a:avLst>
              <a:gd name="adj" fmla="val 4494"/>
            </a:avLst>
          </a:prstGeom>
          <a:solidFill>
            <a:srgbClr val="F4F7F6"/>
          </a:solidFill>
          <a:ln/>
        </p:spPr>
      </p:sp>
      <p:sp>
        <p:nvSpPr>
          <p:cNvPr id="22" name="Shape 17"/>
          <p:cNvSpPr/>
          <p:nvPr/>
        </p:nvSpPr>
        <p:spPr>
          <a:xfrm>
            <a:off x="9118600" y="1513841"/>
            <a:ext cx="2260600" cy="2275840"/>
          </a:xfrm>
          <a:custGeom>
            <a:avLst/>
            <a:gdLst/>
            <a:ahLst/>
            <a:cxnLst/>
            <a:rect l="l" t="t" r="r" b="b"/>
            <a:pathLst>
              <a:path w="2260600" h="2275840">
                <a:moveTo>
                  <a:pt x="0" y="101600"/>
                </a:moveTo>
                <a:lnTo>
                  <a:pt x="0" y="101600"/>
                </a:lnTo>
                <a:arcTo hR="101600" wR="101600" stAng="10800000" swAng="5400000"/>
                <a:lnTo>
                  <a:pt x="2159000" y="0"/>
                </a:lnTo>
                <a:arcTo hR="101600" wR="101600" stAng="16200000" swAng="5400000"/>
                <a:lnTo>
                  <a:pt x="2260600" y="101600"/>
                </a:lnTo>
                <a:arcTo hR="50800" wR="101600" stAng="0" swAng="-5400000"/>
                <a:lnTo>
                  <a:pt x="101600" y="50800"/>
                </a:lnTo>
                <a:arcTo hR="50800" wR="101600" stAng="16200000" swAng="-5400000"/>
                <a:close/>
              </a:path>
            </a:pathLst>
          </a:custGeom>
          <a:solidFill>
            <a:srgbClr val="14736F"/>
          </a:solidFill>
          <a:ln/>
        </p:spPr>
      </p:sp>
      <p:sp>
        <p:nvSpPr>
          <p:cNvPr id="23" name="Text 18"/>
          <p:cNvSpPr/>
          <p:nvPr/>
        </p:nvSpPr>
        <p:spPr>
          <a:xfrm>
            <a:off x="9296400" y="1767841"/>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04</a:t>
            </a:r>
            <a:endParaRPr lang="en-US" sz="1300" dirty="0"/>
          </a:p>
        </p:txBody>
      </p:sp>
      <p:sp>
        <p:nvSpPr>
          <p:cNvPr id="24" name="Text 19"/>
          <p:cNvSpPr/>
          <p:nvPr/>
        </p:nvSpPr>
        <p:spPr>
          <a:xfrm>
            <a:off x="9296400" y="2075180"/>
            <a:ext cx="196215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Present</a:t>
            </a:r>
            <a:endParaRPr lang="en-US" sz="2000" dirty="0"/>
          </a:p>
        </p:txBody>
      </p:sp>
      <p:sp>
        <p:nvSpPr>
          <p:cNvPr id="25" name="Text 20"/>
          <p:cNvSpPr/>
          <p:nvPr/>
        </p:nvSpPr>
        <p:spPr>
          <a:xfrm>
            <a:off x="9296400" y="2430780"/>
            <a:ext cx="1962150"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Predict a group for a new user and explore all results in a Streamlit dashboard.</a:t>
            </a:r>
            <a:endParaRPr lang="en-US" sz="1300" dirty="0"/>
          </a:p>
        </p:txBody>
      </p:sp>
      <p:sp>
        <p:nvSpPr>
          <p:cNvPr id="26" name="Text 21"/>
          <p:cNvSpPr/>
          <p:nvPr/>
        </p:nvSpPr>
        <p:spPr>
          <a:xfrm>
            <a:off x="812800" y="4043680"/>
            <a:ext cx="1272302" cy="383540"/>
          </a:xfrm>
          <a:prstGeom prst="roundRect">
            <a:avLst>
              <a:gd name="adj" fmla="val 50000"/>
            </a:avLst>
          </a:prstGeom>
          <a:solidFill>
            <a:srgbClr val="DCE6E3"/>
          </a:solidFill>
          <a:ln/>
        </p:spPr>
        <p:txBody>
          <a:bodyPr wrap="none" lIns="0" tIns="0" rIns="0" bIns="0" rtlCol="0" anchor="ctr">
            <a:normAutofit/>
          </a:bodyPr>
          <a:lstStyle/>
          <a:p>
            <a:pPr algn="ct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Python 3.10</a:t>
            </a:r>
            <a:endParaRPr lang="en-US" sz="1300" dirty="0"/>
          </a:p>
        </p:txBody>
      </p:sp>
      <p:sp>
        <p:nvSpPr>
          <p:cNvPr id="27" name="Text 22"/>
          <p:cNvSpPr/>
          <p:nvPr/>
        </p:nvSpPr>
        <p:spPr>
          <a:xfrm>
            <a:off x="2186702" y="4043680"/>
            <a:ext cx="1806972" cy="383540"/>
          </a:xfrm>
          <a:prstGeom prst="roundRect">
            <a:avLst>
              <a:gd name="adj" fmla="val 50000"/>
            </a:avLst>
          </a:prstGeom>
          <a:solidFill>
            <a:srgbClr val="DCE6E3"/>
          </a:solidFill>
          <a:ln/>
        </p:spPr>
        <p:txBody>
          <a:bodyPr wrap="none" lIns="0" tIns="0" rIns="0" bIns="0" rtlCol="0" anchor="ctr">
            <a:normAutofit/>
          </a:bodyPr>
          <a:lstStyle/>
          <a:p>
            <a:pPr algn="ct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TensorFlow / Keras</a:t>
            </a:r>
            <a:endParaRPr lang="en-US" sz="1300" dirty="0"/>
          </a:p>
        </p:txBody>
      </p:sp>
      <p:sp>
        <p:nvSpPr>
          <p:cNvPr id="28" name="Text 23"/>
          <p:cNvSpPr/>
          <p:nvPr/>
        </p:nvSpPr>
        <p:spPr>
          <a:xfrm>
            <a:off x="4095274" y="4043680"/>
            <a:ext cx="1228725" cy="383540"/>
          </a:xfrm>
          <a:prstGeom prst="roundRect">
            <a:avLst>
              <a:gd name="adj" fmla="val 50000"/>
            </a:avLst>
          </a:prstGeom>
          <a:solidFill>
            <a:srgbClr val="DCE6E3"/>
          </a:solidFill>
          <a:ln/>
        </p:spPr>
        <p:txBody>
          <a:bodyPr wrap="none" lIns="0" tIns="0" rIns="0" bIns="0" rtlCol="0" anchor="ctr">
            <a:normAutofit/>
          </a:bodyPr>
          <a:lstStyle/>
          <a:p>
            <a:pPr algn="ct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Scikit-learn</a:t>
            </a:r>
            <a:endParaRPr lang="en-US" sz="1300" dirty="0"/>
          </a:p>
        </p:txBody>
      </p:sp>
      <p:sp>
        <p:nvSpPr>
          <p:cNvPr id="29" name="Text 24"/>
          <p:cNvSpPr/>
          <p:nvPr/>
        </p:nvSpPr>
        <p:spPr>
          <a:xfrm>
            <a:off x="5425599" y="4043680"/>
            <a:ext cx="1055767" cy="383540"/>
          </a:xfrm>
          <a:prstGeom prst="roundRect">
            <a:avLst>
              <a:gd name="adj" fmla="val 50000"/>
            </a:avLst>
          </a:prstGeom>
          <a:solidFill>
            <a:srgbClr val="DCE6E3"/>
          </a:solidFill>
          <a:ln/>
        </p:spPr>
        <p:txBody>
          <a:bodyPr wrap="none" lIns="0" tIns="0" rIns="0" bIns="0" rtlCol="0" anchor="ctr">
            <a:normAutofit/>
          </a:bodyPr>
          <a:lstStyle/>
          <a:p>
            <a:pPr algn="ct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Streamlit</a:t>
            </a:r>
            <a:endParaRPr lang="en-US" sz="1300" dirty="0"/>
          </a:p>
        </p:txBody>
      </p:sp>
      <p:sp>
        <p:nvSpPr>
          <p:cNvPr id="30" name="Text 25"/>
          <p:cNvSpPr/>
          <p:nvPr/>
        </p:nvSpPr>
        <p:spPr>
          <a:xfrm>
            <a:off x="812800" y="468122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run_all.py executes the complete workflow from a single entry point.</a:t>
            </a:r>
            <a:endParaRPr lang="en-US" sz="1300" dirty="0"/>
          </a:p>
        </p:txBody>
      </p:sp>
      <p:sp>
        <p:nvSpPr>
          <p:cNvPr id="31" name="Text 26"/>
          <p:cNvSpPr/>
          <p:nvPr/>
        </p:nvSpPr>
        <p:spPr>
          <a:xfrm>
            <a:off x="812800" y="6220461"/>
            <a:ext cx="78486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Deep Embedded Clustering · UAV disaster communication</a:t>
            </a:r>
            <a:endParaRPr lang="en-US" sz="1300" dirty="0"/>
          </a:p>
        </p:txBody>
      </p:sp>
      <p:sp>
        <p:nvSpPr>
          <p:cNvPr id="32" name="Text 27"/>
          <p:cNvSpPr/>
          <p:nvPr/>
        </p:nvSpPr>
        <p:spPr>
          <a:xfrm>
            <a:off x="10058400" y="6220461"/>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Deep Embedded Clustering</a:t>
            </a:r>
            <a:endParaRPr lang="en-US" sz="3200" dirty="0"/>
          </a:p>
        </p:txBody>
      </p:sp>
      <p:sp>
        <p:nvSpPr>
          <p:cNvPr id="3" name="Shape 1"/>
          <p:cNvSpPr/>
          <p:nvPr/>
        </p:nvSpPr>
        <p:spPr>
          <a:xfrm>
            <a:off x="812800" y="1564639"/>
            <a:ext cx="2260600" cy="1366520"/>
          </a:xfrm>
          <a:prstGeom prst="roundRect">
            <a:avLst>
              <a:gd name="adj" fmla="val 9294"/>
            </a:avLst>
          </a:prstGeom>
          <a:solidFill>
            <a:srgbClr val="F4F7F6"/>
          </a:solidFill>
          <a:ln/>
        </p:spPr>
      </p:sp>
      <p:sp>
        <p:nvSpPr>
          <p:cNvPr id="4" name="Text 2"/>
          <p:cNvSpPr/>
          <p:nvPr/>
        </p:nvSpPr>
        <p:spPr>
          <a:xfrm>
            <a:off x="1016000" y="1767839"/>
            <a:ext cx="190982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736F"/>
                </a:solidFill>
                <a:latin typeface="EB Garamond" pitchFamily="18" charset="0"/>
                <a:ea typeface="EB Garamond" pitchFamily="18" charset="-122"/>
                <a:cs typeface="EB Garamond" pitchFamily="18" charset="-120"/>
              </a:rPr>
              <a:t>10</a:t>
            </a:r>
            <a:endParaRPr lang="en-US" sz="3200" dirty="0"/>
          </a:p>
        </p:txBody>
      </p:sp>
      <p:sp>
        <p:nvSpPr>
          <p:cNvPr id="5" name="Text 3"/>
          <p:cNvSpPr/>
          <p:nvPr/>
        </p:nvSpPr>
        <p:spPr>
          <a:xfrm>
            <a:off x="1016000" y="2265682"/>
            <a:ext cx="190982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input features</a:t>
            </a:r>
            <a:endParaRPr lang="en-US" sz="1300" dirty="0"/>
          </a:p>
        </p:txBody>
      </p:sp>
      <p:pic>
        <p:nvPicPr>
          <p:cNvPr id="6" name="Image 0" descr="arrow-right">    </p:cNvPr>
          <p:cNvPicPr>
            <a:picLocks noChangeAspect="1"/>
          </p:cNvPicPr>
          <p:nvPr/>
        </p:nvPicPr>
        <p:blipFill>
          <a:blip r:embed="rId1"/>
          <a:srcRect l="0" r="0" t="0" b="0"/>
          <a:stretch/>
        </p:blipFill>
        <p:spPr>
          <a:xfrm>
            <a:off x="3175000" y="2159000"/>
            <a:ext cx="304800" cy="177800"/>
          </a:xfrm>
          <a:prstGeom prst="rect">
            <a:avLst/>
          </a:prstGeom>
        </p:spPr>
      </p:pic>
      <p:sp>
        <p:nvSpPr>
          <p:cNvPr id="7" name="Shape 4"/>
          <p:cNvSpPr/>
          <p:nvPr/>
        </p:nvSpPr>
        <p:spPr>
          <a:xfrm>
            <a:off x="3581400" y="1564639"/>
            <a:ext cx="2260600" cy="1366520"/>
          </a:xfrm>
          <a:prstGeom prst="roundRect">
            <a:avLst>
              <a:gd name="adj" fmla="val 9294"/>
            </a:avLst>
          </a:prstGeom>
          <a:solidFill>
            <a:srgbClr val="F4F7F6"/>
          </a:solidFill>
          <a:ln/>
        </p:spPr>
      </p:sp>
      <p:sp>
        <p:nvSpPr>
          <p:cNvPr id="8" name="Text 5"/>
          <p:cNvSpPr/>
          <p:nvPr/>
        </p:nvSpPr>
        <p:spPr>
          <a:xfrm>
            <a:off x="3784600" y="1767839"/>
            <a:ext cx="190982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736F"/>
                </a:solidFill>
                <a:latin typeface="EB Garamond" pitchFamily="18" charset="0"/>
                <a:ea typeface="EB Garamond" pitchFamily="18" charset="-122"/>
                <a:cs typeface="EB Garamond" pitchFamily="18" charset="-120"/>
              </a:rPr>
              <a:t>32</a:t>
            </a:r>
            <a:endParaRPr lang="en-US" sz="3200" dirty="0"/>
          </a:p>
        </p:txBody>
      </p:sp>
      <p:sp>
        <p:nvSpPr>
          <p:cNvPr id="9" name="Text 6"/>
          <p:cNvSpPr/>
          <p:nvPr/>
        </p:nvSpPr>
        <p:spPr>
          <a:xfrm>
            <a:off x="3784600" y="2265682"/>
            <a:ext cx="2057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neurons, encoder layer 1</a:t>
            </a:r>
            <a:endParaRPr lang="en-US" sz="1300" dirty="0"/>
          </a:p>
        </p:txBody>
      </p:sp>
      <p:pic>
        <p:nvPicPr>
          <p:cNvPr id="10" name="Image 1" descr="arrow-right">    </p:cNvPr>
          <p:cNvPicPr>
            <a:picLocks noChangeAspect="1"/>
          </p:cNvPicPr>
          <p:nvPr/>
        </p:nvPicPr>
        <p:blipFill>
          <a:blip r:embed="rId2"/>
          <a:srcRect l="0" r="0" t="0" b="0"/>
          <a:stretch/>
        </p:blipFill>
        <p:spPr>
          <a:xfrm>
            <a:off x="5943600" y="2159000"/>
            <a:ext cx="304800" cy="177800"/>
          </a:xfrm>
          <a:prstGeom prst="rect">
            <a:avLst/>
          </a:prstGeom>
        </p:spPr>
      </p:pic>
      <p:sp>
        <p:nvSpPr>
          <p:cNvPr id="11" name="Shape 7"/>
          <p:cNvSpPr/>
          <p:nvPr/>
        </p:nvSpPr>
        <p:spPr>
          <a:xfrm>
            <a:off x="6350000" y="1564639"/>
            <a:ext cx="2260600" cy="1366520"/>
          </a:xfrm>
          <a:prstGeom prst="roundRect">
            <a:avLst>
              <a:gd name="adj" fmla="val 9294"/>
            </a:avLst>
          </a:prstGeom>
          <a:solidFill>
            <a:srgbClr val="F4F7F6"/>
          </a:solidFill>
          <a:ln/>
        </p:spPr>
      </p:sp>
      <p:sp>
        <p:nvSpPr>
          <p:cNvPr id="12" name="Text 8"/>
          <p:cNvSpPr/>
          <p:nvPr/>
        </p:nvSpPr>
        <p:spPr>
          <a:xfrm>
            <a:off x="6553200" y="1767839"/>
            <a:ext cx="190982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736F"/>
                </a:solidFill>
                <a:latin typeface="EB Garamond" pitchFamily="18" charset="0"/>
                <a:ea typeface="EB Garamond" pitchFamily="18" charset="-122"/>
                <a:cs typeface="EB Garamond" pitchFamily="18" charset="-120"/>
              </a:rPr>
              <a:t>16</a:t>
            </a:r>
            <a:endParaRPr lang="en-US" sz="3200" dirty="0"/>
          </a:p>
        </p:txBody>
      </p:sp>
      <p:sp>
        <p:nvSpPr>
          <p:cNvPr id="13" name="Text 9"/>
          <p:cNvSpPr/>
          <p:nvPr/>
        </p:nvSpPr>
        <p:spPr>
          <a:xfrm>
            <a:off x="6553200" y="2265682"/>
            <a:ext cx="2057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neurons, encoder layer 2</a:t>
            </a:r>
            <a:endParaRPr lang="en-US" sz="1300" dirty="0"/>
          </a:p>
        </p:txBody>
      </p:sp>
      <p:pic>
        <p:nvPicPr>
          <p:cNvPr id="14" name="Image 2" descr="arrow-right">    </p:cNvPr>
          <p:cNvPicPr>
            <a:picLocks noChangeAspect="1"/>
          </p:cNvPicPr>
          <p:nvPr/>
        </p:nvPicPr>
        <p:blipFill>
          <a:blip r:embed="rId3"/>
          <a:srcRect l="0" r="0" t="0" b="0"/>
          <a:stretch/>
        </p:blipFill>
        <p:spPr>
          <a:xfrm>
            <a:off x="8712200" y="2159000"/>
            <a:ext cx="304800" cy="177800"/>
          </a:xfrm>
          <a:prstGeom prst="rect">
            <a:avLst/>
          </a:prstGeom>
        </p:spPr>
      </p:pic>
      <p:sp>
        <p:nvSpPr>
          <p:cNvPr id="15" name="Shape 10"/>
          <p:cNvSpPr/>
          <p:nvPr/>
        </p:nvSpPr>
        <p:spPr>
          <a:xfrm>
            <a:off x="9118600" y="1564639"/>
            <a:ext cx="2260600" cy="1366520"/>
          </a:xfrm>
          <a:prstGeom prst="roundRect">
            <a:avLst>
              <a:gd name="adj" fmla="val 9294"/>
            </a:avLst>
          </a:prstGeom>
          <a:solidFill>
            <a:srgbClr val="14736F"/>
          </a:solidFill>
          <a:ln/>
        </p:spPr>
      </p:sp>
      <p:sp>
        <p:nvSpPr>
          <p:cNvPr id="16" name="Text 11"/>
          <p:cNvSpPr/>
          <p:nvPr/>
        </p:nvSpPr>
        <p:spPr>
          <a:xfrm>
            <a:off x="9321800" y="1767839"/>
            <a:ext cx="190982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FFFFF"/>
                </a:solidFill>
                <a:latin typeface="EB Garamond" pitchFamily="18" charset="0"/>
                <a:ea typeface="EB Garamond" pitchFamily="18" charset="-122"/>
                <a:cs typeface="EB Garamond" pitchFamily="18" charset="-120"/>
              </a:rPr>
              <a:t>5</a:t>
            </a:r>
            <a:endParaRPr lang="en-US" sz="3200" dirty="0"/>
          </a:p>
        </p:txBody>
      </p:sp>
      <p:sp>
        <p:nvSpPr>
          <p:cNvPr id="17" name="Text 12"/>
          <p:cNvSpPr/>
          <p:nvPr/>
        </p:nvSpPr>
        <p:spPr>
          <a:xfrm>
            <a:off x="9321800" y="2265682"/>
            <a:ext cx="190982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BM Plex Sans" pitchFamily="34" charset="0"/>
                <a:ea typeface="IBM Plex Sans" pitchFamily="34" charset="-122"/>
                <a:cs typeface="IBM Plex Sans" pitchFamily="34" charset="-120"/>
              </a:rPr>
              <a:t>latent dimensions used for clustering</a:t>
            </a:r>
            <a:endParaRPr lang="en-US" sz="1300" dirty="0"/>
          </a:p>
        </p:txBody>
      </p:sp>
      <p:sp>
        <p:nvSpPr>
          <p:cNvPr id="18" name="Shape 13"/>
          <p:cNvSpPr/>
          <p:nvPr/>
        </p:nvSpPr>
        <p:spPr>
          <a:xfrm>
            <a:off x="819150" y="3242311"/>
            <a:ext cx="2514600" cy="1856740"/>
          </a:xfrm>
          <a:prstGeom prst="roundRect">
            <a:avLst>
              <a:gd name="adj" fmla="val 5130"/>
            </a:avLst>
          </a:prstGeom>
          <a:noFill/>
          <a:ln w="12700">
            <a:solidFill>
              <a:srgbClr val="DCE3E0"/>
            </a:solidFill>
            <a:prstDash val="solid"/>
          </a:ln>
        </p:spPr>
      </p:sp>
      <p:sp>
        <p:nvSpPr>
          <p:cNvPr id="19" name="Text 14"/>
          <p:cNvSpPr/>
          <p:nvPr/>
        </p:nvSpPr>
        <p:spPr>
          <a:xfrm>
            <a:off x="1000760" y="3423921"/>
            <a:ext cx="221592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736F"/>
                </a:solidFill>
                <a:latin typeface="EB Garamond" pitchFamily="18" charset="0"/>
                <a:ea typeface="EB Garamond" pitchFamily="18" charset="-122"/>
                <a:cs typeface="EB Garamond" pitchFamily="18" charset="-120"/>
              </a:rPr>
              <a:t>1</a:t>
            </a:r>
            <a:endParaRPr lang="en-US" sz="2000" dirty="0"/>
          </a:p>
        </p:txBody>
      </p:sp>
      <p:sp>
        <p:nvSpPr>
          <p:cNvPr id="20" name="Text 15"/>
          <p:cNvSpPr/>
          <p:nvPr/>
        </p:nvSpPr>
        <p:spPr>
          <a:xfrm>
            <a:off x="1000760" y="3779521"/>
            <a:ext cx="2215922"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Train the autoencoder on the ten input features</a:t>
            </a:r>
            <a:endParaRPr lang="en-US" sz="1600" dirty="0"/>
          </a:p>
        </p:txBody>
      </p:sp>
      <p:sp>
        <p:nvSpPr>
          <p:cNvPr id="21" name="Shape 16"/>
          <p:cNvSpPr/>
          <p:nvPr/>
        </p:nvSpPr>
        <p:spPr>
          <a:xfrm>
            <a:off x="3498850" y="3242311"/>
            <a:ext cx="2514600" cy="1856740"/>
          </a:xfrm>
          <a:prstGeom prst="roundRect">
            <a:avLst>
              <a:gd name="adj" fmla="val 5130"/>
            </a:avLst>
          </a:prstGeom>
          <a:noFill/>
          <a:ln w="12700">
            <a:solidFill>
              <a:srgbClr val="DCE3E0"/>
            </a:solidFill>
            <a:prstDash val="solid"/>
          </a:ln>
        </p:spPr>
      </p:sp>
      <p:sp>
        <p:nvSpPr>
          <p:cNvPr id="22" name="Text 17"/>
          <p:cNvSpPr/>
          <p:nvPr/>
        </p:nvSpPr>
        <p:spPr>
          <a:xfrm>
            <a:off x="3680460" y="3423921"/>
            <a:ext cx="221592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736F"/>
                </a:solidFill>
                <a:latin typeface="EB Garamond" pitchFamily="18" charset="0"/>
                <a:ea typeface="EB Garamond" pitchFamily="18" charset="-122"/>
                <a:cs typeface="EB Garamond" pitchFamily="18" charset="-120"/>
              </a:rPr>
              <a:t>2</a:t>
            </a:r>
            <a:endParaRPr lang="en-US" sz="2000" dirty="0"/>
          </a:p>
        </p:txBody>
      </p:sp>
      <p:sp>
        <p:nvSpPr>
          <p:cNvPr id="23" name="Text 18"/>
          <p:cNvSpPr/>
          <p:nvPr/>
        </p:nvSpPr>
        <p:spPr>
          <a:xfrm>
            <a:off x="3680460" y="3779521"/>
            <a:ext cx="2215922"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Initialize four cluster centers in the latent space with K-Means</a:t>
            </a:r>
            <a:endParaRPr lang="en-US" sz="1600" dirty="0"/>
          </a:p>
        </p:txBody>
      </p:sp>
      <p:sp>
        <p:nvSpPr>
          <p:cNvPr id="24" name="Shape 19"/>
          <p:cNvSpPr/>
          <p:nvPr/>
        </p:nvSpPr>
        <p:spPr>
          <a:xfrm>
            <a:off x="6178550" y="3242311"/>
            <a:ext cx="2514600" cy="1856740"/>
          </a:xfrm>
          <a:prstGeom prst="roundRect">
            <a:avLst>
              <a:gd name="adj" fmla="val 5130"/>
            </a:avLst>
          </a:prstGeom>
          <a:noFill/>
          <a:ln w="12700">
            <a:solidFill>
              <a:srgbClr val="DCE3E0"/>
            </a:solidFill>
            <a:prstDash val="solid"/>
          </a:ln>
        </p:spPr>
      </p:sp>
      <p:sp>
        <p:nvSpPr>
          <p:cNvPr id="25" name="Text 20"/>
          <p:cNvSpPr/>
          <p:nvPr/>
        </p:nvSpPr>
        <p:spPr>
          <a:xfrm>
            <a:off x="6360160" y="3423921"/>
            <a:ext cx="221592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736F"/>
                </a:solidFill>
                <a:latin typeface="EB Garamond" pitchFamily="18" charset="0"/>
                <a:ea typeface="EB Garamond" pitchFamily="18" charset="-122"/>
                <a:cs typeface="EB Garamond" pitchFamily="18" charset="-120"/>
              </a:rPr>
              <a:t>3</a:t>
            </a:r>
            <a:endParaRPr lang="en-US" sz="2000" dirty="0"/>
          </a:p>
        </p:txBody>
      </p:sp>
      <p:sp>
        <p:nvSpPr>
          <p:cNvPr id="26" name="Text 21"/>
          <p:cNvSpPr/>
          <p:nvPr/>
        </p:nvSpPr>
        <p:spPr>
          <a:xfrm>
            <a:off x="6360160" y="3779521"/>
            <a:ext cx="2215922"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Compute soft assignments and a sharpened target distribution</a:t>
            </a:r>
            <a:endParaRPr lang="en-US" sz="1600" dirty="0"/>
          </a:p>
        </p:txBody>
      </p:sp>
      <p:sp>
        <p:nvSpPr>
          <p:cNvPr id="27" name="Shape 22"/>
          <p:cNvSpPr/>
          <p:nvPr/>
        </p:nvSpPr>
        <p:spPr>
          <a:xfrm>
            <a:off x="8858250" y="3242311"/>
            <a:ext cx="2514600" cy="1856740"/>
          </a:xfrm>
          <a:prstGeom prst="roundRect">
            <a:avLst>
              <a:gd name="adj" fmla="val 5130"/>
            </a:avLst>
          </a:prstGeom>
          <a:noFill/>
          <a:ln w="12700">
            <a:solidFill>
              <a:srgbClr val="DCE3E0"/>
            </a:solidFill>
            <a:prstDash val="solid"/>
          </a:ln>
        </p:spPr>
      </p:sp>
      <p:sp>
        <p:nvSpPr>
          <p:cNvPr id="28" name="Text 23"/>
          <p:cNvSpPr/>
          <p:nvPr/>
        </p:nvSpPr>
        <p:spPr>
          <a:xfrm>
            <a:off x="9039860" y="3423921"/>
            <a:ext cx="221592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736F"/>
                </a:solidFill>
                <a:latin typeface="EB Garamond" pitchFamily="18" charset="0"/>
                <a:ea typeface="EB Garamond" pitchFamily="18" charset="-122"/>
                <a:cs typeface="EB Garamond" pitchFamily="18" charset="-120"/>
              </a:rPr>
              <a:t>4</a:t>
            </a:r>
            <a:endParaRPr lang="en-US" sz="2000" dirty="0"/>
          </a:p>
        </p:txBody>
      </p:sp>
      <p:sp>
        <p:nvSpPr>
          <p:cNvPr id="29" name="Text 24"/>
          <p:cNvSpPr/>
          <p:nvPr/>
        </p:nvSpPr>
        <p:spPr>
          <a:xfrm>
            <a:off x="9039860" y="3779521"/>
            <a:ext cx="2215922"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Refine the assignments by minimizing KL divergence</a:t>
            </a:r>
            <a:endParaRPr lang="en-US" sz="1600" dirty="0"/>
          </a:p>
        </p:txBody>
      </p:sp>
      <p:sp>
        <p:nvSpPr>
          <p:cNvPr id="30" name="Text 25"/>
          <p:cNvSpPr/>
          <p:nvPr/>
        </p:nvSpPr>
        <p:spPr>
          <a:xfrm>
            <a:off x="812800" y="6220461"/>
            <a:ext cx="78486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Deep Embedded Clustering · UAV disaster communication</a:t>
            </a:r>
            <a:endParaRPr lang="en-US" sz="1300" dirty="0"/>
          </a:p>
        </p:txBody>
      </p:sp>
      <p:sp>
        <p:nvSpPr>
          <p:cNvPr id="31" name="Text 26"/>
          <p:cNvSpPr/>
          <p:nvPr/>
        </p:nvSpPr>
        <p:spPr>
          <a:xfrm>
            <a:off x="10058400" y="6220461"/>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Model comparison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23999"/>
          <a:ext cx="10556240" cy="2212340"/>
        </p:xfrm>
        <a:graphic>
          <a:graphicData uri="http://schemas.openxmlformats.org/drawingml/2006/table">
            <a:tbl>
              <a:tblPr/>
              <a:tblGrid>
                <a:gridCol w="1477874"/>
                <a:gridCol w="2427935"/>
                <a:gridCol w="1161186"/>
                <a:gridCol w="1477874"/>
                <a:gridCol w="1794561"/>
                <a:gridCol w="2216810"/>
              </a:tblGrid>
              <a:tr h="495300">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Method</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Parameters</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Clusters</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Silhouette ↑</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Davies–Bouldin ↓</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Calinski–Harabasz ↑</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r>
              <a:tr h="4953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K-Means</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k = 4</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0.6320</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0.5501</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2630.6143</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2644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DBSCAN</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Grid search over eps and min_samples</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0.6320</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0.5501</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2630.6143</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3C5C4"/>
                      </a:solidFill>
                      <a:prstDash val="solid"/>
                      <a:round/>
                      <a:headEnd type="none" w="med" len="med"/>
                      <a:tailEnd type="none" w="med" len="med"/>
                    </a:lnL>
                    <a:lnR w="12700" cap="flat" cmpd="sng" algn="ctr">
                      <a:solidFill>
                        <a:srgbClr val="C3C5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5C4"/>
                      </a:solidFill>
                      <a:prstDash val="solid"/>
                      <a:round/>
                      <a:headEnd type="none" w="med" len="med"/>
                      <a:tailEnd type="none" w="med" len="med"/>
                    </a:lnB>
                    <a:solidFill>
                      <a:srgbClr val="F4F7F6"/>
                    </a:solidFill>
                  </a:tcPr>
                </a:tc>
              </a:tr>
              <a:tr h="495300">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DEC (proposed)</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BCBCB"/>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Encoder 10 → 32 → 16 → 5</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0.6320</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0.5501</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indent="0" marL="0">
                        <a:lnSpc>
                          <a:spcPts val="1820"/>
                        </a:lnSpc>
                        <a:buNone/>
                      </a:pPr>
                      <a:r>
                        <a:rPr lang="en-US" sz="1300" dirty="0">
                          <a:solidFill>
                            <a:srgbClr val="12263A"/>
                          </a:solidFill>
                          <a:latin typeface="IBM Plex Sans" pitchFamily="34" charset="0"/>
                          <a:ea typeface="IBM Plex Sans" pitchFamily="34" charset="-122"/>
                          <a:cs typeface="IBM Plex Sans" pitchFamily="34" charset="-120"/>
                        </a:rPr>
                        <a:t>2630.6144</a:t>
                      </a:r>
                      <a:endParaRPr lang="en-US" sz="1300" dirty="0">
                        <a:latin typeface="IBM Plex Sans" charset="0"/>
                        <a:ea typeface="IBM Plex Sans" charset="0"/>
                        <a:cs typeface="IBM Plex Sans" charset="0"/>
                      </a:endParaRPr>
                    </a:p>
                  </a:txBody>
                  <a:tcPr marL="127000" marR="127000" marT="127000" marB="127000" anchor="t">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3C5C4"/>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r>
            </a:tbl>
          </a:graphicData>
        </a:graphic>
      </p:graphicFrame>
      <p:sp>
        <p:nvSpPr>
          <p:cNvPr id="4" name="Shape 1"/>
          <p:cNvSpPr/>
          <p:nvPr/>
        </p:nvSpPr>
        <p:spPr>
          <a:xfrm>
            <a:off x="812800" y="3990339"/>
            <a:ext cx="10566400" cy="1363980"/>
          </a:xfrm>
          <a:prstGeom prst="roundRect">
            <a:avLst>
              <a:gd name="adj" fmla="val 5587"/>
            </a:avLst>
          </a:prstGeom>
          <a:solidFill>
            <a:srgbClr val="F4F7F6"/>
          </a:solidFill>
          <a:ln/>
        </p:spPr>
      </p:sp>
      <p:sp>
        <p:nvSpPr>
          <p:cNvPr id="5" name="Shape 2"/>
          <p:cNvSpPr/>
          <p:nvPr/>
        </p:nvSpPr>
        <p:spPr>
          <a:xfrm>
            <a:off x="812800" y="3990339"/>
            <a:ext cx="10566400" cy="1363980"/>
          </a:xfrm>
          <a:custGeom>
            <a:avLst/>
            <a:gdLst/>
            <a:ahLst/>
            <a:cxnLst/>
            <a:rect l="l" t="t" r="r" b="b"/>
            <a:pathLst>
              <a:path w="10566400" h="1363980">
                <a:moveTo>
                  <a:pt x="76200" y="1363980"/>
                </a:moveTo>
                <a:lnTo>
                  <a:pt x="76200" y="1363980"/>
                </a:lnTo>
                <a:arcTo hR="76200" wR="76200" stAng="5400000" swAng="5400000"/>
                <a:lnTo>
                  <a:pt x="0" y="76200"/>
                </a:lnTo>
                <a:arcTo hR="76200" wR="76200" stAng="10800000" swAng="5400000"/>
                <a:lnTo>
                  <a:pt x="76200" y="0"/>
                </a:lnTo>
                <a:arcTo hR="76200" wR="25400" stAng="16200000" swAng="-5400000"/>
                <a:lnTo>
                  <a:pt x="50800" y="1287780"/>
                </a:lnTo>
                <a:arcTo hR="76200" wR="25400" stAng="10800000" swAng="-5400000"/>
                <a:close/>
              </a:path>
            </a:pathLst>
          </a:custGeom>
          <a:solidFill>
            <a:srgbClr val="D4922B"/>
          </a:solidFill>
          <a:ln/>
        </p:spPr>
      </p:sp>
      <p:sp>
        <p:nvSpPr>
          <p:cNvPr id="6" name="Text 3"/>
          <p:cNvSpPr/>
          <p:nvPr/>
        </p:nvSpPr>
        <p:spPr>
          <a:xfrm>
            <a:off x="1117600" y="4244339"/>
            <a:ext cx="10307828"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12263A"/>
                </a:solidFill>
                <a:latin typeface="EB Garamond" pitchFamily="18" charset="0"/>
                <a:ea typeface="EB Garamond" pitchFamily="18" charset="-122"/>
                <a:cs typeface="EB Garamond" pitchFamily="18" charset="-120"/>
              </a:rPr>
              <a:t>All three methods score almost the same, so this experiment does not show a DEC advantage.</a:t>
            </a:r>
            <a:endParaRPr lang="en-US" sz="2000" dirty="0"/>
          </a:p>
        </p:txBody>
      </p:sp>
      <p:sp>
        <p:nvSpPr>
          <p:cNvPr id="7" name="Text 4"/>
          <p:cNvSpPr/>
          <p:nvPr/>
        </p:nvSpPr>
        <p:spPr>
          <a:xfrm>
            <a:off x="1117600" y="4638039"/>
            <a:ext cx="1030782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Scores from the saved model_comparison.csv on the same synthetic dataset. Higher is better for silhouette and Calinski–Harabasz; lower is better for Davies–Bouldin.</a:t>
            </a:r>
            <a:endParaRPr lang="en-US" sz="1300" dirty="0"/>
          </a:p>
        </p:txBody>
      </p:sp>
      <p:sp>
        <p:nvSpPr>
          <p:cNvPr id="8" name="Text 5"/>
          <p:cNvSpPr/>
          <p:nvPr/>
        </p:nvSpPr>
        <p:spPr>
          <a:xfrm>
            <a:off x="812800" y="6220461"/>
            <a:ext cx="78486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Deep Embedded Clustering · UAV disaster communication</a:t>
            </a:r>
            <a:endParaRPr lang="en-US" sz="1300" dirty="0"/>
          </a:p>
        </p:txBody>
      </p:sp>
      <p:sp>
        <p:nvSpPr>
          <p:cNvPr id="9" name="Text 6"/>
          <p:cNvSpPr/>
          <p:nvPr/>
        </p:nvSpPr>
        <p:spPr>
          <a:xfrm>
            <a:off x="10058400" y="6220461"/>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User groups in the coordinate plane</a:t>
            </a:r>
            <a:endParaRPr lang="en-US" sz="3200" dirty="0"/>
          </a:p>
        </p:txBody>
      </p:sp>
      <p:sp>
        <p:nvSpPr>
          <p:cNvPr id="3" name="Shape 1"/>
          <p:cNvSpPr/>
          <p:nvPr/>
        </p:nvSpPr>
        <p:spPr>
          <a:xfrm>
            <a:off x="812800" y="1513839"/>
            <a:ext cx="3386614" cy="3578860"/>
          </a:xfrm>
          <a:prstGeom prst="roundRect">
            <a:avLst>
              <a:gd name="adj" fmla="val 3000"/>
            </a:avLst>
          </a:prstGeom>
          <a:solidFill>
            <a:srgbClr val="F4F7F6"/>
          </a:solidFill>
          <a:ln/>
        </p:spPr>
      </p:sp>
      <p:sp>
        <p:nvSpPr>
          <p:cNvPr id="4" name="Shape 2"/>
          <p:cNvSpPr/>
          <p:nvPr/>
        </p:nvSpPr>
        <p:spPr>
          <a:xfrm>
            <a:off x="914400" y="1615439"/>
            <a:ext cx="3181350" cy="2476500"/>
          </a:xfrm>
          <a:prstGeom prst="rect">
            <a:avLst/>
          </a:prstGeom>
          <a:solidFill>
            <a:srgbClr val="FFFFFF"/>
          </a:solidFill>
          <a:ln/>
        </p:spPr>
      </p:sp>
      <p:pic>
        <p:nvPicPr>
          <p:cNvPr id="5" name="Image 0" descr="Scatter plot of K-Means user grouping showing four separated groups">    </p:cNvPr>
          <p:cNvPicPr>
            <a:picLocks noChangeAspect="1"/>
          </p:cNvPicPr>
          <p:nvPr/>
        </p:nvPicPr>
        <p:blipFill>
          <a:blip r:embed="rId1"/>
          <a:srcRect l="0" r="0" t="-828" b="-828"/>
          <a:stretch/>
        </p:blipFill>
        <p:spPr>
          <a:xfrm>
            <a:off x="914400" y="1615439"/>
            <a:ext cx="3181350" cy="2476500"/>
          </a:xfrm>
          <a:prstGeom prst="rect">
            <a:avLst/>
          </a:prstGeom>
        </p:spPr>
      </p:pic>
      <p:sp>
        <p:nvSpPr>
          <p:cNvPr id="6" name="Text 3"/>
          <p:cNvSpPr/>
          <p:nvPr/>
        </p:nvSpPr>
        <p:spPr>
          <a:xfrm>
            <a:off x="914400" y="4168139"/>
            <a:ext cx="327891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IBM Plex Sans" pitchFamily="34" charset="0"/>
                <a:ea typeface="IBM Plex Sans" pitchFamily="34" charset="-122"/>
                <a:cs typeface="IBM Plex Sans" pitchFamily="34" charset="-120"/>
              </a:rPr>
              <a:t>K-Means</a:t>
            </a:r>
            <a:endParaRPr lang="en-US" sz="1600" dirty="0"/>
          </a:p>
        </p:txBody>
      </p:sp>
      <p:sp>
        <p:nvSpPr>
          <p:cNvPr id="7" name="Text 4"/>
          <p:cNvSpPr/>
          <p:nvPr/>
        </p:nvSpPr>
        <p:spPr>
          <a:xfrm>
            <a:off x="914400" y="4528821"/>
            <a:ext cx="327891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Four visibly separated groups</a:t>
            </a:r>
            <a:endParaRPr lang="en-US" sz="1300" dirty="0"/>
          </a:p>
        </p:txBody>
      </p:sp>
      <p:sp>
        <p:nvSpPr>
          <p:cNvPr id="8" name="Shape 5"/>
          <p:cNvSpPr/>
          <p:nvPr/>
        </p:nvSpPr>
        <p:spPr>
          <a:xfrm>
            <a:off x="4402614" y="1513839"/>
            <a:ext cx="3386693" cy="3578860"/>
          </a:xfrm>
          <a:prstGeom prst="roundRect">
            <a:avLst>
              <a:gd name="adj" fmla="val 3000"/>
            </a:avLst>
          </a:prstGeom>
          <a:solidFill>
            <a:srgbClr val="F4F7F6"/>
          </a:solidFill>
          <a:ln/>
        </p:spPr>
      </p:sp>
      <p:sp>
        <p:nvSpPr>
          <p:cNvPr id="9" name="Shape 6"/>
          <p:cNvSpPr/>
          <p:nvPr/>
        </p:nvSpPr>
        <p:spPr>
          <a:xfrm>
            <a:off x="4504214" y="1615439"/>
            <a:ext cx="3181350" cy="2476500"/>
          </a:xfrm>
          <a:prstGeom prst="rect">
            <a:avLst/>
          </a:prstGeom>
          <a:solidFill>
            <a:srgbClr val="FFFFFF"/>
          </a:solidFill>
          <a:ln/>
        </p:spPr>
      </p:sp>
      <p:pic>
        <p:nvPicPr>
          <p:cNvPr id="10" name="Image 1" descr="Scatter plot of DBSCAN user grouping showing four dense regions">    </p:cNvPr>
          <p:cNvPicPr>
            <a:picLocks noChangeAspect="1"/>
          </p:cNvPicPr>
          <p:nvPr/>
        </p:nvPicPr>
        <p:blipFill>
          <a:blip r:embed="rId2"/>
          <a:srcRect l="-320" r="-320" t="0" b="0"/>
          <a:stretch/>
        </p:blipFill>
        <p:spPr>
          <a:xfrm>
            <a:off x="4504214" y="1615439"/>
            <a:ext cx="3181350" cy="2476500"/>
          </a:xfrm>
          <a:prstGeom prst="rect">
            <a:avLst/>
          </a:prstGeom>
        </p:spPr>
      </p:pic>
      <p:sp>
        <p:nvSpPr>
          <p:cNvPr id="11" name="Text 7"/>
          <p:cNvSpPr/>
          <p:nvPr/>
        </p:nvSpPr>
        <p:spPr>
          <a:xfrm>
            <a:off x="4504214" y="4168139"/>
            <a:ext cx="327899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IBM Plex Sans" pitchFamily="34" charset="0"/>
                <a:ea typeface="IBM Plex Sans" pitchFamily="34" charset="-122"/>
                <a:cs typeface="IBM Plex Sans" pitchFamily="34" charset="-120"/>
              </a:rPr>
              <a:t>DBSCAN</a:t>
            </a:r>
            <a:endParaRPr lang="en-US" sz="1600" dirty="0"/>
          </a:p>
        </p:txBody>
      </p:sp>
      <p:sp>
        <p:nvSpPr>
          <p:cNvPr id="12" name="Text 8"/>
          <p:cNvSpPr/>
          <p:nvPr/>
        </p:nvSpPr>
        <p:spPr>
          <a:xfrm>
            <a:off x="4504214" y="4528821"/>
            <a:ext cx="327899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Four dense regions and zero noise points</a:t>
            </a:r>
            <a:endParaRPr lang="en-US" sz="1300" dirty="0"/>
          </a:p>
        </p:txBody>
      </p:sp>
      <p:sp>
        <p:nvSpPr>
          <p:cNvPr id="13" name="Shape 9"/>
          <p:cNvSpPr/>
          <p:nvPr/>
        </p:nvSpPr>
        <p:spPr>
          <a:xfrm>
            <a:off x="7992507" y="1513839"/>
            <a:ext cx="3386693" cy="3578860"/>
          </a:xfrm>
          <a:prstGeom prst="roundRect">
            <a:avLst>
              <a:gd name="adj" fmla="val 3000"/>
            </a:avLst>
          </a:prstGeom>
          <a:solidFill>
            <a:srgbClr val="F4F7F6"/>
          </a:solidFill>
          <a:ln/>
        </p:spPr>
      </p:sp>
      <p:sp>
        <p:nvSpPr>
          <p:cNvPr id="14" name="Shape 10"/>
          <p:cNvSpPr/>
          <p:nvPr/>
        </p:nvSpPr>
        <p:spPr>
          <a:xfrm>
            <a:off x="8094107" y="1615439"/>
            <a:ext cx="3181350" cy="2476500"/>
          </a:xfrm>
          <a:prstGeom prst="rect">
            <a:avLst/>
          </a:prstGeom>
          <a:solidFill>
            <a:srgbClr val="FFFFFF"/>
          </a:solidFill>
          <a:ln/>
        </p:spPr>
      </p:sp>
      <p:pic>
        <p:nvPicPr>
          <p:cNvPr id="15" name="Image 2" descr="Scatter plot of DEC user groups with some overlapping groups">    </p:cNvPr>
          <p:cNvPicPr>
            <a:picLocks noChangeAspect="1"/>
          </p:cNvPicPr>
          <p:nvPr/>
        </p:nvPicPr>
        <p:blipFill>
          <a:blip r:embed="rId3"/>
          <a:srcRect l="0" r="0" t="-5535" b="-5535"/>
          <a:stretch/>
        </p:blipFill>
        <p:spPr>
          <a:xfrm>
            <a:off x="8094107" y="1615439"/>
            <a:ext cx="3181350" cy="2476500"/>
          </a:xfrm>
          <a:prstGeom prst="rect">
            <a:avLst/>
          </a:prstGeom>
        </p:spPr>
      </p:pic>
      <p:sp>
        <p:nvSpPr>
          <p:cNvPr id="16" name="Text 11"/>
          <p:cNvSpPr/>
          <p:nvPr/>
        </p:nvSpPr>
        <p:spPr>
          <a:xfrm>
            <a:off x="8094107" y="4168139"/>
            <a:ext cx="327899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IBM Plex Sans" pitchFamily="34" charset="0"/>
                <a:ea typeface="IBM Plex Sans" pitchFamily="34" charset="-122"/>
                <a:cs typeface="IBM Plex Sans" pitchFamily="34" charset="-120"/>
              </a:rPr>
              <a:t>DEC</a:t>
            </a:r>
            <a:endParaRPr lang="en-US" sz="1600" dirty="0"/>
          </a:p>
        </p:txBody>
      </p:sp>
      <p:sp>
        <p:nvSpPr>
          <p:cNvPr id="17" name="Text 12"/>
          <p:cNvSpPr/>
          <p:nvPr/>
        </p:nvSpPr>
        <p:spPr>
          <a:xfrm>
            <a:off x="8094107" y="4528821"/>
            <a:ext cx="32789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Groups overlap more in this projection; the plot alone does not establish quality</a:t>
            </a:r>
            <a:endParaRPr lang="en-US" sz="1300" dirty="0"/>
          </a:p>
        </p:txBody>
      </p:sp>
      <p:sp>
        <p:nvSpPr>
          <p:cNvPr id="18" name="Text 13"/>
          <p:cNvSpPr/>
          <p:nvPr/>
        </p:nvSpPr>
        <p:spPr>
          <a:xfrm>
            <a:off x="812800" y="6220461"/>
            <a:ext cx="78486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Deep Embedded Clustering · UAV disaster communication</a:t>
            </a:r>
            <a:endParaRPr lang="en-US" sz="1300" dirty="0"/>
          </a:p>
        </p:txBody>
      </p:sp>
      <p:sp>
        <p:nvSpPr>
          <p:cNvPr id="19" name="Text 14"/>
          <p:cNvSpPr/>
          <p:nvPr/>
        </p:nvSpPr>
        <p:spPr>
          <a:xfrm>
            <a:off x="10058400" y="6220461"/>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Four DEC user groups</a:t>
            </a:r>
            <a:endParaRPr lang="en-US" sz="3200" dirty="0"/>
          </a:p>
        </p:txBody>
      </p:sp>
      <p:sp>
        <p:nvSpPr>
          <p:cNvPr id="3" name="Shape 1"/>
          <p:cNvSpPr/>
          <p:nvPr/>
        </p:nvSpPr>
        <p:spPr>
          <a:xfrm>
            <a:off x="812800" y="1513839"/>
            <a:ext cx="2527300" cy="3223260"/>
          </a:xfrm>
          <a:prstGeom prst="roundRect">
            <a:avLst>
              <a:gd name="adj" fmla="val 4020"/>
            </a:avLst>
          </a:prstGeom>
          <a:solidFill>
            <a:srgbClr val="F4F7F6"/>
          </a:solidFill>
          <a:ln/>
        </p:spPr>
      </p:sp>
      <p:sp>
        <p:nvSpPr>
          <p:cNvPr id="4" name="Shape 2"/>
          <p:cNvSpPr/>
          <p:nvPr/>
        </p:nvSpPr>
        <p:spPr>
          <a:xfrm>
            <a:off x="812800" y="1513839"/>
            <a:ext cx="2527300" cy="3223260"/>
          </a:xfrm>
          <a:custGeom>
            <a:avLst/>
            <a:gdLst/>
            <a:ahLst/>
            <a:cxnLst/>
            <a:rect l="l" t="t" r="r" b="b"/>
            <a:pathLst>
              <a:path w="2527300" h="3223260">
                <a:moveTo>
                  <a:pt x="0" y="101600"/>
                </a:moveTo>
                <a:lnTo>
                  <a:pt x="0" y="101600"/>
                </a:lnTo>
                <a:arcTo hR="101600" wR="101600" stAng="10800000" swAng="5400000"/>
                <a:lnTo>
                  <a:pt x="2425700" y="0"/>
                </a:lnTo>
                <a:arcTo hR="101600" wR="101600" stAng="16200000" swAng="5400000"/>
                <a:lnTo>
                  <a:pt x="2527300" y="101600"/>
                </a:lnTo>
                <a:arcTo hR="38100" wR="101600" stAng="0" swAng="-5400000"/>
                <a:lnTo>
                  <a:pt x="101600" y="63500"/>
                </a:lnTo>
                <a:arcTo hR="38100" wR="101600" stAng="16200000" swAng="-5400000"/>
                <a:close/>
              </a:path>
            </a:pathLst>
          </a:custGeom>
          <a:solidFill>
            <a:srgbClr val="3F7FA6"/>
          </a:solidFill>
          <a:ln/>
        </p:spPr>
      </p:sp>
      <p:sp>
        <p:nvSpPr>
          <p:cNvPr id="5" name="Text 3"/>
          <p:cNvSpPr/>
          <p:nvPr/>
        </p:nvSpPr>
        <p:spPr>
          <a:xfrm>
            <a:off x="1016000" y="1752600"/>
            <a:ext cx="2184527"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5A6B78"/>
                </a:solidFill>
                <a:latin typeface="IBM Plex Sans" pitchFamily="34" charset="0"/>
                <a:ea typeface="IBM Plex Sans" pitchFamily="34" charset="-122"/>
                <a:cs typeface="IBM Plex Sans" pitchFamily="34" charset="-120"/>
              </a:rPr>
              <a:t>CLUSTER 0</a:t>
            </a:r>
            <a:endParaRPr lang="en-US" sz="1300" dirty="0"/>
          </a:p>
        </p:txBody>
      </p:sp>
      <p:sp>
        <p:nvSpPr>
          <p:cNvPr id="6" name="Text 4"/>
          <p:cNvSpPr/>
          <p:nvPr/>
        </p:nvSpPr>
        <p:spPr>
          <a:xfrm>
            <a:off x="1016000" y="2034539"/>
            <a:ext cx="2184527"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General</a:t>
            </a:r>
            <a:endParaRPr lang="en-US" sz="2000" dirty="0"/>
          </a:p>
        </p:txBody>
      </p:sp>
      <p:sp>
        <p:nvSpPr>
          <p:cNvPr id="7" name="Text 5"/>
          <p:cNvSpPr/>
          <p:nvPr/>
        </p:nvSpPr>
        <p:spPr>
          <a:xfrm>
            <a:off x="1016000" y="2364739"/>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General information</a:t>
            </a:r>
            <a:endParaRPr lang="en-US" sz="1300" dirty="0"/>
          </a:p>
        </p:txBody>
      </p:sp>
      <p:sp>
        <p:nvSpPr>
          <p:cNvPr id="8" name="Text 6"/>
          <p:cNvSpPr/>
          <p:nvPr/>
        </p:nvSpPr>
        <p:spPr>
          <a:xfrm>
            <a:off x="1016000" y="2646682"/>
            <a:ext cx="21845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253 users</a:t>
            </a:r>
            <a:endParaRPr lang="en-US" sz="1300" dirty="0"/>
          </a:p>
        </p:txBody>
      </p:sp>
      <p:sp>
        <p:nvSpPr>
          <p:cNvPr id="9" name="Text 7"/>
          <p:cNvSpPr/>
          <p:nvPr/>
        </p:nvSpPr>
        <p:spPr>
          <a:xfrm>
            <a:off x="1016000" y="2928621"/>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Average priority</a:t>
            </a:r>
            <a:endParaRPr lang="en-US" sz="1300" dirty="0"/>
          </a:p>
        </p:txBody>
      </p:sp>
      <p:sp>
        <p:nvSpPr>
          <p:cNvPr id="10" name="Text 8"/>
          <p:cNvSpPr/>
          <p:nvPr/>
        </p:nvSpPr>
        <p:spPr>
          <a:xfrm>
            <a:off x="1016000" y="3210561"/>
            <a:ext cx="52863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1.21</a:t>
            </a:r>
            <a:endParaRPr lang="en-US" sz="2000" dirty="0"/>
          </a:p>
        </p:txBody>
      </p:sp>
      <p:sp>
        <p:nvSpPr>
          <p:cNvPr id="11" name="Text 9"/>
          <p:cNvSpPr/>
          <p:nvPr/>
        </p:nvSpPr>
        <p:spPr>
          <a:xfrm>
            <a:off x="1544638" y="3302000"/>
            <a:ext cx="35947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Low</a:t>
            </a:r>
            <a:endParaRPr lang="en-US" sz="1300" dirty="0"/>
          </a:p>
        </p:txBody>
      </p:sp>
      <p:sp>
        <p:nvSpPr>
          <p:cNvPr id="12" name="Shape 10"/>
          <p:cNvSpPr/>
          <p:nvPr/>
        </p:nvSpPr>
        <p:spPr>
          <a:xfrm>
            <a:off x="1016000" y="3616961"/>
            <a:ext cx="2120900" cy="88900"/>
          </a:xfrm>
          <a:prstGeom prst="roundRect">
            <a:avLst>
              <a:gd name="adj" fmla="val 50000"/>
            </a:avLst>
          </a:prstGeom>
          <a:solidFill>
            <a:srgbClr val="DCE3E0"/>
          </a:solidFill>
          <a:ln/>
        </p:spPr>
      </p:sp>
      <p:sp>
        <p:nvSpPr>
          <p:cNvPr id="13" name="Shape 11"/>
          <p:cNvSpPr/>
          <p:nvPr/>
        </p:nvSpPr>
        <p:spPr>
          <a:xfrm>
            <a:off x="1016000" y="3616961"/>
            <a:ext cx="2120900" cy="88900"/>
          </a:xfrm>
          <a:prstGeom prst="roundRect">
            <a:avLst>
              <a:gd name="adj" fmla="val 50000"/>
            </a:avLst>
          </a:prstGeom>
          <a:solidFill>
            <a:srgbClr val="14736F"/>
          </a:solidFill>
          <a:ln/>
        </p:spPr>
      </p:sp>
      <p:sp>
        <p:nvSpPr>
          <p:cNvPr id="14" name="Text 12"/>
          <p:cNvSpPr/>
          <p:nvPr/>
        </p:nvSpPr>
        <p:spPr>
          <a:xfrm>
            <a:off x="1016000" y="3756661"/>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Average allowed delay</a:t>
            </a:r>
            <a:endParaRPr lang="en-US" sz="1300" dirty="0"/>
          </a:p>
        </p:txBody>
      </p:sp>
      <p:sp>
        <p:nvSpPr>
          <p:cNvPr id="15" name="Text 13"/>
          <p:cNvSpPr/>
          <p:nvPr/>
        </p:nvSpPr>
        <p:spPr>
          <a:xfrm>
            <a:off x="1016000" y="4038600"/>
            <a:ext cx="6741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5.95 s</a:t>
            </a:r>
            <a:endParaRPr lang="en-US" sz="2000" dirty="0"/>
          </a:p>
        </p:txBody>
      </p:sp>
      <p:sp>
        <p:nvSpPr>
          <p:cNvPr id="16" name="Text 14"/>
          <p:cNvSpPr/>
          <p:nvPr/>
        </p:nvSpPr>
        <p:spPr>
          <a:xfrm>
            <a:off x="1690132" y="4130042"/>
            <a:ext cx="69865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Flexible</a:t>
            </a:r>
            <a:endParaRPr lang="en-US" sz="1300" dirty="0"/>
          </a:p>
        </p:txBody>
      </p:sp>
      <p:sp>
        <p:nvSpPr>
          <p:cNvPr id="17" name="Shape 15"/>
          <p:cNvSpPr/>
          <p:nvPr/>
        </p:nvSpPr>
        <p:spPr>
          <a:xfrm>
            <a:off x="1016000" y="4445000"/>
            <a:ext cx="2120900" cy="88900"/>
          </a:xfrm>
          <a:prstGeom prst="roundRect">
            <a:avLst>
              <a:gd name="adj" fmla="val 50000"/>
            </a:avLst>
          </a:prstGeom>
          <a:solidFill>
            <a:srgbClr val="DCE3E0"/>
          </a:solidFill>
          <a:ln/>
        </p:spPr>
      </p:sp>
      <p:sp>
        <p:nvSpPr>
          <p:cNvPr id="18" name="Shape 16"/>
          <p:cNvSpPr/>
          <p:nvPr/>
        </p:nvSpPr>
        <p:spPr>
          <a:xfrm>
            <a:off x="1016000" y="4445000"/>
            <a:ext cx="2120900" cy="88900"/>
          </a:xfrm>
          <a:prstGeom prst="roundRect">
            <a:avLst>
              <a:gd name="adj" fmla="val 50000"/>
            </a:avLst>
          </a:prstGeom>
          <a:solidFill>
            <a:srgbClr val="14736F"/>
          </a:solidFill>
          <a:ln/>
        </p:spPr>
      </p:sp>
      <p:sp>
        <p:nvSpPr>
          <p:cNvPr id="19" name="Shape 17"/>
          <p:cNvSpPr/>
          <p:nvPr/>
        </p:nvSpPr>
        <p:spPr>
          <a:xfrm>
            <a:off x="3492500" y="1513839"/>
            <a:ext cx="2527300" cy="3223260"/>
          </a:xfrm>
          <a:prstGeom prst="roundRect">
            <a:avLst>
              <a:gd name="adj" fmla="val 4020"/>
            </a:avLst>
          </a:prstGeom>
          <a:solidFill>
            <a:srgbClr val="F4F7F6"/>
          </a:solidFill>
          <a:ln/>
        </p:spPr>
      </p:sp>
      <p:sp>
        <p:nvSpPr>
          <p:cNvPr id="20" name="Shape 18"/>
          <p:cNvSpPr/>
          <p:nvPr/>
        </p:nvSpPr>
        <p:spPr>
          <a:xfrm>
            <a:off x="3492500" y="1513839"/>
            <a:ext cx="2527300" cy="3223260"/>
          </a:xfrm>
          <a:custGeom>
            <a:avLst/>
            <a:gdLst/>
            <a:ahLst/>
            <a:cxnLst/>
            <a:rect l="l" t="t" r="r" b="b"/>
            <a:pathLst>
              <a:path w="2527300" h="3223260">
                <a:moveTo>
                  <a:pt x="0" y="101600"/>
                </a:moveTo>
                <a:lnTo>
                  <a:pt x="0" y="101600"/>
                </a:lnTo>
                <a:arcTo hR="101600" wR="101600" stAng="10800000" swAng="5400000"/>
                <a:lnTo>
                  <a:pt x="2425700" y="0"/>
                </a:lnTo>
                <a:arcTo hR="101600" wR="101600" stAng="16200000" swAng="5400000"/>
                <a:lnTo>
                  <a:pt x="2527300" y="101600"/>
                </a:lnTo>
                <a:arcTo hR="38100" wR="101600" stAng="0" swAng="-5400000"/>
                <a:lnTo>
                  <a:pt x="101600" y="63500"/>
                </a:lnTo>
                <a:arcTo hR="38100" wR="101600" stAng="16200000" swAng="-5400000"/>
                <a:close/>
              </a:path>
            </a:pathLst>
          </a:custGeom>
          <a:solidFill>
            <a:srgbClr val="C4503F"/>
          </a:solidFill>
          <a:ln/>
        </p:spPr>
      </p:sp>
      <p:sp>
        <p:nvSpPr>
          <p:cNvPr id="21" name="Text 19"/>
          <p:cNvSpPr/>
          <p:nvPr/>
        </p:nvSpPr>
        <p:spPr>
          <a:xfrm>
            <a:off x="3695700" y="1752600"/>
            <a:ext cx="2184527"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5A6B78"/>
                </a:solidFill>
                <a:latin typeface="IBM Plex Sans" pitchFamily="34" charset="0"/>
                <a:ea typeface="IBM Plex Sans" pitchFamily="34" charset="-122"/>
                <a:cs typeface="IBM Plex Sans" pitchFamily="34" charset="-120"/>
              </a:rPr>
              <a:t>CLUSTER 1</a:t>
            </a:r>
            <a:endParaRPr lang="en-US" sz="1300" dirty="0"/>
          </a:p>
        </p:txBody>
      </p:sp>
      <p:sp>
        <p:nvSpPr>
          <p:cNvPr id="22" name="Text 20"/>
          <p:cNvSpPr/>
          <p:nvPr/>
        </p:nvSpPr>
        <p:spPr>
          <a:xfrm>
            <a:off x="3695700" y="2034539"/>
            <a:ext cx="2184527"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Medical</a:t>
            </a:r>
            <a:endParaRPr lang="en-US" sz="2000" dirty="0"/>
          </a:p>
        </p:txBody>
      </p:sp>
      <p:sp>
        <p:nvSpPr>
          <p:cNvPr id="23" name="Text 21"/>
          <p:cNvSpPr/>
          <p:nvPr/>
        </p:nvSpPr>
        <p:spPr>
          <a:xfrm>
            <a:off x="3695700" y="2364739"/>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Medical emergency</a:t>
            </a:r>
            <a:endParaRPr lang="en-US" sz="1300" dirty="0"/>
          </a:p>
        </p:txBody>
      </p:sp>
      <p:sp>
        <p:nvSpPr>
          <p:cNvPr id="24" name="Text 22"/>
          <p:cNvSpPr/>
          <p:nvPr/>
        </p:nvSpPr>
        <p:spPr>
          <a:xfrm>
            <a:off x="3695700" y="2646682"/>
            <a:ext cx="21845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253 users</a:t>
            </a:r>
            <a:endParaRPr lang="en-US" sz="1300" dirty="0"/>
          </a:p>
        </p:txBody>
      </p:sp>
      <p:sp>
        <p:nvSpPr>
          <p:cNvPr id="25" name="Text 23"/>
          <p:cNvSpPr/>
          <p:nvPr/>
        </p:nvSpPr>
        <p:spPr>
          <a:xfrm>
            <a:off x="3695700" y="2928621"/>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Average priority</a:t>
            </a:r>
            <a:endParaRPr lang="en-US" sz="1300" dirty="0"/>
          </a:p>
        </p:txBody>
      </p:sp>
      <p:sp>
        <p:nvSpPr>
          <p:cNvPr id="26" name="Text 24"/>
          <p:cNvSpPr/>
          <p:nvPr/>
        </p:nvSpPr>
        <p:spPr>
          <a:xfrm>
            <a:off x="3695700" y="3210561"/>
            <a:ext cx="52863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2.81</a:t>
            </a:r>
            <a:endParaRPr lang="en-US" sz="2000" dirty="0"/>
          </a:p>
        </p:txBody>
      </p:sp>
      <p:sp>
        <p:nvSpPr>
          <p:cNvPr id="27" name="Text 25"/>
          <p:cNvSpPr/>
          <p:nvPr/>
        </p:nvSpPr>
        <p:spPr>
          <a:xfrm>
            <a:off x="4224338" y="3302000"/>
            <a:ext cx="4068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High</a:t>
            </a:r>
            <a:endParaRPr lang="en-US" sz="1300" dirty="0"/>
          </a:p>
        </p:txBody>
      </p:sp>
      <p:sp>
        <p:nvSpPr>
          <p:cNvPr id="28" name="Shape 26"/>
          <p:cNvSpPr/>
          <p:nvPr/>
        </p:nvSpPr>
        <p:spPr>
          <a:xfrm>
            <a:off x="3695700" y="3616961"/>
            <a:ext cx="2120900" cy="88900"/>
          </a:xfrm>
          <a:prstGeom prst="roundRect">
            <a:avLst>
              <a:gd name="adj" fmla="val 50000"/>
            </a:avLst>
          </a:prstGeom>
          <a:solidFill>
            <a:srgbClr val="DCE3E0"/>
          </a:solidFill>
          <a:ln/>
        </p:spPr>
      </p:sp>
      <p:sp>
        <p:nvSpPr>
          <p:cNvPr id="29" name="Shape 27"/>
          <p:cNvSpPr/>
          <p:nvPr/>
        </p:nvSpPr>
        <p:spPr>
          <a:xfrm>
            <a:off x="3695700" y="3616961"/>
            <a:ext cx="2120900" cy="88900"/>
          </a:xfrm>
          <a:prstGeom prst="roundRect">
            <a:avLst>
              <a:gd name="adj" fmla="val 50000"/>
            </a:avLst>
          </a:prstGeom>
          <a:solidFill>
            <a:srgbClr val="14736F"/>
          </a:solidFill>
          <a:ln/>
        </p:spPr>
      </p:sp>
      <p:sp>
        <p:nvSpPr>
          <p:cNvPr id="30" name="Text 28"/>
          <p:cNvSpPr/>
          <p:nvPr/>
        </p:nvSpPr>
        <p:spPr>
          <a:xfrm>
            <a:off x="3695700" y="3756661"/>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Average allowed delay</a:t>
            </a:r>
            <a:endParaRPr lang="en-US" sz="1300" dirty="0"/>
          </a:p>
        </p:txBody>
      </p:sp>
      <p:sp>
        <p:nvSpPr>
          <p:cNvPr id="31" name="Text 29"/>
          <p:cNvSpPr/>
          <p:nvPr/>
        </p:nvSpPr>
        <p:spPr>
          <a:xfrm>
            <a:off x="3695700" y="4038600"/>
            <a:ext cx="6741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0.98 s</a:t>
            </a:r>
            <a:endParaRPr lang="en-US" sz="2000" dirty="0"/>
          </a:p>
        </p:txBody>
      </p:sp>
      <p:sp>
        <p:nvSpPr>
          <p:cNvPr id="32" name="Text 30"/>
          <p:cNvSpPr/>
          <p:nvPr/>
        </p:nvSpPr>
        <p:spPr>
          <a:xfrm>
            <a:off x="4369832" y="4130042"/>
            <a:ext cx="5967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Urgent</a:t>
            </a:r>
            <a:endParaRPr lang="en-US" sz="1300" dirty="0"/>
          </a:p>
        </p:txBody>
      </p:sp>
      <p:sp>
        <p:nvSpPr>
          <p:cNvPr id="33" name="Shape 31"/>
          <p:cNvSpPr/>
          <p:nvPr/>
        </p:nvSpPr>
        <p:spPr>
          <a:xfrm>
            <a:off x="3695700" y="4445000"/>
            <a:ext cx="2120900" cy="88900"/>
          </a:xfrm>
          <a:prstGeom prst="roundRect">
            <a:avLst>
              <a:gd name="adj" fmla="val 50000"/>
            </a:avLst>
          </a:prstGeom>
          <a:solidFill>
            <a:srgbClr val="DCE3E0"/>
          </a:solidFill>
          <a:ln/>
        </p:spPr>
      </p:sp>
      <p:sp>
        <p:nvSpPr>
          <p:cNvPr id="34" name="Shape 32"/>
          <p:cNvSpPr/>
          <p:nvPr/>
        </p:nvSpPr>
        <p:spPr>
          <a:xfrm>
            <a:off x="3695700" y="4445000"/>
            <a:ext cx="2120900" cy="88900"/>
          </a:xfrm>
          <a:prstGeom prst="roundRect">
            <a:avLst>
              <a:gd name="adj" fmla="val 50000"/>
            </a:avLst>
          </a:prstGeom>
          <a:solidFill>
            <a:srgbClr val="14736F"/>
          </a:solidFill>
          <a:ln/>
        </p:spPr>
      </p:sp>
      <p:sp>
        <p:nvSpPr>
          <p:cNvPr id="35" name="Shape 33"/>
          <p:cNvSpPr/>
          <p:nvPr/>
        </p:nvSpPr>
        <p:spPr>
          <a:xfrm>
            <a:off x="6172200" y="1513839"/>
            <a:ext cx="2527300" cy="3223260"/>
          </a:xfrm>
          <a:prstGeom prst="roundRect">
            <a:avLst>
              <a:gd name="adj" fmla="val 4020"/>
            </a:avLst>
          </a:prstGeom>
          <a:solidFill>
            <a:srgbClr val="F4F7F6"/>
          </a:solidFill>
          <a:ln/>
        </p:spPr>
      </p:sp>
      <p:sp>
        <p:nvSpPr>
          <p:cNvPr id="36" name="Shape 34"/>
          <p:cNvSpPr/>
          <p:nvPr/>
        </p:nvSpPr>
        <p:spPr>
          <a:xfrm>
            <a:off x="6172200" y="1513839"/>
            <a:ext cx="2527300" cy="3223260"/>
          </a:xfrm>
          <a:custGeom>
            <a:avLst/>
            <a:gdLst/>
            <a:ahLst/>
            <a:cxnLst/>
            <a:rect l="l" t="t" r="r" b="b"/>
            <a:pathLst>
              <a:path w="2527300" h="3223260">
                <a:moveTo>
                  <a:pt x="0" y="101600"/>
                </a:moveTo>
                <a:lnTo>
                  <a:pt x="0" y="101600"/>
                </a:lnTo>
                <a:arcTo hR="101600" wR="101600" stAng="10800000" swAng="5400000"/>
                <a:lnTo>
                  <a:pt x="2425700" y="0"/>
                </a:lnTo>
                <a:arcTo hR="101600" wR="101600" stAng="16200000" swAng="5400000"/>
                <a:lnTo>
                  <a:pt x="2527300" y="101600"/>
                </a:lnTo>
                <a:arcTo hR="38100" wR="101600" stAng="0" swAng="-5400000"/>
                <a:lnTo>
                  <a:pt x="101600" y="63500"/>
                </a:lnTo>
                <a:arcTo hR="38100" wR="101600" stAng="16200000" swAng="-5400000"/>
                <a:close/>
              </a:path>
            </a:pathLst>
          </a:custGeom>
          <a:solidFill>
            <a:srgbClr val="1B8A86"/>
          </a:solidFill>
          <a:ln/>
        </p:spPr>
      </p:sp>
      <p:sp>
        <p:nvSpPr>
          <p:cNvPr id="37" name="Text 35"/>
          <p:cNvSpPr/>
          <p:nvPr/>
        </p:nvSpPr>
        <p:spPr>
          <a:xfrm>
            <a:off x="6375400" y="1752600"/>
            <a:ext cx="2184527"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5A6B78"/>
                </a:solidFill>
                <a:latin typeface="IBM Plex Sans" pitchFamily="34" charset="0"/>
                <a:ea typeface="IBM Plex Sans" pitchFamily="34" charset="-122"/>
                <a:cs typeface="IBM Plex Sans" pitchFamily="34" charset="-120"/>
              </a:rPr>
              <a:t>CLUSTER 2</a:t>
            </a:r>
            <a:endParaRPr lang="en-US" sz="1300" dirty="0"/>
          </a:p>
        </p:txBody>
      </p:sp>
      <p:sp>
        <p:nvSpPr>
          <p:cNvPr id="38" name="Text 36"/>
          <p:cNvSpPr/>
          <p:nvPr/>
        </p:nvSpPr>
        <p:spPr>
          <a:xfrm>
            <a:off x="6375400" y="2034539"/>
            <a:ext cx="2184527"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Location</a:t>
            </a:r>
            <a:endParaRPr lang="en-US" sz="2000" dirty="0"/>
          </a:p>
        </p:txBody>
      </p:sp>
      <p:sp>
        <p:nvSpPr>
          <p:cNvPr id="39" name="Text 37"/>
          <p:cNvSpPr/>
          <p:nvPr/>
        </p:nvSpPr>
        <p:spPr>
          <a:xfrm>
            <a:off x="6375400" y="2364739"/>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Location sharing</a:t>
            </a:r>
            <a:endParaRPr lang="en-US" sz="1300" dirty="0"/>
          </a:p>
        </p:txBody>
      </p:sp>
      <p:sp>
        <p:nvSpPr>
          <p:cNvPr id="40" name="Text 38"/>
          <p:cNvSpPr/>
          <p:nvPr/>
        </p:nvSpPr>
        <p:spPr>
          <a:xfrm>
            <a:off x="6375400" y="2646682"/>
            <a:ext cx="21845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256 users</a:t>
            </a:r>
            <a:endParaRPr lang="en-US" sz="1300" dirty="0"/>
          </a:p>
        </p:txBody>
      </p:sp>
      <p:sp>
        <p:nvSpPr>
          <p:cNvPr id="41" name="Text 39"/>
          <p:cNvSpPr/>
          <p:nvPr/>
        </p:nvSpPr>
        <p:spPr>
          <a:xfrm>
            <a:off x="6375400" y="2928621"/>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Average priority</a:t>
            </a:r>
            <a:endParaRPr lang="en-US" sz="1300" dirty="0"/>
          </a:p>
        </p:txBody>
      </p:sp>
      <p:sp>
        <p:nvSpPr>
          <p:cNvPr id="42" name="Text 40"/>
          <p:cNvSpPr/>
          <p:nvPr/>
        </p:nvSpPr>
        <p:spPr>
          <a:xfrm>
            <a:off x="6375400" y="3210561"/>
            <a:ext cx="52863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2.02</a:t>
            </a:r>
            <a:endParaRPr lang="en-US" sz="2000" dirty="0"/>
          </a:p>
        </p:txBody>
      </p:sp>
      <p:sp>
        <p:nvSpPr>
          <p:cNvPr id="43" name="Text 41"/>
          <p:cNvSpPr/>
          <p:nvPr/>
        </p:nvSpPr>
        <p:spPr>
          <a:xfrm>
            <a:off x="6904038" y="3302000"/>
            <a:ext cx="71961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Medium</a:t>
            </a:r>
            <a:endParaRPr lang="en-US" sz="1300" dirty="0"/>
          </a:p>
        </p:txBody>
      </p:sp>
      <p:sp>
        <p:nvSpPr>
          <p:cNvPr id="44" name="Shape 42"/>
          <p:cNvSpPr/>
          <p:nvPr/>
        </p:nvSpPr>
        <p:spPr>
          <a:xfrm>
            <a:off x="6375400" y="3616961"/>
            <a:ext cx="2120900" cy="88900"/>
          </a:xfrm>
          <a:prstGeom prst="roundRect">
            <a:avLst>
              <a:gd name="adj" fmla="val 50000"/>
            </a:avLst>
          </a:prstGeom>
          <a:solidFill>
            <a:srgbClr val="DCE3E0"/>
          </a:solidFill>
          <a:ln/>
        </p:spPr>
      </p:sp>
      <p:sp>
        <p:nvSpPr>
          <p:cNvPr id="45" name="Shape 43"/>
          <p:cNvSpPr/>
          <p:nvPr/>
        </p:nvSpPr>
        <p:spPr>
          <a:xfrm>
            <a:off x="6375400" y="3616961"/>
            <a:ext cx="2120900" cy="88900"/>
          </a:xfrm>
          <a:prstGeom prst="roundRect">
            <a:avLst>
              <a:gd name="adj" fmla="val 50000"/>
            </a:avLst>
          </a:prstGeom>
          <a:solidFill>
            <a:srgbClr val="14736F"/>
          </a:solidFill>
          <a:ln/>
        </p:spPr>
      </p:sp>
      <p:sp>
        <p:nvSpPr>
          <p:cNvPr id="46" name="Text 44"/>
          <p:cNvSpPr/>
          <p:nvPr/>
        </p:nvSpPr>
        <p:spPr>
          <a:xfrm>
            <a:off x="6375400" y="3756661"/>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Average allowed delay</a:t>
            </a:r>
            <a:endParaRPr lang="en-US" sz="1300" dirty="0"/>
          </a:p>
        </p:txBody>
      </p:sp>
      <p:sp>
        <p:nvSpPr>
          <p:cNvPr id="47" name="Text 45"/>
          <p:cNvSpPr/>
          <p:nvPr/>
        </p:nvSpPr>
        <p:spPr>
          <a:xfrm>
            <a:off x="6375400" y="4038600"/>
            <a:ext cx="6741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3.00 s</a:t>
            </a:r>
            <a:endParaRPr lang="en-US" sz="2000" dirty="0"/>
          </a:p>
        </p:txBody>
      </p:sp>
      <p:sp>
        <p:nvSpPr>
          <p:cNvPr id="48" name="Text 46"/>
          <p:cNvSpPr/>
          <p:nvPr/>
        </p:nvSpPr>
        <p:spPr>
          <a:xfrm>
            <a:off x="7049532" y="4130042"/>
            <a:ext cx="71961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Medium</a:t>
            </a:r>
            <a:endParaRPr lang="en-US" sz="1300" dirty="0"/>
          </a:p>
        </p:txBody>
      </p:sp>
      <p:sp>
        <p:nvSpPr>
          <p:cNvPr id="49" name="Shape 47"/>
          <p:cNvSpPr/>
          <p:nvPr/>
        </p:nvSpPr>
        <p:spPr>
          <a:xfrm>
            <a:off x="6375400" y="4445000"/>
            <a:ext cx="2120900" cy="88900"/>
          </a:xfrm>
          <a:prstGeom prst="roundRect">
            <a:avLst>
              <a:gd name="adj" fmla="val 50000"/>
            </a:avLst>
          </a:prstGeom>
          <a:solidFill>
            <a:srgbClr val="DCE3E0"/>
          </a:solidFill>
          <a:ln/>
        </p:spPr>
      </p:sp>
      <p:sp>
        <p:nvSpPr>
          <p:cNvPr id="50" name="Shape 48"/>
          <p:cNvSpPr/>
          <p:nvPr/>
        </p:nvSpPr>
        <p:spPr>
          <a:xfrm>
            <a:off x="6375400" y="4445000"/>
            <a:ext cx="2120900" cy="88900"/>
          </a:xfrm>
          <a:prstGeom prst="roundRect">
            <a:avLst>
              <a:gd name="adj" fmla="val 50000"/>
            </a:avLst>
          </a:prstGeom>
          <a:solidFill>
            <a:srgbClr val="14736F"/>
          </a:solidFill>
          <a:ln/>
        </p:spPr>
      </p:sp>
      <p:sp>
        <p:nvSpPr>
          <p:cNvPr id="51" name="Shape 49"/>
          <p:cNvSpPr/>
          <p:nvPr/>
        </p:nvSpPr>
        <p:spPr>
          <a:xfrm>
            <a:off x="8851900" y="1513839"/>
            <a:ext cx="2527300" cy="3223260"/>
          </a:xfrm>
          <a:prstGeom prst="roundRect">
            <a:avLst>
              <a:gd name="adj" fmla="val 4020"/>
            </a:avLst>
          </a:prstGeom>
          <a:solidFill>
            <a:srgbClr val="F4F7F6"/>
          </a:solidFill>
          <a:ln/>
        </p:spPr>
      </p:sp>
      <p:sp>
        <p:nvSpPr>
          <p:cNvPr id="52" name="Shape 50"/>
          <p:cNvSpPr/>
          <p:nvPr/>
        </p:nvSpPr>
        <p:spPr>
          <a:xfrm>
            <a:off x="8851900" y="1513839"/>
            <a:ext cx="2527300" cy="3223260"/>
          </a:xfrm>
          <a:custGeom>
            <a:avLst/>
            <a:gdLst/>
            <a:ahLst/>
            <a:cxnLst/>
            <a:rect l="l" t="t" r="r" b="b"/>
            <a:pathLst>
              <a:path w="2527300" h="3223260">
                <a:moveTo>
                  <a:pt x="0" y="101600"/>
                </a:moveTo>
                <a:lnTo>
                  <a:pt x="0" y="101600"/>
                </a:lnTo>
                <a:arcTo hR="101600" wR="101600" stAng="10800000" swAng="5400000"/>
                <a:lnTo>
                  <a:pt x="2425700" y="0"/>
                </a:lnTo>
                <a:arcTo hR="101600" wR="101600" stAng="16200000" swAng="5400000"/>
                <a:lnTo>
                  <a:pt x="2527300" y="101600"/>
                </a:lnTo>
                <a:arcTo hR="38100" wR="101600" stAng="0" swAng="-5400000"/>
                <a:lnTo>
                  <a:pt x="101600" y="63500"/>
                </a:lnTo>
                <a:arcTo hR="38100" wR="101600" stAng="16200000" swAng="-5400000"/>
                <a:close/>
              </a:path>
            </a:pathLst>
          </a:custGeom>
          <a:solidFill>
            <a:srgbClr val="D4922B"/>
          </a:solidFill>
          <a:ln/>
        </p:spPr>
      </p:sp>
      <p:sp>
        <p:nvSpPr>
          <p:cNvPr id="53" name="Text 51"/>
          <p:cNvSpPr/>
          <p:nvPr/>
        </p:nvSpPr>
        <p:spPr>
          <a:xfrm>
            <a:off x="9055100" y="1752600"/>
            <a:ext cx="2184527"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5A6B78"/>
                </a:solidFill>
                <a:latin typeface="IBM Plex Sans" pitchFamily="34" charset="0"/>
                <a:ea typeface="IBM Plex Sans" pitchFamily="34" charset="-122"/>
                <a:cs typeface="IBM Plex Sans" pitchFamily="34" charset="-120"/>
              </a:rPr>
              <a:t>CLUSTER 3</a:t>
            </a:r>
            <a:endParaRPr lang="en-US" sz="1300" dirty="0"/>
          </a:p>
        </p:txBody>
      </p:sp>
      <p:sp>
        <p:nvSpPr>
          <p:cNvPr id="54" name="Text 52"/>
          <p:cNvSpPr/>
          <p:nvPr/>
        </p:nvSpPr>
        <p:spPr>
          <a:xfrm>
            <a:off x="9055100" y="2034539"/>
            <a:ext cx="2184527"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Rescue</a:t>
            </a:r>
            <a:endParaRPr lang="en-US" sz="2000" dirty="0"/>
          </a:p>
        </p:txBody>
      </p:sp>
      <p:sp>
        <p:nvSpPr>
          <p:cNvPr id="55" name="Text 53"/>
          <p:cNvSpPr/>
          <p:nvPr/>
        </p:nvSpPr>
        <p:spPr>
          <a:xfrm>
            <a:off x="9055100" y="2364739"/>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Rescue operation</a:t>
            </a:r>
            <a:endParaRPr lang="en-US" sz="1300" dirty="0"/>
          </a:p>
        </p:txBody>
      </p:sp>
      <p:sp>
        <p:nvSpPr>
          <p:cNvPr id="56" name="Text 54"/>
          <p:cNvSpPr/>
          <p:nvPr/>
        </p:nvSpPr>
        <p:spPr>
          <a:xfrm>
            <a:off x="9055100" y="2646682"/>
            <a:ext cx="21845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238 users</a:t>
            </a:r>
            <a:endParaRPr lang="en-US" sz="1300" dirty="0"/>
          </a:p>
        </p:txBody>
      </p:sp>
      <p:sp>
        <p:nvSpPr>
          <p:cNvPr id="57" name="Text 55"/>
          <p:cNvSpPr/>
          <p:nvPr/>
        </p:nvSpPr>
        <p:spPr>
          <a:xfrm>
            <a:off x="9055100" y="2928621"/>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Average priority</a:t>
            </a:r>
            <a:endParaRPr lang="en-US" sz="1300" dirty="0"/>
          </a:p>
        </p:txBody>
      </p:sp>
      <p:sp>
        <p:nvSpPr>
          <p:cNvPr id="58" name="Text 56"/>
          <p:cNvSpPr/>
          <p:nvPr/>
        </p:nvSpPr>
        <p:spPr>
          <a:xfrm>
            <a:off x="9055100" y="3210561"/>
            <a:ext cx="52863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2.81</a:t>
            </a:r>
            <a:endParaRPr lang="en-US" sz="2000" dirty="0"/>
          </a:p>
        </p:txBody>
      </p:sp>
      <p:sp>
        <p:nvSpPr>
          <p:cNvPr id="59" name="Text 57"/>
          <p:cNvSpPr/>
          <p:nvPr/>
        </p:nvSpPr>
        <p:spPr>
          <a:xfrm>
            <a:off x="9583738" y="3302000"/>
            <a:ext cx="40681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High</a:t>
            </a:r>
            <a:endParaRPr lang="en-US" sz="1300" dirty="0"/>
          </a:p>
        </p:txBody>
      </p:sp>
      <p:sp>
        <p:nvSpPr>
          <p:cNvPr id="60" name="Shape 58"/>
          <p:cNvSpPr/>
          <p:nvPr/>
        </p:nvSpPr>
        <p:spPr>
          <a:xfrm>
            <a:off x="9055100" y="3616961"/>
            <a:ext cx="2120900" cy="88900"/>
          </a:xfrm>
          <a:prstGeom prst="roundRect">
            <a:avLst>
              <a:gd name="adj" fmla="val 50000"/>
            </a:avLst>
          </a:prstGeom>
          <a:solidFill>
            <a:srgbClr val="DCE3E0"/>
          </a:solidFill>
          <a:ln/>
        </p:spPr>
      </p:sp>
      <p:sp>
        <p:nvSpPr>
          <p:cNvPr id="61" name="Shape 59"/>
          <p:cNvSpPr/>
          <p:nvPr/>
        </p:nvSpPr>
        <p:spPr>
          <a:xfrm>
            <a:off x="9055100" y="3616961"/>
            <a:ext cx="2120900" cy="88900"/>
          </a:xfrm>
          <a:prstGeom prst="roundRect">
            <a:avLst>
              <a:gd name="adj" fmla="val 50000"/>
            </a:avLst>
          </a:prstGeom>
          <a:solidFill>
            <a:srgbClr val="14736F"/>
          </a:solidFill>
          <a:ln/>
        </p:spPr>
      </p:sp>
      <p:sp>
        <p:nvSpPr>
          <p:cNvPr id="62" name="Text 60"/>
          <p:cNvSpPr/>
          <p:nvPr/>
        </p:nvSpPr>
        <p:spPr>
          <a:xfrm>
            <a:off x="9055100" y="3756661"/>
            <a:ext cx="21845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Average allowed delay</a:t>
            </a:r>
            <a:endParaRPr lang="en-US" sz="1300" dirty="0"/>
          </a:p>
        </p:txBody>
      </p:sp>
      <p:sp>
        <p:nvSpPr>
          <p:cNvPr id="63" name="Text 61"/>
          <p:cNvSpPr/>
          <p:nvPr/>
        </p:nvSpPr>
        <p:spPr>
          <a:xfrm>
            <a:off x="9055100" y="4038600"/>
            <a:ext cx="67413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2263A"/>
                </a:solidFill>
                <a:latin typeface="EB Garamond" pitchFamily="18" charset="0"/>
                <a:ea typeface="EB Garamond" pitchFamily="18" charset="-122"/>
                <a:cs typeface="EB Garamond" pitchFamily="18" charset="-120"/>
              </a:rPr>
              <a:t>1.54 s</a:t>
            </a:r>
            <a:endParaRPr lang="en-US" sz="2000" dirty="0"/>
          </a:p>
        </p:txBody>
      </p:sp>
      <p:sp>
        <p:nvSpPr>
          <p:cNvPr id="64" name="Text 62"/>
          <p:cNvSpPr/>
          <p:nvPr/>
        </p:nvSpPr>
        <p:spPr>
          <a:xfrm>
            <a:off x="9729232" y="4130042"/>
            <a:ext cx="5967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F61"/>
                </a:solidFill>
                <a:latin typeface="IBM Plex Sans" pitchFamily="34" charset="0"/>
                <a:ea typeface="IBM Plex Sans" pitchFamily="34" charset="-122"/>
                <a:cs typeface="IBM Plex Sans" pitchFamily="34" charset="-120"/>
              </a:rPr>
              <a:t>Urgent</a:t>
            </a:r>
            <a:endParaRPr lang="en-US" sz="1300" dirty="0"/>
          </a:p>
        </p:txBody>
      </p:sp>
      <p:sp>
        <p:nvSpPr>
          <p:cNvPr id="65" name="Shape 63"/>
          <p:cNvSpPr/>
          <p:nvPr/>
        </p:nvSpPr>
        <p:spPr>
          <a:xfrm>
            <a:off x="9055100" y="4445000"/>
            <a:ext cx="2120900" cy="88900"/>
          </a:xfrm>
          <a:prstGeom prst="roundRect">
            <a:avLst>
              <a:gd name="adj" fmla="val 50000"/>
            </a:avLst>
          </a:prstGeom>
          <a:solidFill>
            <a:srgbClr val="DCE3E0"/>
          </a:solidFill>
          <a:ln/>
        </p:spPr>
      </p:sp>
      <p:sp>
        <p:nvSpPr>
          <p:cNvPr id="66" name="Shape 64"/>
          <p:cNvSpPr/>
          <p:nvPr/>
        </p:nvSpPr>
        <p:spPr>
          <a:xfrm>
            <a:off x="9055100" y="4445000"/>
            <a:ext cx="2120900" cy="88900"/>
          </a:xfrm>
          <a:prstGeom prst="roundRect">
            <a:avLst>
              <a:gd name="adj" fmla="val 50000"/>
            </a:avLst>
          </a:prstGeom>
          <a:solidFill>
            <a:srgbClr val="14736F"/>
          </a:solidFill>
          <a:ln/>
        </p:spPr>
      </p:sp>
      <p:sp>
        <p:nvSpPr>
          <p:cNvPr id="67" name="Text 65"/>
          <p:cNvSpPr/>
          <p:nvPr/>
        </p:nvSpPr>
        <p:spPr>
          <a:xfrm>
            <a:off x="812800" y="49911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Bar lengths show group averages: priority on a 0–3 scale, allowed delay on a 0–6 s scale.</a:t>
            </a:r>
            <a:endParaRPr lang="en-US" sz="1300" dirty="0"/>
          </a:p>
        </p:txBody>
      </p:sp>
      <p:sp>
        <p:nvSpPr>
          <p:cNvPr id="68" name="Text 66"/>
          <p:cNvSpPr/>
          <p:nvPr/>
        </p:nvSpPr>
        <p:spPr>
          <a:xfrm>
            <a:off x="812800" y="6220464"/>
            <a:ext cx="78486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Deep Embedded Clustering · UAV disaster communication</a:t>
            </a:r>
            <a:endParaRPr lang="en-US" sz="1300" dirty="0"/>
          </a:p>
        </p:txBody>
      </p:sp>
      <p:sp>
        <p:nvSpPr>
          <p:cNvPr id="69" name="Text 67"/>
          <p:cNvSpPr/>
          <p:nvPr/>
        </p:nvSpPr>
        <p:spPr>
          <a:xfrm>
            <a:off x="10058400" y="6220464"/>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Limitations and threats to validity</a:t>
            </a:r>
            <a:endParaRPr lang="en-US" sz="3200" dirty="0"/>
          </a:p>
        </p:txBody>
      </p:sp>
      <p:sp>
        <p:nvSpPr>
          <p:cNvPr id="3" name="Shape 1"/>
          <p:cNvSpPr/>
          <p:nvPr/>
        </p:nvSpPr>
        <p:spPr>
          <a:xfrm>
            <a:off x="812800" y="1513842"/>
            <a:ext cx="5181600" cy="1717040"/>
          </a:xfrm>
          <a:prstGeom prst="roundRect">
            <a:avLst>
              <a:gd name="adj" fmla="val 5917"/>
            </a:avLst>
          </a:prstGeom>
          <a:solidFill>
            <a:srgbClr val="F4F7F6"/>
          </a:solidFill>
          <a:ln/>
        </p:spPr>
      </p:sp>
      <p:sp>
        <p:nvSpPr>
          <p:cNvPr id="4" name="Shape 2"/>
          <p:cNvSpPr/>
          <p:nvPr/>
        </p:nvSpPr>
        <p:spPr>
          <a:xfrm>
            <a:off x="812800" y="1513842"/>
            <a:ext cx="5181600" cy="1717040"/>
          </a:xfrm>
          <a:custGeom>
            <a:avLst/>
            <a:gdLst/>
            <a:ahLst/>
            <a:cxnLst/>
            <a:rect l="l" t="t" r="r" b="b"/>
            <a:pathLst>
              <a:path w="5181600" h="1717040">
                <a:moveTo>
                  <a:pt x="101600" y="1717040"/>
                </a:moveTo>
                <a:lnTo>
                  <a:pt x="101600" y="1717040"/>
                </a:lnTo>
                <a:arcTo hR="101600" wR="101600" stAng="5400000" swAng="5400000"/>
                <a:lnTo>
                  <a:pt x="0" y="101600"/>
                </a:lnTo>
                <a:arcTo hR="101600" wR="101600" stAng="10800000" swAng="5400000"/>
                <a:lnTo>
                  <a:pt x="101600" y="0"/>
                </a:lnTo>
                <a:arcTo hR="101600" wR="50800" stAng="16200000" swAng="-5400000"/>
                <a:lnTo>
                  <a:pt x="50800" y="1615440"/>
                </a:lnTo>
                <a:arcTo hR="101600" wR="50800" stAng="10800000" swAng="-5400000"/>
                <a:close/>
              </a:path>
            </a:pathLst>
          </a:custGeom>
          <a:solidFill>
            <a:srgbClr val="D4922B"/>
          </a:solidFill>
          <a:ln/>
        </p:spPr>
      </p:sp>
      <p:sp>
        <p:nvSpPr>
          <p:cNvPr id="5" name="Text 3"/>
          <p:cNvSpPr/>
          <p:nvPr/>
        </p:nvSpPr>
        <p:spPr>
          <a:xfrm>
            <a:off x="1117600" y="1767842"/>
            <a:ext cx="4761484"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Synthetic data</a:t>
            </a:r>
            <a:endParaRPr lang="en-US" sz="2000" dirty="0"/>
          </a:p>
        </p:txBody>
      </p:sp>
      <p:sp>
        <p:nvSpPr>
          <p:cNvPr id="6" name="Text 4"/>
          <p:cNvSpPr/>
          <p:nvPr/>
        </p:nvSpPr>
        <p:spPr>
          <a:xfrm>
            <a:off x="1117600" y="2123442"/>
            <a:ext cx="476148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All 1,000 records are generated, so the group profiles cannot show how real disaster-affected users behave.</a:t>
            </a:r>
            <a:endParaRPr lang="en-US" sz="1600" dirty="0"/>
          </a:p>
        </p:txBody>
      </p:sp>
      <p:sp>
        <p:nvSpPr>
          <p:cNvPr id="7" name="Shape 5"/>
          <p:cNvSpPr/>
          <p:nvPr/>
        </p:nvSpPr>
        <p:spPr>
          <a:xfrm>
            <a:off x="6197600" y="1513842"/>
            <a:ext cx="5181600" cy="1717040"/>
          </a:xfrm>
          <a:prstGeom prst="roundRect">
            <a:avLst>
              <a:gd name="adj" fmla="val 5917"/>
            </a:avLst>
          </a:prstGeom>
          <a:solidFill>
            <a:srgbClr val="F4F7F6"/>
          </a:solidFill>
          <a:ln/>
        </p:spPr>
      </p:sp>
      <p:sp>
        <p:nvSpPr>
          <p:cNvPr id="8" name="Shape 6"/>
          <p:cNvSpPr/>
          <p:nvPr/>
        </p:nvSpPr>
        <p:spPr>
          <a:xfrm>
            <a:off x="6197600" y="1513842"/>
            <a:ext cx="5181600" cy="1717040"/>
          </a:xfrm>
          <a:custGeom>
            <a:avLst/>
            <a:gdLst/>
            <a:ahLst/>
            <a:cxnLst/>
            <a:rect l="l" t="t" r="r" b="b"/>
            <a:pathLst>
              <a:path w="5181600" h="1717040">
                <a:moveTo>
                  <a:pt x="101600" y="1717040"/>
                </a:moveTo>
                <a:lnTo>
                  <a:pt x="101600" y="1717040"/>
                </a:lnTo>
                <a:arcTo hR="101600" wR="101600" stAng="5400000" swAng="5400000"/>
                <a:lnTo>
                  <a:pt x="0" y="101600"/>
                </a:lnTo>
                <a:arcTo hR="101600" wR="101600" stAng="10800000" swAng="5400000"/>
                <a:lnTo>
                  <a:pt x="101600" y="0"/>
                </a:lnTo>
                <a:arcTo hR="101600" wR="50800" stAng="16200000" swAng="-5400000"/>
                <a:lnTo>
                  <a:pt x="50800" y="1615440"/>
                </a:lnTo>
                <a:arcTo hR="101600" wR="50800" stAng="10800000" swAng="-5400000"/>
                <a:close/>
              </a:path>
            </a:pathLst>
          </a:custGeom>
          <a:solidFill>
            <a:srgbClr val="D4922B"/>
          </a:solidFill>
          <a:ln/>
        </p:spPr>
      </p:sp>
      <p:sp>
        <p:nvSpPr>
          <p:cNvPr id="9" name="Text 7"/>
          <p:cNvSpPr/>
          <p:nvPr/>
        </p:nvSpPr>
        <p:spPr>
          <a:xfrm>
            <a:off x="6502400" y="1767842"/>
            <a:ext cx="4761484"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Tied scores</a:t>
            </a:r>
            <a:endParaRPr lang="en-US" sz="2000" dirty="0"/>
          </a:p>
        </p:txBody>
      </p:sp>
      <p:sp>
        <p:nvSpPr>
          <p:cNvPr id="10" name="Text 8"/>
          <p:cNvSpPr/>
          <p:nvPr/>
        </p:nvSpPr>
        <p:spPr>
          <a:xfrm>
            <a:off x="6502400" y="2123442"/>
            <a:ext cx="476148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Silhouette, Davies–Bouldin and Calinski–Harabasz are near-identical, so no DEC advantage is demonstrated.</a:t>
            </a:r>
            <a:endParaRPr lang="en-US" sz="1600" dirty="0"/>
          </a:p>
        </p:txBody>
      </p:sp>
      <p:sp>
        <p:nvSpPr>
          <p:cNvPr id="11" name="Shape 9"/>
          <p:cNvSpPr/>
          <p:nvPr/>
        </p:nvSpPr>
        <p:spPr>
          <a:xfrm>
            <a:off x="812800" y="3434079"/>
            <a:ext cx="5181600" cy="1717040"/>
          </a:xfrm>
          <a:prstGeom prst="roundRect">
            <a:avLst>
              <a:gd name="adj" fmla="val 5917"/>
            </a:avLst>
          </a:prstGeom>
          <a:solidFill>
            <a:srgbClr val="F4F7F6"/>
          </a:solidFill>
          <a:ln/>
        </p:spPr>
      </p:sp>
      <p:sp>
        <p:nvSpPr>
          <p:cNvPr id="12" name="Shape 10"/>
          <p:cNvSpPr/>
          <p:nvPr/>
        </p:nvSpPr>
        <p:spPr>
          <a:xfrm>
            <a:off x="812800" y="3434079"/>
            <a:ext cx="5181600" cy="1717040"/>
          </a:xfrm>
          <a:custGeom>
            <a:avLst/>
            <a:gdLst/>
            <a:ahLst/>
            <a:cxnLst/>
            <a:rect l="l" t="t" r="r" b="b"/>
            <a:pathLst>
              <a:path w="5181600" h="1717040">
                <a:moveTo>
                  <a:pt x="101600" y="1717040"/>
                </a:moveTo>
                <a:lnTo>
                  <a:pt x="101600" y="1717040"/>
                </a:lnTo>
                <a:arcTo hR="101600" wR="101600" stAng="5400000" swAng="5400000"/>
                <a:lnTo>
                  <a:pt x="0" y="101600"/>
                </a:lnTo>
                <a:arcTo hR="101600" wR="101600" stAng="10800000" swAng="5400000"/>
                <a:lnTo>
                  <a:pt x="101600" y="0"/>
                </a:lnTo>
                <a:arcTo hR="101600" wR="50800" stAng="16200000" swAng="-5400000"/>
                <a:lnTo>
                  <a:pt x="50800" y="1615440"/>
                </a:lnTo>
                <a:arcTo hR="101600" wR="50800" stAng="10800000" swAng="-5400000"/>
                <a:close/>
              </a:path>
            </a:pathLst>
          </a:custGeom>
          <a:solidFill>
            <a:srgbClr val="D4922B"/>
          </a:solidFill>
          <a:ln/>
        </p:spPr>
      </p:sp>
      <p:sp>
        <p:nvSpPr>
          <p:cNvPr id="13" name="Text 11"/>
          <p:cNvSpPr/>
          <p:nvPr/>
        </p:nvSpPr>
        <p:spPr>
          <a:xfrm>
            <a:off x="1117600" y="3688079"/>
            <a:ext cx="4761484"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Sensitivity</a:t>
            </a:r>
            <a:endParaRPr lang="en-US" sz="2000" dirty="0"/>
          </a:p>
        </p:txBody>
      </p:sp>
      <p:sp>
        <p:nvSpPr>
          <p:cNvPr id="14" name="Text 12"/>
          <p:cNvSpPr/>
          <p:nvPr/>
        </p:nvSpPr>
        <p:spPr>
          <a:xfrm>
            <a:off x="1117600" y="4043679"/>
            <a:ext cx="476148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Scores depend on scaling, model settings and initialization, and the winning DBSCAN parameters were not stored.</a:t>
            </a:r>
            <a:endParaRPr lang="en-US" sz="1600" dirty="0"/>
          </a:p>
        </p:txBody>
      </p:sp>
      <p:sp>
        <p:nvSpPr>
          <p:cNvPr id="15" name="Shape 13"/>
          <p:cNvSpPr/>
          <p:nvPr/>
        </p:nvSpPr>
        <p:spPr>
          <a:xfrm>
            <a:off x="6197600" y="3434079"/>
            <a:ext cx="5181600" cy="1717040"/>
          </a:xfrm>
          <a:prstGeom prst="roundRect">
            <a:avLst>
              <a:gd name="adj" fmla="val 5917"/>
            </a:avLst>
          </a:prstGeom>
          <a:solidFill>
            <a:srgbClr val="F4F7F6"/>
          </a:solidFill>
          <a:ln/>
        </p:spPr>
      </p:sp>
      <p:sp>
        <p:nvSpPr>
          <p:cNvPr id="16" name="Shape 14"/>
          <p:cNvSpPr/>
          <p:nvPr/>
        </p:nvSpPr>
        <p:spPr>
          <a:xfrm>
            <a:off x="6197600" y="3434079"/>
            <a:ext cx="5181600" cy="1717040"/>
          </a:xfrm>
          <a:custGeom>
            <a:avLst/>
            <a:gdLst/>
            <a:ahLst/>
            <a:cxnLst/>
            <a:rect l="l" t="t" r="r" b="b"/>
            <a:pathLst>
              <a:path w="5181600" h="1717040">
                <a:moveTo>
                  <a:pt x="101600" y="1717040"/>
                </a:moveTo>
                <a:lnTo>
                  <a:pt x="101600" y="1717040"/>
                </a:lnTo>
                <a:arcTo hR="101600" wR="101600" stAng="5400000" swAng="5400000"/>
                <a:lnTo>
                  <a:pt x="0" y="101600"/>
                </a:lnTo>
                <a:arcTo hR="101600" wR="101600" stAng="10800000" swAng="5400000"/>
                <a:lnTo>
                  <a:pt x="101600" y="0"/>
                </a:lnTo>
                <a:arcTo hR="101600" wR="50800" stAng="16200000" swAng="-5400000"/>
                <a:lnTo>
                  <a:pt x="50800" y="1615440"/>
                </a:lnTo>
                <a:arcTo hR="101600" wR="50800" stAng="10800000" swAng="-5400000"/>
                <a:close/>
              </a:path>
            </a:pathLst>
          </a:custGeom>
          <a:solidFill>
            <a:srgbClr val="D4922B"/>
          </a:solidFill>
          <a:ln/>
        </p:spPr>
      </p:sp>
      <p:sp>
        <p:nvSpPr>
          <p:cNvPr id="17" name="Text 15"/>
          <p:cNvSpPr/>
          <p:nvPr/>
        </p:nvSpPr>
        <p:spPr>
          <a:xfrm>
            <a:off x="6502400" y="3688079"/>
            <a:ext cx="4761484"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2263A"/>
                </a:solidFill>
                <a:latin typeface="EB Garamond" pitchFamily="18" charset="0"/>
                <a:ea typeface="EB Garamond" pitchFamily="18" charset="-122"/>
                <a:cs typeface="EB Garamond" pitchFamily="18" charset="-120"/>
              </a:rPr>
              <a:t>No network test</a:t>
            </a:r>
            <a:endParaRPr lang="en-US" sz="2000" dirty="0"/>
          </a:p>
        </p:txBody>
      </p:sp>
      <p:sp>
        <p:nvSpPr>
          <p:cNvPr id="18" name="Text 16"/>
          <p:cNvSpPr/>
          <p:nvPr/>
        </p:nvSpPr>
        <p:spPr>
          <a:xfrm>
            <a:off x="6502400" y="4043679"/>
            <a:ext cx="476148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F61"/>
                </a:solidFill>
                <a:latin typeface="IBM Plex Sans" pitchFamily="34" charset="0"/>
                <a:ea typeface="IBM Plex Sans" pitchFamily="34" charset="-122"/>
                <a:cs typeface="IBM Plex Sans" pitchFamily="34" charset="-120"/>
              </a:rPr>
              <a:t>Internal clustering scores do not measure UAV network performance, and no live drone test is reported.</a:t>
            </a:r>
            <a:endParaRPr lang="en-US" sz="1600" dirty="0"/>
          </a:p>
        </p:txBody>
      </p:sp>
      <p:sp>
        <p:nvSpPr>
          <p:cNvPr id="19" name="Text 17"/>
          <p:cNvSpPr/>
          <p:nvPr/>
        </p:nvSpPr>
        <p:spPr>
          <a:xfrm>
            <a:off x="812800" y="6220464"/>
            <a:ext cx="78486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Deep Embedded Clustering · UAV disaster communication</a:t>
            </a:r>
            <a:endParaRPr lang="en-US" sz="1300" dirty="0"/>
          </a:p>
        </p:txBody>
      </p:sp>
      <p:sp>
        <p:nvSpPr>
          <p:cNvPr id="20" name="Text 18"/>
          <p:cNvSpPr/>
          <p:nvPr/>
        </p:nvSpPr>
        <p:spPr>
          <a:xfrm>
            <a:off x="10058400" y="6220464"/>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EB Garamond" pitchFamily="18" charset="0"/>
                <a:ea typeface="EB Garamond" pitchFamily="18" charset="-122"/>
                <a:cs typeface="EB Garamond" pitchFamily="18" charset="-120"/>
              </a:rPr>
              <a:t>Conclusion and future work</a:t>
            </a:r>
            <a:endParaRPr lang="en-US" sz="3200" dirty="0"/>
          </a:p>
        </p:txBody>
      </p:sp>
      <p:sp>
        <p:nvSpPr>
          <p:cNvPr id="3" name="Text 1"/>
          <p:cNvSpPr/>
          <p:nvPr/>
        </p:nvSpPr>
        <p:spPr>
          <a:xfrm>
            <a:off x="812800" y="1564642"/>
            <a:ext cx="5180076"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CONCLUSION</a:t>
            </a:r>
            <a:endParaRPr lang="en-US" sz="1300" dirty="0"/>
          </a:p>
        </p:txBody>
      </p:sp>
      <p:sp>
        <p:nvSpPr>
          <p:cNvPr id="4" name="Shape 2"/>
          <p:cNvSpPr/>
          <p:nvPr/>
        </p:nvSpPr>
        <p:spPr>
          <a:xfrm>
            <a:off x="825500" y="1973579"/>
            <a:ext cx="0" cy="568960"/>
          </a:xfrm>
          <a:prstGeom prst="line">
            <a:avLst/>
          </a:prstGeom>
          <a:noFill/>
          <a:ln w="25400">
            <a:solidFill>
              <a:srgbClr val="14736F"/>
            </a:solidFill>
            <a:prstDash val="solid"/>
          </a:ln>
        </p:spPr>
      </p:sp>
      <p:sp>
        <p:nvSpPr>
          <p:cNvPr id="5" name="Text 3"/>
          <p:cNvSpPr/>
          <p:nvPr/>
        </p:nvSpPr>
        <p:spPr>
          <a:xfrm>
            <a:off x="990600" y="1973579"/>
            <a:ext cx="499694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An end-to-end workflow groups 1,000 users into General, Medical, Location and Rescue.</a:t>
            </a:r>
            <a:endParaRPr lang="en-US" sz="1600" dirty="0"/>
          </a:p>
        </p:txBody>
      </p:sp>
      <p:sp>
        <p:nvSpPr>
          <p:cNvPr id="6" name="Shape 4"/>
          <p:cNvSpPr/>
          <p:nvPr/>
        </p:nvSpPr>
        <p:spPr>
          <a:xfrm>
            <a:off x="825500" y="2720342"/>
            <a:ext cx="0" cy="568960"/>
          </a:xfrm>
          <a:prstGeom prst="line">
            <a:avLst/>
          </a:prstGeom>
          <a:noFill/>
          <a:ln w="25400">
            <a:solidFill>
              <a:srgbClr val="14736F"/>
            </a:solidFill>
            <a:prstDash val="solid"/>
          </a:ln>
        </p:spPr>
      </p:sp>
      <p:sp>
        <p:nvSpPr>
          <p:cNvPr id="7" name="Text 5"/>
          <p:cNvSpPr/>
          <p:nvPr/>
        </p:nvSpPr>
        <p:spPr>
          <a:xfrm>
            <a:off x="990600" y="2720342"/>
            <a:ext cx="499694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Medical and Rescue are the most urgent groups; General tolerates the longest delay.</a:t>
            </a:r>
            <a:endParaRPr lang="en-US" sz="1600" dirty="0"/>
          </a:p>
        </p:txBody>
      </p:sp>
      <p:sp>
        <p:nvSpPr>
          <p:cNvPr id="8" name="Shape 6"/>
          <p:cNvSpPr/>
          <p:nvPr/>
        </p:nvSpPr>
        <p:spPr>
          <a:xfrm>
            <a:off x="825500" y="3467100"/>
            <a:ext cx="0" cy="568960"/>
          </a:xfrm>
          <a:prstGeom prst="line">
            <a:avLst/>
          </a:prstGeom>
          <a:noFill/>
          <a:ln w="25400">
            <a:solidFill>
              <a:srgbClr val="14736F"/>
            </a:solidFill>
            <a:prstDash val="solid"/>
          </a:ln>
        </p:spPr>
      </p:sp>
      <p:sp>
        <p:nvSpPr>
          <p:cNvPr id="9" name="Text 7"/>
          <p:cNvSpPr/>
          <p:nvPr/>
        </p:nvSpPr>
        <p:spPr>
          <a:xfrm>
            <a:off x="990600" y="3467100"/>
            <a:ext cx="499694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K-Means, DBSCAN and DEC score almost identically, so a DEC advantage is not shown.</a:t>
            </a:r>
            <a:endParaRPr lang="en-US" sz="1600" dirty="0"/>
          </a:p>
        </p:txBody>
      </p:sp>
      <p:sp>
        <p:nvSpPr>
          <p:cNvPr id="10" name="Text 8"/>
          <p:cNvSpPr/>
          <p:nvPr/>
        </p:nvSpPr>
        <p:spPr>
          <a:xfrm>
            <a:off x="6350000" y="1564642"/>
            <a:ext cx="5180076"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4736F"/>
                </a:solidFill>
                <a:latin typeface="IBM Plex Sans" pitchFamily="34" charset="0"/>
                <a:ea typeface="IBM Plex Sans" pitchFamily="34" charset="-122"/>
                <a:cs typeface="IBM Plex Sans" pitchFamily="34" charset="-120"/>
              </a:rPr>
              <a:t>FUTURE WORK</a:t>
            </a:r>
            <a:endParaRPr lang="en-US" sz="1300" dirty="0"/>
          </a:p>
        </p:txBody>
      </p:sp>
      <p:sp>
        <p:nvSpPr>
          <p:cNvPr id="11" name="Shape 9"/>
          <p:cNvSpPr/>
          <p:nvPr/>
        </p:nvSpPr>
        <p:spPr>
          <a:xfrm>
            <a:off x="6362700" y="1973579"/>
            <a:ext cx="0" cy="284480"/>
          </a:xfrm>
          <a:prstGeom prst="line">
            <a:avLst/>
          </a:prstGeom>
          <a:noFill/>
          <a:ln w="25400">
            <a:solidFill>
              <a:srgbClr val="B8C7C2"/>
            </a:solidFill>
            <a:prstDash val="solid"/>
          </a:ln>
        </p:spPr>
      </p:sp>
      <p:sp>
        <p:nvSpPr>
          <p:cNvPr id="12" name="Text 10"/>
          <p:cNvSpPr/>
          <p:nvPr/>
        </p:nvSpPr>
        <p:spPr>
          <a:xfrm>
            <a:off x="6527800" y="1973579"/>
            <a:ext cx="49969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Test on larger, real disaster datasets</a:t>
            </a:r>
            <a:endParaRPr lang="en-US" sz="1600" dirty="0"/>
          </a:p>
        </p:txBody>
      </p:sp>
      <p:sp>
        <p:nvSpPr>
          <p:cNvPr id="13" name="Shape 11"/>
          <p:cNvSpPr/>
          <p:nvPr/>
        </p:nvSpPr>
        <p:spPr>
          <a:xfrm>
            <a:off x="6362700" y="2435864"/>
            <a:ext cx="0" cy="284480"/>
          </a:xfrm>
          <a:prstGeom prst="line">
            <a:avLst/>
          </a:prstGeom>
          <a:noFill/>
          <a:ln w="25400">
            <a:solidFill>
              <a:srgbClr val="B8C7C2"/>
            </a:solidFill>
            <a:prstDash val="solid"/>
          </a:ln>
        </p:spPr>
      </p:sp>
      <p:sp>
        <p:nvSpPr>
          <p:cNvPr id="14" name="Text 12"/>
          <p:cNvSpPr/>
          <p:nvPr/>
        </p:nvSpPr>
        <p:spPr>
          <a:xfrm>
            <a:off x="6527800" y="2435864"/>
            <a:ext cx="49969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Tune DEC and check stability across random seeds</a:t>
            </a:r>
            <a:endParaRPr lang="en-US" sz="1600" dirty="0"/>
          </a:p>
        </p:txBody>
      </p:sp>
      <p:sp>
        <p:nvSpPr>
          <p:cNvPr id="15" name="Shape 13"/>
          <p:cNvSpPr/>
          <p:nvPr/>
        </p:nvSpPr>
        <p:spPr>
          <a:xfrm>
            <a:off x="6362700" y="2898142"/>
            <a:ext cx="0" cy="284480"/>
          </a:xfrm>
          <a:prstGeom prst="line">
            <a:avLst/>
          </a:prstGeom>
          <a:noFill/>
          <a:ln w="25400">
            <a:solidFill>
              <a:srgbClr val="B8C7C2"/>
            </a:solidFill>
            <a:prstDash val="solid"/>
          </a:ln>
        </p:spPr>
      </p:sp>
      <p:sp>
        <p:nvSpPr>
          <p:cNvPr id="16" name="Text 14"/>
          <p:cNvSpPr/>
          <p:nvPr/>
        </p:nvSpPr>
        <p:spPr>
          <a:xfrm>
            <a:off x="6527800" y="2898142"/>
            <a:ext cx="49969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Validate groups with disaster-response experts</a:t>
            </a:r>
            <a:endParaRPr lang="en-US" sz="1600" dirty="0"/>
          </a:p>
        </p:txBody>
      </p:sp>
      <p:sp>
        <p:nvSpPr>
          <p:cNvPr id="17" name="Shape 15"/>
          <p:cNvSpPr/>
          <p:nvPr/>
        </p:nvSpPr>
        <p:spPr>
          <a:xfrm>
            <a:off x="6362700" y="3360421"/>
            <a:ext cx="0" cy="284480"/>
          </a:xfrm>
          <a:prstGeom prst="line">
            <a:avLst/>
          </a:prstGeom>
          <a:noFill/>
          <a:ln w="25400">
            <a:solidFill>
              <a:srgbClr val="B8C7C2"/>
            </a:solidFill>
            <a:prstDash val="solid"/>
          </a:ln>
        </p:spPr>
      </p:sp>
      <p:sp>
        <p:nvSpPr>
          <p:cNvPr id="18" name="Text 16"/>
          <p:cNvSpPr/>
          <p:nvPr/>
        </p:nvSpPr>
        <p:spPr>
          <a:xfrm>
            <a:off x="6527800" y="3360421"/>
            <a:ext cx="49969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Evaluate in a UAV network simulator</a:t>
            </a:r>
            <a:endParaRPr lang="en-US" sz="1600" dirty="0"/>
          </a:p>
        </p:txBody>
      </p:sp>
      <p:sp>
        <p:nvSpPr>
          <p:cNvPr id="19" name="Shape 17"/>
          <p:cNvSpPr/>
          <p:nvPr/>
        </p:nvSpPr>
        <p:spPr>
          <a:xfrm>
            <a:off x="6362700" y="3822700"/>
            <a:ext cx="0" cy="284480"/>
          </a:xfrm>
          <a:prstGeom prst="line">
            <a:avLst/>
          </a:prstGeom>
          <a:noFill/>
          <a:ln w="25400">
            <a:solidFill>
              <a:srgbClr val="B8C7C2"/>
            </a:solidFill>
            <a:prstDash val="solid"/>
          </a:ln>
        </p:spPr>
      </p:sp>
      <p:sp>
        <p:nvSpPr>
          <p:cNvPr id="20" name="Text 18"/>
          <p:cNvSpPr/>
          <p:nvPr/>
        </p:nvSpPr>
        <p:spPr>
          <a:xfrm>
            <a:off x="6527800" y="3822700"/>
            <a:ext cx="49969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Add privacy, security and human oversight</a:t>
            </a:r>
            <a:endParaRPr lang="en-US" sz="1600" dirty="0"/>
          </a:p>
        </p:txBody>
      </p:sp>
      <p:sp>
        <p:nvSpPr>
          <p:cNvPr id="21" name="Text 19"/>
          <p:cNvSpPr/>
          <p:nvPr/>
        </p:nvSpPr>
        <p:spPr>
          <a:xfrm>
            <a:off x="812800" y="4411979"/>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736F"/>
                </a:solidFill>
                <a:latin typeface="EB Garamond" pitchFamily="18" charset="0"/>
                <a:ea typeface="EB Garamond" pitchFamily="18" charset="-122"/>
                <a:cs typeface="EB Garamond" pitchFamily="18" charset="-120"/>
              </a:rPr>
              <a:t>Thank you. Questions are welcome.</a:t>
            </a:r>
            <a:endParaRPr lang="en-US" sz="2000" dirty="0"/>
          </a:p>
        </p:txBody>
      </p:sp>
      <p:sp>
        <p:nvSpPr>
          <p:cNvPr id="22" name="Text 20"/>
          <p:cNvSpPr/>
          <p:nvPr/>
        </p:nvSpPr>
        <p:spPr>
          <a:xfrm>
            <a:off x="812800" y="6220464"/>
            <a:ext cx="85026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Code: github.com/chandu235363/semantic-uav-disaster-communication</a:t>
            </a:r>
            <a:endParaRPr lang="en-US" sz="1300" dirty="0"/>
          </a:p>
        </p:txBody>
      </p:sp>
      <p:sp>
        <p:nvSpPr>
          <p:cNvPr id="23" name="Text 21"/>
          <p:cNvSpPr/>
          <p:nvPr/>
        </p:nvSpPr>
        <p:spPr>
          <a:xfrm>
            <a:off x="10058400" y="6220464"/>
            <a:ext cx="132080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A6B78"/>
                </a:solidFill>
                <a:latin typeface="IBM Plex Sans" pitchFamily="34" charset="0"/>
                <a:ea typeface="IBM Plex Sans" pitchFamily="34" charset="-122"/>
                <a:cs typeface="IBM Plex Sans" pitchFamily="34" charset="-120"/>
              </a:rPr>
              <a:t>10</a:t>
            </a:r>
            <a:endParaRPr lang="en-US" sz="1300" dirty="0"/>
          </a:p>
        </p:txBody>
      </p:sp>
    </p:spTree>
  </p:cSld>
  <p:clrMapOvr>
    <a:masterClrMapping/>
  </p:clrMapOvr>
</p:sld>
</file>

<file path=ppt/theme/theme1.xml><?xml version="1.0" encoding="utf-8"?>
<a:theme xmlns:a="http://schemas.openxmlformats.org/drawingml/2006/main" name="DEC Semantic User Grouping for UAV Disaster Communication">
  <a:themeElements>
    <a:clrScheme name="DEC Semantic User Grouping for UAV Disaster Communication">
      <a:dk1>
        <a:srgbClr val="12263A"/>
      </a:dk1>
      <a:lt1>
        <a:srgbClr val="FFFFFF"/>
      </a:lt1>
      <a:dk2>
        <a:srgbClr val="4D5C6B"/>
      </a:dk2>
      <a:lt2>
        <a:srgbClr val="E7E9EB"/>
      </a:lt2>
      <a:accent1>
        <a:srgbClr val="14736F"/>
      </a:accent1>
      <a:accent2>
        <a:srgbClr val="D4922B"/>
      </a:accent2>
      <a:accent3>
        <a:srgbClr val="3B4F61"/>
      </a:accent3>
      <a:accent4>
        <a:srgbClr val="5A6B78"/>
      </a:accent4>
      <a:accent5>
        <a:srgbClr val="DCE3E0"/>
      </a:accent5>
      <a:accent6>
        <a:srgbClr val="DCE6E3"/>
      </a:accent6>
      <a:hlink>
        <a:srgbClr val="0563C1"/>
      </a:hlink>
      <a:folHlink>
        <a:srgbClr val="954F72"/>
      </a:folHlink>
    </a:clrScheme>
    <a:fontScheme name="DEC Semantic User Grouping for UAV Disaster Communication">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 Semantic User Grouping for UAV Disaster Communication</dc:title>
  <dc:subject/>
  <dc:creator/>
  <cp:lastModifiedBy/>
  <cp:revision>1</cp:revision>
  <dcterms:created xsi:type="dcterms:W3CDTF">2026-10-15T03:37:49Z</dcterms:created>
  <dcterms:modified xsi:type="dcterms:W3CDTF">2026-10-15T03:37:49Z</dcterms:modified>
</cp:coreProperties>
</file>